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9" roundtripDataSignature="AMtx7mjKTG6yJZvq4+mAXJwU8U4RkVNt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62060C-A9E3-43FF-8695-09CB6F05CB28}">
  <a:tblStyle styleId="{FD62060C-A9E3-43FF-8695-09CB6F05CB28}" styleName="Table_0">
    <a:wholeTbl>
      <a:tcTxStyle b="off" i="off">
        <a:font>
          <a:latin typeface="Arial"/>
          <a:ea typeface="Arial"/>
          <a:cs typeface="Arial"/>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1">
              <a:alpha val="40000"/>
            </a:schemeClr>
          </a:solidFill>
        </a:fill>
      </a:tcStyle>
    </a:band1H>
    <a:band2H>
      <a:tcTxStyle b="off" i="off"/>
    </a:band2H>
    <a:band1V>
      <a:tcTxStyle b="off" i="off"/>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b="off" i="off"/>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Arial"/>
          <a:ea typeface="Arial"/>
          <a:cs typeface="Arial"/>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Font typeface="Calibri"/>
              <a:buNone/>
            </a:pPr>
            <a:r>
              <a:t/>
            </a:r>
            <a:endParaRPr/>
          </a:p>
        </p:txBody>
      </p:sp>
      <p:sp>
        <p:nvSpPr>
          <p:cNvPr id="133" name="Google Shape;13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14300" lvl="0" marL="0" rtl="0" algn="l">
              <a:lnSpc>
                <a:spcPct val="100000"/>
              </a:lnSpc>
              <a:spcBef>
                <a:spcPts val="0"/>
              </a:spcBef>
              <a:spcAft>
                <a:spcPts val="0"/>
              </a:spcAft>
              <a:buClr>
                <a:srgbClr val="000000"/>
              </a:buClr>
              <a:buSzPts val="1800"/>
              <a:buFont typeface="Calibri"/>
              <a:buNone/>
            </a:pPr>
            <a:r>
              <a:t/>
            </a:r>
            <a:endParaRPr/>
          </a:p>
        </p:txBody>
      </p:sp>
      <p:sp>
        <p:nvSpPr>
          <p:cNvPr id="142" name="Google Shape;14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824e2dc5f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b824e2dc5f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Font typeface="Calibri"/>
              <a:buNone/>
            </a:pPr>
            <a:r>
              <a:t/>
            </a:r>
            <a:endParaRPr/>
          </a:p>
        </p:txBody>
      </p:sp>
      <p:sp>
        <p:nvSpPr>
          <p:cNvPr id="177" name="Google Shape;177;g3b824e2dc5f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824e2dc5f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b824e2dc5f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Font typeface="Calibri"/>
              <a:buNone/>
            </a:pPr>
            <a:r>
              <a:t/>
            </a:r>
            <a:endParaRPr/>
          </a:p>
        </p:txBody>
      </p:sp>
      <p:sp>
        <p:nvSpPr>
          <p:cNvPr id="186" name="Google Shape;186;g3b824e2dc5f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824e2dc5f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b824e2dc5f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Font typeface="Calibri"/>
              <a:buNone/>
            </a:pPr>
            <a:r>
              <a:t/>
            </a:r>
            <a:endParaRPr/>
          </a:p>
        </p:txBody>
      </p:sp>
      <p:sp>
        <p:nvSpPr>
          <p:cNvPr id="195" name="Google Shape;195;g3b824e2dc5f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824e2dc5f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b824e2dc5f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Font typeface="Calibri"/>
              <a:buNone/>
            </a:pPr>
            <a:r>
              <a:t/>
            </a:r>
            <a:endParaRPr/>
          </a:p>
        </p:txBody>
      </p:sp>
      <p:sp>
        <p:nvSpPr>
          <p:cNvPr id="204" name="Google Shape;204;g3b824e2dc5f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5" name="Google Shape;21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4" name="Google Shape;2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33" name="Google Shape;23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42" name="Google Shape;24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5" name="Google Shape;55;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6" name="Google Shape;5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p:nvPr>
            <p:ph idx="2" type="pic"/>
          </p:nvPr>
        </p:nvSpPr>
        <p:spPr>
          <a:xfrm>
            <a:off x="1792288" y="612775"/>
            <a:ext cx="5486400" cy="4114800"/>
          </a:xfrm>
          <a:prstGeom prst="rect">
            <a:avLst/>
          </a:prstGeom>
          <a:noFill/>
          <a:ln>
            <a:noFill/>
          </a:ln>
        </p:spPr>
      </p:sp>
      <p:sp>
        <p:nvSpPr>
          <p:cNvPr id="62" name="Google Shape;62;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3" name="Google Shape;63;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 name="Google Shape;69;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hyperlink" Target="https://www.unb.ca/cic/datasets/iotdataset-2023.html" TargetMode="External"/><Relationship Id="rId5" Type="http://schemas.openxmlformats.org/officeDocument/2006/relationships/hyperlink" Target="https://www.stratosphereips.org/datasets-iot23" TargetMode="External"/><Relationship Id="rId6" Type="http://schemas.openxmlformats.org/officeDocument/2006/relationships/hyperlink" Target="https://ieee-dataport.org/documents/dalhousie-nims-lab-iot-attack-dataset-2025-1" TargetMode="External"/><Relationship Id="rId7" Type="http://schemas.openxmlformats.org/officeDocument/2006/relationships/hyperlink" Target="https://itrust.sutd.edu.sg/itrust-labs_datasets/dataset_info/" TargetMode="External"/><Relationship Id="rId8" Type="http://schemas.openxmlformats.org/officeDocument/2006/relationships/hyperlink" Target="https://www.mdpi.com/1424-8220/23/1/48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82" name="Shape 82"/>
        <p:cNvGrpSpPr/>
        <p:nvPr/>
      </p:nvGrpSpPr>
      <p:grpSpPr>
        <a:xfrm>
          <a:off x="0" y="0"/>
          <a:ext cx="0" cy="0"/>
          <a:chOff x="0" y="0"/>
          <a:chExt cx="0" cy="0"/>
        </a:xfrm>
      </p:grpSpPr>
      <p:grpSp>
        <p:nvGrpSpPr>
          <p:cNvPr id="83" name="Google Shape;83;p1"/>
          <p:cNvGrpSpPr/>
          <p:nvPr/>
        </p:nvGrpSpPr>
        <p:grpSpPr>
          <a:xfrm>
            <a:off x="15201900" y="-578780"/>
            <a:ext cx="3086100" cy="11372230"/>
            <a:chOff x="0" y="-19050"/>
            <a:chExt cx="812800" cy="2995155"/>
          </a:xfrm>
        </p:grpSpPr>
        <p:sp>
          <p:nvSpPr>
            <p:cNvPr id="84" name="Google Shape;84;p1"/>
            <p:cNvSpPr/>
            <p:nvPr/>
          </p:nvSpPr>
          <p:spPr>
            <a:xfrm>
              <a:off x="0" y="0"/>
              <a:ext cx="812800" cy="2976105"/>
            </a:xfrm>
            <a:custGeom>
              <a:rect b="b" l="l" r="r" t="t"/>
              <a:pathLst>
                <a:path extrusionOk="0" h="2976105" w="812800">
                  <a:moveTo>
                    <a:pt x="0" y="0"/>
                  </a:moveTo>
                  <a:lnTo>
                    <a:pt x="812800" y="0"/>
                  </a:lnTo>
                  <a:lnTo>
                    <a:pt x="812800" y="2976105"/>
                  </a:lnTo>
                  <a:lnTo>
                    <a:pt x="0" y="2976105"/>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txBox="1"/>
            <p:nvPr/>
          </p:nvSpPr>
          <p:spPr>
            <a:xfrm>
              <a:off x="0" y="-19050"/>
              <a:ext cx="812800" cy="2995155"/>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6" name="Google Shape;86;p1"/>
          <p:cNvSpPr/>
          <p:nvPr/>
        </p:nvSpPr>
        <p:spPr>
          <a:xfrm>
            <a:off x="16101250" y="8203768"/>
            <a:ext cx="3806571" cy="2083232"/>
          </a:xfrm>
          <a:custGeom>
            <a:rect b="b" l="l" r="r" t="t"/>
            <a:pathLst>
              <a:path extrusionOk="0" h="2083232" w="3806571">
                <a:moveTo>
                  <a:pt x="0" y="0"/>
                </a:moveTo>
                <a:lnTo>
                  <a:pt x="3806570" y="0"/>
                </a:lnTo>
                <a:lnTo>
                  <a:pt x="3806570" y="2083232"/>
                </a:lnTo>
                <a:lnTo>
                  <a:pt x="0" y="208323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66092"/>
              </a:solidFill>
              <a:latin typeface="Arial"/>
              <a:ea typeface="Arial"/>
              <a:cs typeface="Arial"/>
              <a:sym typeface="Arial"/>
            </a:endParaRPr>
          </a:p>
        </p:txBody>
      </p:sp>
      <p:grpSp>
        <p:nvGrpSpPr>
          <p:cNvPr id="87" name="Google Shape;87;p1"/>
          <p:cNvGrpSpPr/>
          <p:nvPr/>
        </p:nvGrpSpPr>
        <p:grpSpPr>
          <a:xfrm>
            <a:off x="-1543050" y="-578780"/>
            <a:ext cx="2425974" cy="11372230"/>
            <a:chOff x="0" y="-19050"/>
            <a:chExt cx="812800" cy="2995155"/>
          </a:xfrm>
        </p:grpSpPr>
        <p:sp>
          <p:nvSpPr>
            <p:cNvPr id="88" name="Google Shape;88;p1"/>
            <p:cNvSpPr/>
            <p:nvPr/>
          </p:nvSpPr>
          <p:spPr>
            <a:xfrm>
              <a:off x="0" y="0"/>
              <a:ext cx="812800" cy="2976105"/>
            </a:xfrm>
            <a:custGeom>
              <a:rect b="b" l="l" r="r" t="t"/>
              <a:pathLst>
                <a:path extrusionOk="0" h="2976105" w="812800">
                  <a:moveTo>
                    <a:pt x="0" y="0"/>
                  </a:moveTo>
                  <a:lnTo>
                    <a:pt x="812800" y="0"/>
                  </a:lnTo>
                  <a:lnTo>
                    <a:pt x="812800" y="2976105"/>
                  </a:lnTo>
                  <a:lnTo>
                    <a:pt x="0" y="2976105"/>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0" y="-19050"/>
              <a:ext cx="812800" cy="2995155"/>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
          <p:cNvGrpSpPr/>
          <p:nvPr/>
        </p:nvGrpSpPr>
        <p:grpSpPr>
          <a:xfrm>
            <a:off x="17408893" y="2741220"/>
            <a:ext cx="110236" cy="2898808"/>
            <a:chOff x="0" y="-19050"/>
            <a:chExt cx="26312" cy="691905"/>
          </a:xfrm>
        </p:grpSpPr>
        <p:sp>
          <p:nvSpPr>
            <p:cNvPr id="91" name="Google Shape;91;p1"/>
            <p:cNvSpPr/>
            <p:nvPr/>
          </p:nvSpPr>
          <p:spPr>
            <a:xfrm>
              <a:off x="0" y="0"/>
              <a:ext cx="26312" cy="672855"/>
            </a:xfrm>
            <a:custGeom>
              <a:rect b="b" l="l" r="r" t="t"/>
              <a:pathLst>
                <a:path extrusionOk="0" h="672855" w="26312">
                  <a:moveTo>
                    <a:pt x="0" y="0"/>
                  </a:moveTo>
                  <a:lnTo>
                    <a:pt x="26312" y="0"/>
                  </a:lnTo>
                  <a:lnTo>
                    <a:pt x="26312" y="672855"/>
                  </a:lnTo>
                  <a:lnTo>
                    <a:pt x="0" y="6728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0" y="-19050"/>
              <a:ext cx="26312" cy="691905"/>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3" name="Google Shape;93;p1"/>
          <p:cNvSpPr txBox="1"/>
          <p:nvPr/>
        </p:nvSpPr>
        <p:spPr>
          <a:xfrm>
            <a:off x="1374912" y="1714500"/>
            <a:ext cx="13335000" cy="1231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lang="en-IN" sz="4000">
                <a:solidFill>
                  <a:srgbClr val="262626"/>
                </a:solidFill>
                <a:latin typeface="Calibri"/>
                <a:ea typeface="Calibri"/>
                <a:cs typeface="Calibri"/>
                <a:sym typeface="Calibri"/>
              </a:rPr>
              <a:t>Small </a:t>
            </a:r>
            <a:r>
              <a:rPr lang="en-IN" sz="4000">
                <a:solidFill>
                  <a:srgbClr val="262626"/>
                </a:solidFill>
                <a:latin typeface="Calibri"/>
                <a:ea typeface="Calibri"/>
                <a:cs typeface="Calibri"/>
                <a:sym typeface="Calibri"/>
              </a:rPr>
              <a:t>Language</a:t>
            </a:r>
            <a:r>
              <a:rPr lang="en-IN" sz="4000">
                <a:solidFill>
                  <a:srgbClr val="262626"/>
                </a:solidFill>
                <a:latin typeface="Calibri"/>
                <a:ea typeface="Calibri"/>
                <a:cs typeface="Calibri"/>
                <a:sym typeface="Calibri"/>
              </a:rPr>
              <a:t> Model based</a:t>
            </a:r>
            <a:r>
              <a:rPr b="0" i="0" lang="en-IN" sz="4000" u="none" cap="none" strike="noStrike">
                <a:solidFill>
                  <a:srgbClr val="262626"/>
                </a:solidFill>
                <a:latin typeface="Calibri"/>
                <a:ea typeface="Calibri"/>
                <a:cs typeface="Calibri"/>
                <a:sym typeface="Calibri"/>
              </a:rPr>
              <a:t> </a:t>
            </a:r>
            <a:r>
              <a:rPr lang="en-IN" sz="4000">
                <a:solidFill>
                  <a:srgbClr val="262626"/>
                </a:solidFill>
                <a:latin typeface="Calibri"/>
                <a:ea typeface="Calibri"/>
                <a:cs typeface="Calibri"/>
                <a:sym typeface="Calibri"/>
              </a:rPr>
              <a:t>Lateral Movement Detection</a:t>
            </a:r>
            <a:r>
              <a:rPr b="0" i="0" lang="en-IN" sz="4000" u="none" cap="none" strike="noStrike">
                <a:solidFill>
                  <a:srgbClr val="262626"/>
                </a:solidFill>
                <a:latin typeface="Calibri"/>
                <a:ea typeface="Calibri"/>
                <a:cs typeface="Calibri"/>
                <a:sym typeface="Calibri"/>
              </a:rPr>
              <a:t> approach for Smart Manufacturing Systems</a:t>
            </a:r>
            <a:endParaRPr b="0" i="0" sz="4000" u="none" cap="none" strike="noStrike">
              <a:solidFill>
                <a:srgbClr val="262626"/>
              </a:solidFill>
              <a:latin typeface="Calibri"/>
              <a:ea typeface="Calibri"/>
              <a:cs typeface="Calibri"/>
              <a:sym typeface="Calibri"/>
            </a:endParaRPr>
          </a:p>
        </p:txBody>
      </p:sp>
      <p:sp>
        <p:nvSpPr>
          <p:cNvPr id="94" name="Google Shape;94;p1"/>
          <p:cNvSpPr/>
          <p:nvPr/>
        </p:nvSpPr>
        <p:spPr>
          <a:xfrm>
            <a:off x="-2777871" y="-207071"/>
            <a:ext cx="3806571" cy="2083232"/>
          </a:xfrm>
          <a:custGeom>
            <a:rect b="b" l="l" r="r" t="t"/>
            <a:pathLst>
              <a:path extrusionOk="0" h="2083232" w="3806571">
                <a:moveTo>
                  <a:pt x="0" y="0"/>
                </a:moveTo>
                <a:lnTo>
                  <a:pt x="3806571" y="0"/>
                </a:lnTo>
                <a:lnTo>
                  <a:pt x="3806571" y="2083233"/>
                </a:lnTo>
                <a:lnTo>
                  <a:pt x="0" y="208323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txBox="1"/>
          <p:nvPr/>
        </p:nvSpPr>
        <p:spPr>
          <a:xfrm>
            <a:off x="3662014" y="4786849"/>
            <a:ext cx="3823800" cy="193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IN" sz="4000" u="none" cap="none" strike="noStrike">
                <a:solidFill>
                  <a:srgbClr val="262626"/>
                </a:solidFill>
                <a:latin typeface="Calibri"/>
                <a:ea typeface="Calibri"/>
                <a:cs typeface="Calibri"/>
                <a:sym typeface="Calibri"/>
              </a:rPr>
              <a:t>Presented By:</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Arial"/>
              <a:buNone/>
            </a:pPr>
            <a:r>
              <a:rPr b="0" i="0" lang="en-IN" sz="4000" u="none" cap="none" strike="noStrike">
                <a:solidFill>
                  <a:srgbClr val="262626"/>
                </a:solidFill>
                <a:latin typeface="Calibri"/>
                <a:ea typeface="Calibri"/>
                <a:cs typeface="Calibri"/>
                <a:sym typeface="Calibri"/>
              </a:rPr>
              <a:t>Gauravkumar Raval</a:t>
            </a:r>
            <a:endParaRPr b="0" i="0" sz="1600" u="none" cap="none" strike="noStrike">
              <a:solidFill>
                <a:srgbClr val="000000"/>
              </a:solidFill>
              <a:latin typeface="Arial"/>
              <a:ea typeface="Arial"/>
              <a:cs typeface="Arial"/>
              <a:sym typeface="Arial"/>
            </a:endParaRPr>
          </a:p>
        </p:txBody>
      </p:sp>
      <p:sp>
        <p:nvSpPr>
          <p:cNvPr id="96" name="Google Shape;96;p1"/>
          <p:cNvSpPr txBox="1"/>
          <p:nvPr/>
        </p:nvSpPr>
        <p:spPr>
          <a:xfrm>
            <a:off x="2372868" y="9009597"/>
            <a:ext cx="11484864" cy="1099083"/>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School of Doctoral Research and Innovation,</a:t>
            </a:r>
            <a:endParaRPr b="0" i="0" sz="1800" u="none" cap="none" strike="noStrike">
              <a:solidFill>
                <a:schemeClr val="dk1"/>
              </a:solidFill>
              <a:latin typeface="Calibri"/>
              <a:ea typeface="Calibri"/>
              <a:cs typeface="Calibri"/>
              <a:sym typeface="Calibri"/>
            </a:endParaRPr>
          </a:p>
          <a:p>
            <a:pPr indent="0" lvl="0" marL="0" marR="0" rtl="0" algn="ctr">
              <a:lnSpc>
                <a:spcPct val="115000"/>
              </a:lnSpc>
              <a:spcBef>
                <a:spcPts val="30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GLS University,</a:t>
            </a:r>
            <a:endParaRPr b="0" i="0" sz="1800" u="none" cap="none" strike="noStrike">
              <a:solidFill>
                <a:schemeClr val="dk1"/>
              </a:solidFill>
              <a:latin typeface="Calibri"/>
              <a:ea typeface="Calibri"/>
              <a:cs typeface="Calibri"/>
              <a:sym typeface="Calibri"/>
            </a:endParaRPr>
          </a:p>
          <a:p>
            <a:pPr indent="0" lvl="0" marL="0" marR="0" rtl="0" algn="ctr">
              <a:lnSpc>
                <a:spcPct val="115000"/>
              </a:lnSpc>
              <a:spcBef>
                <a:spcPts val="30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Ahmedabad, Gujarat, India</a:t>
            </a:r>
            <a:endParaRPr b="0" i="0" sz="1800" u="none" cap="none" strike="noStrike">
              <a:solidFill>
                <a:schemeClr val="dk1"/>
              </a:solidFill>
              <a:latin typeface="Calibri"/>
              <a:ea typeface="Calibri"/>
              <a:cs typeface="Calibri"/>
              <a:sym typeface="Calibri"/>
            </a:endParaRPr>
          </a:p>
        </p:txBody>
      </p:sp>
      <p:sp>
        <p:nvSpPr>
          <p:cNvPr id="97" name="Google Shape;97;p1"/>
          <p:cNvSpPr txBox="1"/>
          <p:nvPr/>
        </p:nvSpPr>
        <p:spPr>
          <a:xfrm>
            <a:off x="7209189" y="4859139"/>
            <a:ext cx="7992711" cy="15696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IN" sz="4000" u="none" cap="none" strike="noStrike">
                <a:solidFill>
                  <a:srgbClr val="262626"/>
                </a:solidFill>
                <a:latin typeface="Calibri"/>
                <a:ea typeface="Calibri"/>
                <a:cs typeface="Calibri"/>
                <a:sym typeface="Calibri"/>
              </a:rPr>
              <a:t>Supervisor</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Arial"/>
              <a:buNone/>
            </a:pPr>
            <a:r>
              <a:rPr b="0" i="0" lang="en-IN" sz="4000" u="none" cap="none" strike="noStrike">
                <a:solidFill>
                  <a:srgbClr val="262626"/>
                </a:solidFill>
                <a:latin typeface="Calibri"/>
                <a:ea typeface="Calibri"/>
                <a:cs typeface="Calibri"/>
                <a:sym typeface="Calibri"/>
              </a:rPr>
              <a:t>Prof. Dr. Tejas Bhatt</a:t>
            </a:r>
            <a:br>
              <a:rPr b="0" i="0" lang="en-IN" sz="4000" u="none" cap="none" strike="noStrike">
                <a:solidFill>
                  <a:srgbClr val="262626"/>
                </a:solidFill>
                <a:latin typeface="Calibri"/>
                <a:ea typeface="Calibri"/>
                <a:cs typeface="Calibri"/>
                <a:sym typeface="Calibri"/>
              </a:rPr>
            </a:br>
            <a:endParaRPr b="0" i="0" sz="1600" u="none" cap="none" strike="noStrike">
              <a:solidFill>
                <a:srgbClr val="000000"/>
              </a:solidFill>
              <a:latin typeface="Arial"/>
              <a:ea typeface="Arial"/>
              <a:cs typeface="Arial"/>
              <a:sym typeface="Arial"/>
            </a:endParaRPr>
          </a:p>
        </p:txBody>
      </p:sp>
      <p:sp>
        <p:nvSpPr>
          <p:cNvPr id="98" name="Google Shape;98;p1"/>
          <p:cNvSpPr txBox="1"/>
          <p:nvPr/>
        </p:nvSpPr>
        <p:spPr>
          <a:xfrm>
            <a:off x="6463283" y="6274871"/>
            <a:ext cx="3505200" cy="646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n-IN" sz="3600" u="none" cap="none" strike="noStrike">
                <a:solidFill>
                  <a:srgbClr val="262626"/>
                </a:solidFill>
                <a:latin typeface="Calibri"/>
                <a:ea typeface="Calibri"/>
                <a:cs typeface="Calibri"/>
                <a:sym typeface="Calibri"/>
              </a:rPr>
              <a:t>Submitted To</a:t>
            </a:r>
            <a:endParaRPr b="0" i="0" sz="1400" u="none" cap="none" strike="noStrike">
              <a:solidFill>
                <a:srgbClr val="000000"/>
              </a:solidFill>
              <a:latin typeface="Arial"/>
              <a:ea typeface="Arial"/>
              <a:cs typeface="Arial"/>
              <a:sym typeface="Arial"/>
            </a:endParaRPr>
          </a:p>
        </p:txBody>
      </p:sp>
      <p:pic>
        <p:nvPicPr>
          <p:cNvPr id="99" name="Google Shape;99;p1"/>
          <p:cNvPicPr preferRelativeResize="0"/>
          <p:nvPr/>
        </p:nvPicPr>
        <p:blipFill rotWithShape="1">
          <a:blip r:embed="rId5">
            <a:alphaModFix/>
          </a:blip>
          <a:srcRect b="0" l="0" r="0" t="0"/>
          <a:stretch/>
        </p:blipFill>
        <p:spPr>
          <a:xfrm>
            <a:off x="5676852" y="6998647"/>
            <a:ext cx="5078061" cy="20502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03" name="Shape 103"/>
        <p:cNvGrpSpPr/>
        <p:nvPr/>
      </p:nvGrpSpPr>
      <p:grpSpPr>
        <a:xfrm>
          <a:off x="0" y="0"/>
          <a:ext cx="0" cy="0"/>
          <a:chOff x="0" y="0"/>
          <a:chExt cx="0" cy="0"/>
        </a:xfrm>
      </p:grpSpPr>
      <p:grpSp>
        <p:nvGrpSpPr>
          <p:cNvPr id="104" name="Google Shape;104;p2"/>
          <p:cNvGrpSpPr/>
          <p:nvPr/>
        </p:nvGrpSpPr>
        <p:grpSpPr>
          <a:xfrm>
            <a:off x="3812627" y="2829367"/>
            <a:ext cx="1400485" cy="6180230"/>
            <a:chOff x="0" y="-19050"/>
            <a:chExt cx="368852" cy="1627715"/>
          </a:xfrm>
        </p:grpSpPr>
        <p:sp>
          <p:nvSpPr>
            <p:cNvPr id="105" name="Google Shape;105;p2"/>
            <p:cNvSpPr/>
            <p:nvPr/>
          </p:nvSpPr>
          <p:spPr>
            <a:xfrm>
              <a:off x="0" y="0"/>
              <a:ext cx="368852" cy="1608665"/>
            </a:xfrm>
            <a:custGeom>
              <a:rect b="b" l="l" r="r" t="t"/>
              <a:pathLst>
                <a:path extrusionOk="0" h="1608665" w="368852">
                  <a:moveTo>
                    <a:pt x="0" y="0"/>
                  </a:moveTo>
                  <a:lnTo>
                    <a:pt x="368852" y="0"/>
                  </a:lnTo>
                  <a:lnTo>
                    <a:pt x="368852" y="1608665"/>
                  </a:lnTo>
                  <a:lnTo>
                    <a:pt x="0" y="1608665"/>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0" y="-19050"/>
              <a:ext cx="368852" cy="1627715"/>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7" name="Google Shape;107;p2"/>
          <p:cNvGrpSpPr/>
          <p:nvPr/>
        </p:nvGrpSpPr>
        <p:grpSpPr>
          <a:xfrm>
            <a:off x="-1543050" y="-640292"/>
            <a:ext cx="3086100" cy="11372230"/>
            <a:chOff x="0" y="-19050"/>
            <a:chExt cx="812800" cy="2995155"/>
          </a:xfrm>
        </p:grpSpPr>
        <p:sp>
          <p:nvSpPr>
            <p:cNvPr id="108" name="Google Shape;108;p2"/>
            <p:cNvSpPr/>
            <p:nvPr/>
          </p:nvSpPr>
          <p:spPr>
            <a:xfrm>
              <a:off x="0" y="0"/>
              <a:ext cx="812800" cy="2976105"/>
            </a:xfrm>
            <a:custGeom>
              <a:rect b="b" l="l" r="r" t="t"/>
              <a:pathLst>
                <a:path extrusionOk="0" h="2976105" w="812800">
                  <a:moveTo>
                    <a:pt x="0" y="0"/>
                  </a:moveTo>
                  <a:lnTo>
                    <a:pt x="812800" y="0"/>
                  </a:lnTo>
                  <a:lnTo>
                    <a:pt x="812800" y="2976105"/>
                  </a:lnTo>
                  <a:lnTo>
                    <a:pt x="0" y="2976105"/>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0" y="-19050"/>
              <a:ext cx="812800" cy="2995155"/>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10" name="Google Shape;110;p2"/>
          <p:cNvGrpSpPr/>
          <p:nvPr/>
        </p:nvGrpSpPr>
        <p:grpSpPr>
          <a:xfrm>
            <a:off x="12193216" y="1343117"/>
            <a:ext cx="5408984" cy="8051758"/>
            <a:chOff x="0" y="-19050"/>
            <a:chExt cx="1424588" cy="2120628"/>
          </a:xfrm>
        </p:grpSpPr>
        <p:sp>
          <p:nvSpPr>
            <p:cNvPr id="111" name="Google Shape;111;p2"/>
            <p:cNvSpPr/>
            <p:nvPr/>
          </p:nvSpPr>
          <p:spPr>
            <a:xfrm>
              <a:off x="0" y="0"/>
              <a:ext cx="1424588" cy="2101578"/>
            </a:xfrm>
            <a:custGeom>
              <a:rect b="b" l="l" r="r" t="t"/>
              <a:pathLst>
                <a:path extrusionOk="0" h="2101578" w="1424588">
                  <a:moveTo>
                    <a:pt x="0" y="0"/>
                  </a:moveTo>
                  <a:lnTo>
                    <a:pt x="1424588" y="0"/>
                  </a:lnTo>
                  <a:lnTo>
                    <a:pt x="1424588" y="2101578"/>
                  </a:lnTo>
                  <a:lnTo>
                    <a:pt x="0" y="2101578"/>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0" y="-19050"/>
              <a:ext cx="1424588" cy="2120628"/>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3" name="Google Shape;113;p2"/>
          <p:cNvSpPr/>
          <p:nvPr/>
        </p:nvSpPr>
        <p:spPr>
          <a:xfrm>
            <a:off x="15698915" y="8697813"/>
            <a:ext cx="3806571" cy="2083232"/>
          </a:xfrm>
          <a:custGeom>
            <a:rect b="b" l="l" r="r" t="t"/>
            <a:pathLst>
              <a:path extrusionOk="0" h="2083232" w="3806571">
                <a:moveTo>
                  <a:pt x="0" y="0"/>
                </a:moveTo>
                <a:lnTo>
                  <a:pt x="3806570" y="0"/>
                </a:lnTo>
                <a:lnTo>
                  <a:pt x="3806570" y="2083232"/>
                </a:lnTo>
                <a:lnTo>
                  <a:pt x="0" y="208323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
          <p:cNvSpPr txBox="1"/>
          <p:nvPr/>
        </p:nvSpPr>
        <p:spPr>
          <a:xfrm>
            <a:off x="5213112" y="1316966"/>
            <a:ext cx="5661991" cy="1670907"/>
          </a:xfrm>
          <a:prstGeom prst="rect">
            <a:avLst/>
          </a:prstGeom>
          <a:noFill/>
          <a:ln>
            <a:noFill/>
          </a:ln>
        </p:spPr>
        <p:txBody>
          <a:bodyPr anchorCtr="0" anchor="t" bIns="0" lIns="0" spcFirstLastPara="1" rIns="0" wrap="square" tIns="0">
            <a:spAutoFit/>
          </a:bodyPr>
          <a:lstStyle/>
          <a:p>
            <a:pPr indent="0" lvl="0" marL="0" marR="0" rtl="0" algn="l">
              <a:lnSpc>
                <a:spcPct val="138002"/>
              </a:lnSpc>
              <a:spcBef>
                <a:spcPts val="0"/>
              </a:spcBef>
              <a:spcAft>
                <a:spcPts val="0"/>
              </a:spcAft>
              <a:buClr>
                <a:srgbClr val="000000"/>
              </a:buClr>
              <a:buSzPts val="7868"/>
              <a:buFont typeface="Arial"/>
              <a:buNone/>
            </a:pPr>
            <a:r>
              <a:rPr b="0" i="0" lang="en-IN" sz="7868" u="none" cap="none" strike="noStrike">
                <a:solidFill>
                  <a:schemeClr val="accent1"/>
                </a:solidFill>
                <a:latin typeface="Arial Rounded"/>
                <a:ea typeface="Arial Rounded"/>
                <a:cs typeface="Arial Rounded"/>
                <a:sym typeface="Arial Rounded"/>
              </a:rPr>
              <a:t>Outline</a:t>
            </a:r>
            <a:endParaRPr b="0" i="0" sz="1400" u="none" cap="none" strike="noStrike">
              <a:solidFill>
                <a:schemeClr val="accent1"/>
              </a:solidFill>
              <a:latin typeface="Arial"/>
              <a:ea typeface="Arial"/>
              <a:cs typeface="Arial"/>
              <a:sym typeface="Arial"/>
            </a:endParaRPr>
          </a:p>
        </p:txBody>
      </p:sp>
      <p:sp>
        <p:nvSpPr>
          <p:cNvPr id="115" name="Google Shape;115;p2"/>
          <p:cNvSpPr txBox="1"/>
          <p:nvPr/>
        </p:nvSpPr>
        <p:spPr>
          <a:xfrm>
            <a:off x="4024659" y="3168035"/>
            <a:ext cx="937219" cy="714375"/>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4271"/>
              <a:buFont typeface="Arial"/>
              <a:buNone/>
            </a:pPr>
            <a:r>
              <a:rPr b="0" i="0" lang="en-IN" sz="4271"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4024659" y="3965154"/>
            <a:ext cx="937219" cy="714375"/>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4271"/>
              <a:buFont typeface="Arial"/>
              <a:buNone/>
            </a:pPr>
            <a:r>
              <a:rPr b="0" i="0" lang="en-IN" sz="4271"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117" name="Google Shape;117;p2"/>
          <p:cNvSpPr txBox="1"/>
          <p:nvPr/>
        </p:nvSpPr>
        <p:spPr>
          <a:xfrm>
            <a:off x="4024659" y="4846311"/>
            <a:ext cx="937219" cy="714375"/>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4271"/>
              <a:buFont typeface="Arial"/>
              <a:buNone/>
            </a:pPr>
            <a:r>
              <a:rPr b="0" i="0" lang="en-IN" sz="4271"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4024659" y="5643430"/>
            <a:ext cx="937219" cy="714375"/>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4271"/>
              <a:buFont typeface="Arial"/>
              <a:buNone/>
            </a:pPr>
            <a:r>
              <a:rPr b="0" i="0" lang="en-IN" sz="4271" u="none" cap="none" strike="noStrike">
                <a:solidFill>
                  <a:srgbClr val="FFFFFF"/>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4044260" y="6435807"/>
            <a:ext cx="937219" cy="714375"/>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4271"/>
              <a:buFont typeface="Arial"/>
              <a:buNone/>
            </a:pPr>
            <a:r>
              <a:rPr b="0" i="0" lang="en-IN" sz="4271" u="none" cap="none" strike="noStrike">
                <a:solidFill>
                  <a:srgbClr val="FFFFFF"/>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120" name="Google Shape;120;p2"/>
          <p:cNvSpPr txBox="1"/>
          <p:nvPr/>
        </p:nvSpPr>
        <p:spPr>
          <a:xfrm>
            <a:off x="4044260" y="7266771"/>
            <a:ext cx="937219" cy="714375"/>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4271"/>
              <a:buFont typeface="Arial"/>
              <a:buNone/>
            </a:pPr>
            <a:r>
              <a:rPr b="0" i="0" lang="en-IN" sz="4271" u="none" cap="none" strike="noStrike">
                <a:solidFill>
                  <a:srgbClr val="FFFFFF"/>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121" name="Google Shape;121;p2"/>
          <p:cNvSpPr txBox="1"/>
          <p:nvPr/>
        </p:nvSpPr>
        <p:spPr>
          <a:xfrm>
            <a:off x="4044260" y="8117064"/>
            <a:ext cx="937219" cy="714375"/>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4271"/>
              <a:buFont typeface="Arial"/>
              <a:buNone/>
            </a:pPr>
            <a:r>
              <a:rPr b="0" i="0" lang="en-IN" sz="4271" u="none" cap="none" strike="noStrike">
                <a:solidFill>
                  <a:srgbClr val="FFFFFF"/>
                </a:solidFill>
                <a:latin typeface="Arial"/>
                <a:ea typeface="Arial"/>
                <a:cs typeface="Arial"/>
                <a:sym typeface="Arial"/>
              </a:rPr>
              <a:t>07</a:t>
            </a:r>
            <a:endParaRPr b="0" i="0" sz="1400" u="none" cap="none" strike="noStrike">
              <a:solidFill>
                <a:srgbClr val="000000"/>
              </a:solidFill>
              <a:latin typeface="Arial"/>
              <a:ea typeface="Arial"/>
              <a:cs typeface="Arial"/>
              <a:sym typeface="Arial"/>
            </a:endParaRPr>
          </a:p>
        </p:txBody>
      </p:sp>
      <p:sp>
        <p:nvSpPr>
          <p:cNvPr id="122" name="Google Shape;122;p2"/>
          <p:cNvSpPr txBox="1"/>
          <p:nvPr/>
        </p:nvSpPr>
        <p:spPr>
          <a:xfrm>
            <a:off x="5400737" y="3333137"/>
            <a:ext cx="5790503" cy="418548"/>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Clr>
                <a:srgbClr val="000000"/>
              </a:buClr>
              <a:buSzPts val="2524"/>
              <a:buFont typeface="Arial"/>
              <a:buNone/>
            </a:pPr>
            <a:r>
              <a:rPr b="0" i="0" lang="en-IN" sz="2524" u="none" cap="none" strike="noStrike">
                <a:solidFill>
                  <a:srgbClr val="231F20"/>
                </a:solidFill>
                <a:latin typeface="Arial"/>
                <a:ea typeface="Arial"/>
                <a:cs typeface="Arial"/>
                <a:sym typeface="Arial"/>
              </a:rPr>
              <a:t>Topic Introduction</a:t>
            </a:r>
            <a:endParaRPr b="0" i="0" sz="1400" u="none" cap="none" strike="noStrike">
              <a:solidFill>
                <a:srgbClr val="000000"/>
              </a:solidFill>
              <a:latin typeface="Arial"/>
              <a:ea typeface="Arial"/>
              <a:cs typeface="Arial"/>
              <a:sym typeface="Arial"/>
            </a:endParaRPr>
          </a:p>
        </p:txBody>
      </p:sp>
      <p:sp>
        <p:nvSpPr>
          <p:cNvPr id="123" name="Google Shape;123;p2"/>
          <p:cNvSpPr txBox="1"/>
          <p:nvPr/>
        </p:nvSpPr>
        <p:spPr>
          <a:xfrm>
            <a:off x="5400736" y="4120455"/>
            <a:ext cx="5790503" cy="418548"/>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Clr>
                <a:srgbClr val="000000"/>
              </a:buClr>
              <a:buSzPts val="2524"/>
              <a:buFont typeface="Arial"/>
              <a:buNone/>
            </a:pPr>
            <a:r>
              <a:rPr b="0" i="0" lang="en-IN" sz="2524" u="none" cap="none" strike="noStrike">
                <a:solidFill>
                  <a:srgbClr val="231F20"/>
                </a:solidFill>
                <a:latin typeface="Arial"/>
                <a:ea typeface="Arial"/>
                <a:cs typeface="Arial"/>
                <a:sym typeface="Arial"/>
              </a:rPr>
              <a:t>Literature Review</a:t>
            </a:r>
            <a:endParaRPr b="0" i="0" sz="1400" u="none" cap="none" strike="noStrike">
              <a:solidFill>
                <a:srgbClr val="000000"/>
              </a:solidFill>
              <a:latin typeface="Arial"/>
              <a:ea typeface="Arial"/>
              <a:cs typeface="Arial"/>
              <a:sym typeface="Arial"/>
            </a:endParaRPr>
          </a:p>
        </p:txBody>
      </p:sp>
      <p:sp>
        <p:nvSpPr>
          <p:cNvPr id="124" name="Google Shape;124;p2"/>
          <p:cNvSpPr txBox="1"/>
          <p:nvPr/>
        </p:nvSpPr>
        <p:spPr>
          <a:xfrm>
            <a:off x="5425144" y="5045823"/>
            <a:ext cx="6076629" cy="418548"/>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Clr>
                <a:srgbClr val="000000"/>
              </a:buClr>
              <a:buSzPts val="2524"/>
              <a:buFont typeface="Arial"/>
              <a:buNone/>
            </a:pPr>
            <a:r>
              <a:rPr b="0" i="0" lang="en-IN" sz="2524" u="none" cap="none" strike="noStrike">
                <a:solidFill>
                  <a:srgbClr val="231F20"/>
                </a:solidFill>
                <a:latin typeface="Arial"/>
                <a:ea typeface="Arial"/>
                <a:cs typeface="Arial"/>
                <a:sym typeface="Arial"/>
              </a:rPr>
              <a:t>Problem statement</a:t>
            </a:r>
            <a:endParaRPr b="0" i="0" sz="1400" u="none" cap="none" strike="noStrike">
              <a:solidFill>
                <a:srgbClr val="000000"/>
              </a:solidFill>
              <a:latin typeface="Arial"/>
              <a:ea typeface="Arial"/>
              <a:cs typeface="Arial"/>
              <a:sym typeface="Arial"/>
            </a:endParaRPr>
          </a:p>
        </p:txBody>
      </p:sp>
      <p:sp>
        <p:nvSpPr>
          <p:cNvPr id="125" name="Google Shape;125;p2"/>
          <p:cNvSpPr txBox="1"/>
          <p:nvPr/>
        </p:nvSpPr>
        <p:spPr>
          <a:xfrm>
            <a:off x="5400737" y="5925194"/>
            <a:ext cx="6076500" cy="388500"/>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Clr>
                <a:srgbClr val="000000"/>
              </a:buClr>
              <a:buSzPts val="2524"/>
              <a:buFont typeface="Arial"/>
              <a:buNone/>
            </a:pPr>
            <a:r>
              <a:rPr lang="en-IN" sz="2524">
                <a:solidFill>
                  <a:srgbClr val="231F20"/>
                </a:solidFill>
              </a:rPr>
              <a:t>RDC 1 Feedback &amp; Research Pivot</a:t>
            </a:r>
            <a:endParaRPr b="0" i="0" sz="1400" u="none" cap="none" strike="noStrike">
              <a:solidFill>
                <a:srgbClr val="000000"/>
              </a:solidFill>
              <a:latin typeface="Arial"/>
              <a:ea typeface="Arial"/>
              <a:cs typeface="Arial"/>
              <a:sym typeface="Arial"/>
            </a:endParaRPr>
          </a:p>
        </p:txBody>
      </p:sp>
      <p:sp>
        <p:nvSpPr>
          <p:cNvPr id="126" name="Google Shape;126;p2"/>
          <p:cNvSpPr txBox="1"/>
          <p:nvPr/>
        </p:nvSpPr>
        <p:spPr>
          <a:xfrm>
            <a:off x="5400735" y="7414684"/>
            <a:ext cx="5790503" cy="418548"/>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Clr>
                <a:srgbClr val="000000"/>
              </a:buClr>
              <a:buSzPts val="2524"/>
              <a:buFont typeface="Arial"/>
              <a:buNone/>
            </a:pPr>
            <a:r>
              <a:rPr b="0" i="0" lang="en-IN" sz="2524" u="none" cap="none" strike="noStrike">
                <a:solidFill>
                  <a:srgbClr val="231F20"/>
                </a:solidFill>
                <a:latin typeface="Arial"/>
                <a:ea typeface="Arial"/>
                <a:cs typeface="Arial"/>
                <a:sym typeface="Arial"/>
              </a:rPr>
              <a:t>Conclusion</a:t>
            </a:r>
            <a:endParaRPr b="0" i="0" sz="1400" u="none" cap="none" strike="noStrike">
              <a:solidFill>
                <a:srgbClr val="000000"/>
              </a:solidFill>
              <a:latin typeface="Arial"/>
              <a:ea typeface="Arial"/>
              <a:cs typeface="Arial"/>
              <a:sym typeface="Arial"/>
            </a:endParaRPr>
          </a:p>
        </p:txBody>
      </p:sp>
      <p:sp>
        <p:nvSpPr>
          <p:cNvPr id="127" name="Google Shape;127;p2"/>
          <p:cNvSpPr txBox="1"/>
          <p:nvPr/>
        </p:nvSpPr>
        <p:spPr>
          <a:xfrm>
            <a:off x="5400737" y="8279265"/>
            <a:ext cx="6076629" cy="411010"/>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Clr>
                <a:srgbClr val="000000"/>
              </a:buClr>
              <a:buSzPts val="2524"/>
              <a:buFont typeface="Arial"/>
              <a:buNone/>
            </a:pPr>
            <a:r>
              <a:rPr b="0" i="0" lang="en-IN" sz="2524" u="none" cap="none" strike="noStrike">
                <a:solidFill>
                  <a:srgbClr val="231F20"/>
                </a:solidFill>
                <a:latin typeface="Arial"/>
                <a:ea typeface="Arial"/>
                <a:cs typeface="Arial"/>
                <a:sym typeface="Arial"/>
              </a:rPr>
              <a:t>References</a:t>
            </a:r>
            <a:endParaRPr b="0" i="0" sz="1400" u="none" cap="none" strike="noStrike">
              <a:solidFill>
                <a:srgbClr val="000000"/>
              </a:solidFill>
              <a:latin typeface="Arial"/>
              <a:ea typeface="Arial"/>
              <a:cs typeface="Arial"/>
              <a:sym typeface="Arial"/>
            </a:endParaRPr>
          </a:p>
        </p:txBody>
      </p:sp>
      <p:sp>
        <p:nvSpPr>
          <p:cNvPr id="128" name="Google Shape;128;p2"/>
          <p:cNvSpPr txBox="1"/>
          <p:nvPr/>
        </p:nvSpPr>
        <p:spPr>
          <a:xfrm>
            <a:off x="5425150" y="6662550"/>
            <a:ext cx="7856700" cy="373200"/>
          </a:xfrm>
          <a:prstGeom prst="rect">
            <a:avLst/>
          </a:prstGeom>
          <a:noFill/>
          <a:ln>
            <a:noFill/>
          </a:ln>
        </p:spPr>
        <p:txBody>
          <a:bodyPr anchorCtr="0" anchor="t" bIns="0" lIns="0" spcFirstLastPara="1" rIns="0" wrap="square" tIns="0">
            <a:spAutoFit/>
          </a:bodyPr>
          <a:lstStyle/>
          <a:p>
            <a:pPr indent="0" lvl="0" marL="0" rtl="0" algn="l">
              <a:lnSpc>
                <a:spcPct val="137995"/>
              </a:lnSpc>
              <a:spcBef>
                <a:spcPts val="0"/>
              </a:spcBef>
              <a:spcAft>
                <a:spcPts val="0"/>
              </a:spcAft>
              <a:buClr>
                <a:schemeClr val="dk1"/>
              </a:buClr>
              <a:buSzPts val="1100"/>
              <a:buFont typeface="Arial"/>
              <a:buNone/>
            </a:pPr>
            <a:r>
              <a:rPr lang="en-IN" sz="2424">
                <a:solidFill>
                  <a:srgbClr val="231F20"/>
                </a:solidFill>
              </a:rPr>
              <a:t>Research State, Outcome &amp; Timeline</a:t>
            </a:r>
            <a:endParaRPr sz="2524">
              <a:solidFill>
                <a:srgbClr val="231F20"/>
              </a:solidFill>
            </a:endParaRPr>
          </a:p>
        </p:txBody>
      </p:sp>
      <p:pic>
        <p:nvPicPr>
          <p:cNvPr descr="What is a Smart Factory? A Guide to Smart Manufacturing" id="129" name="Google Shape;129;p2"/>
          <p:cNvPicPr preferRelativeResize="0"/>
          <p:nvPr/>
        </p:nvPicPr>
        <p:blipFill rotWithShape="1">
          <a:blip r:embed="rId4">
            <a:alphaModFix/>
          </a:blip>
          <a:srcRect b="0" l="0" r="0" t="0"/>
          <a:stretch/>
        </p:blipFill>
        <p:spPr>
          <a:xfrm>
            <a:off x="12174553" y="2099035"/>
            <a:ext cx="5231182" cy="61802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34" name="Shape 134"/>
        <p:cNvGrpSpPr/>
        <p:nvPr/>
      </p:nvGrpSpPr>
      <p:grpSpPr>
        <a:xfrm>
          <a:off x="0" y="0"/>
          <a:ext cx="0" cy="0"/>
          <a:chOff x="0" y="0"/>
          <a:chExt cx="0" cy="0"/>
        </a:xfrm>
      </p:grpSpPr>
      <p:sp>
        <p:nvSpPr>
          <p:cNvPr id="135" name="Google Shape;135;p3"/>
          <p:cNvSpPr txBox="1"/>
          <p:nvPr/>
        </p:nvSpPr>
        <p:spPr>
          <a:xfrm>
            <a:off x="1998308" y="581804"/>
            <a:ext cx="6825416" cy="964623"/>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Clr>
                <a:srgbClr val="000000"/>
              </a:buClr>
              <a:buSzPts val="5765"/>
              <a:buFont typeface="Arial"/>
              <a:buNone/>
            </a:pPr>
            <a:r>
              <a:rPr b="1" i="0" lang="en-IN" sz="5765" u="none" cap="none" strike="noStrike">
                <a:solidFill>
                  <a:srgbClr val="231F20"/>
                </a:solidFill>
                <a:latin typeface="Arial Rounded"/>
                <a:ea typeface="Arial Rounded"/>
                <a:cs typeface="Arial Rounded"/>
                <a:sym typeface="Arial Rounded"/>
              </a:rPr>
              <a:t>Introduction </a:t>
            </a:r>
            <a:endParaRPr b="0" i="0" sz="1400" u="none" cap="none" strike="noStrike">
              <a:solidFill>
                <a:srgbClr val="000000"/>
              </a:solidFill>
              <a:latin typeface="Arial"/>
              <a:ea typeface="Arial"/>
              <a:cs typeface="Arial"/>
              <a:sym typeface="Arial"/>
            </a:endParaRPr>
          </a:p>
        </p:txBody>
      </p:sp>
      <p:sp>
        <p:nvSpPr>
          <p:cNvPr id="136" name="Google Shape;136;p3"/>
          <p:cNvSpPr txBox="1"/>
          <p:nvPr/>
        </p:nvSpPr>
        <p:spPr>
          <a:xfrm>
            <a:off x="927847" y="2043953"/>
            <a:ext cx="15394200" cy="8311800"/>
          </a:xfrm>
          <a:prstGeom prst="rect">
            <a:avLst/>
          </a:prstGeom>
          <a:noFill/>
          <a:ln>
            <a:noFill/>
          </a:ln>
        </p:spPr>
        <p:txBody>
          <a:bodyPr anchorCtr="0" anchor="t" bIns="0" lIns="0" spcFirstLastPara="1" rIns="0" wrap="square" tIns="0">
            <a:spAutoFit/>
          </a:bodyPr>
          <a:lstStyle/>
          <a:p>
            <a:pPr indent="-571500" lvl="0" marL="571500" marR="0" rtl="0" algn="l">
              <a:lnSpc>
                <a:spcPct val="100000"/>
              </a:lnSpc>
              <a:spcBef>
                <a:spcPts val="0"/>
              </a:spcBef>
              <a:spcAft>
                <a:spcPts val="0"/>
              </a:spcAft>
              <a:buClr>
                <a:srgbClr val="000000"/>
              </a:buClr>
              <a:buSzPts val="3600"/>
              <a:buFont typeface="Arial"/>
              <a:buChar char="•"/>
            </a:pPr>
            <a:r>
              <a:rPr b="1" i="0" lang="en-IN" sz="3600" u="none" cap="none" strike="noStrike">
                <a:solidFill>
                  <a:srgbClr val="000000"/>
                </a:solidFill>
                <a:latin typeface="Arial"/>
                <a:ea typeface="Arial"/>
                <a:cs typeface="Arial"/>
                <a:sym typeface="Arial"/>
              </a:rPr>
              <a:t>Smart Manufacturing</a:t>
            </a:r>
            <a:r>
              <a:rPr b="0" i="0" lang="en-IN" sz="3600" u="none" cap="none" strike="noStrike">
                <a:solidFill>
                  <a:srgbClr val="000000"/>
                </a:solidFill>
                <a:latin typeface="Arial"/>
                <a:ea typeface="Arial"/>
                <a:cs typeface="Arial"/>
                <a:sym typeface="Arial"/>
              </a:rPr>
              <a:t> integrates IoT, AI, and cyber-physical systems for enhanced automation and efficiency. </a:t>
            </a:r>
            <a:r>
              <a:rPr b="0" i="0" lang="en-IN" sz="3200" u="none" cap="none" strike="noStrike">
                <a:solidFill>
                  <a:srgbClr val="000000"/>
                </a:solidFill>
                <a:latin typeface="Arial"/>
                <a:ea typeface="Arial"/>
                <a:cs typeface="Arial"/>
                <a:sym typeface="Arial"/>
              </a:rPr>
              <a:t>[</a:t>
            </a:r>
            <a:r>
              <a:rPr lang="en-IN" sz="3200"/>
              <a:t>5</a:t>
            </a:r>
            <a:r>
              <a:rPr b="0" i="0" lang="en-IN" sz="3200" u="none" cap="none" strike="noStrike">
                <a:solidFill>
                  <a:srgbClr val="000000"/>
                </a:solidFill>
                <a:latin typeface="Arial"/>
                <a:ea typeface="Arial"/>
                <a:cs typeface="Arial"/>
                <a:sym typeface="Arial"/>
              </a:rPr>
              <a:t>][</a:t>
            </a:r>
            <a:r>
              <a:rPr lang="en-IN" sz="3200"/>
              <a:t>6</a:t>
            </a:r>
            <a:r>
              <a:rPr b="0" i="0" lang="en-IN" sz="32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600"/>
              <a:buFont typeface="Arial"/>
              <a:buChar char="•"/>
            </a:pPr>
            <a:r>
              <a:rPr b="1" i="0" lang="en-IN" sz="3600" u="none" cap="none" strike="noStrike">
                <a:solidFill>
                  <a:srgbClr val="000000"/>
                </a:solidFill>
                <a:latin typeface="Arial"/>
                <a:ea typeface="Arial"/>
                <a:cs typeface="Arial"/>
                <a:sym typeface="Arial"/>
              </a:rPr>
              <a:t>Cybersecurity Threats</a:t>
            </a:r>
            <a:r>
              <a:rPr b="0" i="0" lang="en-IN" sz="3600" u="none" cap="none" strike="noStrike">
                <a:solidFill>
                  <a:srgbClr val="000000"/>
                </a:solidFill>
                <a:latin typeface="Arial"/>
                <a:ea typeface="Arial"/>
                <a:cs typeface="Arial"/>
                <a:sym typeface="Arial"/>
              </a:rPr>
              <a:t>: Manufacturing is now the most targeted sector for cyberattacks, with a 41% rise in attacks in 2024. </a:t>
            </a:r>
            <a:r>
              <a:rPr b="0" i="0" lang="en-IN" sz="3200" u="none" cap="none" strike="noStrike">
                <a:solidFill>
                  <a:srgbClr val="000000"/>
                </a:solidFill>
                <a:latin typeface="Arial"/>
                <a:ea typeface="Arial"/>
                <a:cs typeface="Arial"/>
                <a:sym typeface="Arial"/>
              </a:rPr>
              <a:t>[</a:t>
            </a:r>
            <a:r>
              <a:rPr lang="en-IN" sz="3200"/>
              <a:t>5</a:t>
            </a:r>
            <a:r>
              <a:rPr b="0" i="0" lang="en-IN" sz="3200" u="none" cap="none" strike="noStrike">
                <a:solidFill>
                  <a:srgbClr val="000000"/>
                </a:solidFill>
                <a:latin typeface="Arial"/>
                <a:ea typeface="Arial"/>
                <a:cs typeface="Arial"/>
                <a:sym typeface="Arial"/>
              </a:rPr>
              <a:t>][</a:t>
            </a:r>
            <a:r>
              <a:rPr lang="en-IN" sz="3200"/>
              <a:t>7</a:t>
            </a:r>
            <a:r>
              <a:rPr b="0" i="0" lang="en-IN" sz="32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600"/>
              <a:buFont typeface="Arial"/>
              <a:buChar char="•"/>
            </a:pPr>
            <a:r>
              <a:rPr b="1" i="0" lang="en-IN" sz="3600" u="none" cap="none" strike="noStrike">
                <a:solidFill>
                  <a:srgbClr val="000000"/>
                </a:solidFill>
                <a:latin typeface="Arial"/>
                <a:ea typeface="Arial"/>
                <a:cs typeface="Arial"/>
                <a:sym typeface="Arial"/>
              </a:rPr>
              <a:t>Ransomware Dominance:</a:t>
            </a:r>
            <a:r>
              <a:rPr b="0" i="0" lang="en-IN" sz="3600" u="none" cap="none" strike="noStrike">
                <a:solidFill>
                  <a:srgbClr val="000000"/>
                </a:solidFill>
                <a:latin typeface="Arial"/>
                <a:ea typeface="Arial"/>
                <a:cs typeface="Arial"/>
                <a:sym typeface="Arial"/>
              </a:rPr>
              <a:t> Manufacturing bears 70% of ransomware activities within industrial sectors, with 424 incidents in Q4 2024 alone</a:t>
            </a:r>
            <a:r>
              <a:rPr b="0" i="0" lang="en-IN" sz="3200" u="none" cap="none" strike="noStrike">
                <a:solidFill>
                  <a:srgbClr val="000000"/>
                </a:solidFill>
                <a:latin typeface="Arial"/>
                <a:ea typeface="Arial"/>
                <a:cs typeface="Arial"/>
                <a:sym typeface="Arial"/>
              </a:rPr>
              <a:t>[</a:t>
            </a:r>
            <a:r>
              <a:rPr lang="en-IN" sz="3200"/>
              <a:t>7</a:t>
            </a:r>
            <a:r>
              <a:rPr b="0" i="0" lang="en-IN" sz="3200" u="none" cap="none" strike="noStrike">
                <a:solidFill>
                  <a:srgbClr val="000000"/>
                </a:solidFill>
                <a:latin typeface="Arial"/>
                <a:ea typeface="Arial"/>
                <a:cs typeface="Arial"/>
                <a:sym typeface="Arial"/>
              </a:rPr>
              <a:t>]</a:t>
            </a:r>
            <a:r>
              <a:rPr b="0" i="0" lang="en-IN" sz="3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600"/>
              <a:buFont typeface="Arial"/>
              <a:buChar char="•"/>
            </a:pPr>
            <a:r>
              <a:rPr b="1" i="0" lang="en-IN" sz="3600" u="none" cap="none" strike="noStrike">
                <a:solidFill>
                  <a:srgbClr val="000000"/>
                </a:solidFill>
                <a:latin typeface="Arial"/>
                <a:ea typeface="Arial"/>
                <a:cs typeface="Arial"/>
                <a:sym typeface="Arial"/>
              </a:rPr>
              <a:t>AI Paradox</a:t>
            </a:r>
            <a:r>
              <a:rPr b="0" i="0" lang="en-IN" sz="3600" u="none" cap="none" strike="noStrike">
                <a:solidFill>
                  <a:srgbClr val="000000"/>
                </a:solidFill>
                <a:latin typeface="Arial"/>
                <a:ea typeface="Arial"/>
                <a:cs typeface="Arial"/>
                <a:sym typeface="Arial"/>
              </a:rPr>
              <a:t>: While AI boosts operational efficiency, 85% of security professionals believe AI has made cybersecurity attacks more sophisticated</a:t>
            </a:r>
            <a:r>
              <a:rPr b="0" i="0" lang="en-IN" sz="3200" u="none" cap="none" strike="noStrike">
                <a:solidFill>
                  <a:srgbClr val="000000"/>
                </a:solidFill>
                <a:latin typeface="Arial"/>
                <a:ea typeface="Arial"/>
                <a:cs typeface="Arial"/>
                <a:sym typeface="Arial"/>
              </a:rPr>
              <a:t>[</a:t>
            </a:r>
            <a:r>
              <a:rPr lang="en-IN" sz="3200"/>
              <a:t>8</a:t>
            </a:r>
            <a:r>
              <a:rPr b="0" i="0" lang="en-IN" sz="3200" u="none" cap="none" strike="noStrike">
                <a:solidFill>
                  <a:srgbClr val="000000"/>
                </a:solidFill>
                <a:latin typeface="Arial"/>
                <a:ea typeface="Arial"/>
                <a:cs typeface="Arial"/>
                <a:sym typeface="Arial"/>
              </a:rPr>
              <a:t>]</a:t>
            </a:r>
            <a:endParaRPr b="0" i="0" sz="36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600"/>
              <a:buFont typeface="Arial"/>
              <a:buChar char="•"/>
            </a:pPr>
            <a:r>
              <a:rPr b="1" i="0" lang="en-IN" sz="3600" u="none" cap="none" strike="noStrike">
                <a:solidFill>
                  <a:srgbClr val="000000"/>
                </a:solidFill>
                <a:latin typeface="Arial"/>
                <a:ea typeface="Arial"/>
                <a:cs typeface="Arial"/>
                <a:sym typeface="Arial"/>
              </a:rPr>
              <a:t>Need:</a:t>
            </a:r>
            <a:r>
              <a:rPr b="0" i="0" lang="en-IN" sz="3600" u="none" cap="none" strike="noStrike">
                <a:solidFill>
                  <a:srgbClr val="000000"/>
                </a:solidFill>
                <a:latin typeface="Arial"/>
                <a:ea typeface="Arial"/>
                <a:cs typeface="Arial"/>
                <a:sym typeface="Arial"/>
              </a:rPr>
              <a:t> Real-time, AI-driven security frameworks tailored for smart manufacturing environments</a:t>
            </a:r>
            <a:r>
              <a:rPr b="0" i="0" lang="en-IN" sz="3200" u="none" cap="none" strike="noStrike">
                <a:solidFill>
                  <a:srgbClr val="000000"/>
                </a:solidFill>
                <a:latin typeface="Arial"/>
                <a:ea typeface="Arial"/>
                <a:cs typeface="Arial"/>
                <a:sym typeface="Arial"/>
              </a:rPr>
              <a:t>[</a:t>
            </a:r>
            <a:r>
              <a:rPr lang="en-IN" sz="3200"/>
              <a:t>9</a:t>
            </a:r>
            <a:r>
              <a:rPr b="0" i="0" lang="en-IN" sz="3200" u="none" cap="none" strike="noStrike">
                <a:solidFill>
                  <a:srgbClr val="000000"/>
                </a:solidFill>
                <a:latin typeface="Arial"/>
                <a:ea typeface="Arial"/>
                <a:cs typeface="Arial"/>
                <a:sym typeface="Arial"/>
              </a:rPr>
              <a:t>][</a:t>
            </a:r>
            <a:r>
              <a:rPr lang="en-IN" sz="3200"/>
              <a:t>10</a:t>
            </a:r>
            <a:r>
              <a:rPr b="0" i="0" lang="en-IN" sz="3200" u="none" cap="none" strike="noStrike">
                <a:solidFill>
                  <a:srgbClr val="000000"/>
                </a:solidFill>
                <a:latin typeface="Arial"/>
                <a:ea typeface="Arial"/>
                <a:cs typeface="Arial"/>
                <a:sym typeface="Arial"/>
              </a:rPr>
              <a:t>].</a:t>
            </a:r>
            <a:endParaRPr b="0" i="0" sz="3600" u="none" cap="none" strike="noStrike">
              <a:solidFill>
                <a:srgbClr val="000000"/>
              </a:solidFill>
              <a:latin typeface="Arial"/>
              <a:ea typeface="Arial"/>
              <a:cs typeface="Arial"/>
              <a:sym typeface="Arial"/>
            </a:endParaRPr>
          </a:p>
        </p:txBody>
      </p:sp>
      <p:sp>
        <p:nvSpPr>
          <p:cNvPr id="137" name="Google Shape;137;p3"/>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rot="10800000">
            <a:off x="-2059222" y="-789427"/>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aphicFrame>
        <p:nvGraphicFramePr>
          <p:cNvPr id="144" name="Google Shape;144;p4"/>
          <p:cNvGraphicFramePr/>
          <p:nvPr/>
        </p:nvGraphicFramePr>
        <p:xfrm>
          <a:off x="1131375" y="1995225"/>
          <a:ext cx="3000000" cy="3000000"/>
        </p:xfrm>
        <a:graphic>
          <a:graphicData uri="http://schemas.openxmlformats.org/drawingml/2006/table">
            <a:tbl>
              <a:tblPr firstRow="1">
                <a:gradFill>
                  <a:gsLst>
                    <a:gs pos="0">
                      <a:srgbClr val="9FC3FF"/>
                    </a:gs>
                    <a:gs pos="35000">
                      <a:srgbClr val="BDD5FF"/>
                    </a:gs>
                    <a:gs pos="100000">
                      <a:srgbClr val="E4EEFF"/>
                    </a:gs>
                  </a:gsLst>
                  <a:lin ang="16200000" scaled="0"/>
                </a:gradFill>
                <a:tableStyleId>{FD62060C-A9E3-43FF-8695-09CB6F05CB28}</a:tableStyleId>
              </a:tblPr>
              <a:tblGrid>
                <a:gridCol w="3994700"/>
                <a:gridCol w="3994700"/>
                <a:gridCol w="3994700"/>
                <a:gridCol w="3994700"/>
              </a:tblGrid>
              <a:tr h="24140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Title</a:t>
                      </a:r>
                      <a:endParaRPr sz="1400" u="none" cap="none" strike="noStrike"/>
                    </a:p>
                  </a:txBody>
                  <a:tcPr marT="31600" marB="31600" marR="31600" marL="31600">
                    <a:no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Approaches</a:t>
                      </a:r>
                      <a:endParaRPr sz="1400" u="none" cap="none" strike="noStrike"/>
                    </a:p>
                  </a:txBody>
                  <a:tcPr marT="31600" marB="31600" marR="31600" marL="31600">
                    <a:no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Dataset</a:t>
                      </a:r>
                      <a:endParaRPr sz="1400" u="none" cap="none" strike="noStrike"/>
                    </a:p>
                  </a:txBody>
                  <a:tcPr marT="31600" marB="31600" marR="31600" marL="31600">
                    <a:no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Major Findings</a:t>
                      </a:r>
                      <a:endParaRPr sz="1400" u="none" cap="none" strike="noStrike"/>
                    </a:p>
                  </a:txBody>
                  <a:tcPr marT="31600" marB="31600" marR="31600" marL="31600">
                    <a:noFill/>
                  </a:tcPr>
                </a:tc>
              </a:tr>
              <a:tr h="1058375">
                <a:tc>
                  <a:txBody>
                    <a:bodyPr/>
                    <a:lstStyle/>
                    <a:p>
                      <a:pPr indent="0" lvl="0" marL="0" marR="0" rtl="0" algn="l">
                        <a:lnSpc>
                          <a:spcPct val="100000"/>
                        </a:lnSpc>
                        <a:spcBef>
                          <a:spcPts val="0"/>
                        </a:spcBef>
                        <a:spcAft>
                          <a:spcPts val="0"/>
                        </a:spcAft>
                        <a:buClr>
                          <a:srgbClr val="000000"/>
                        </a:buClr>
                        <a:buSzPts val="1800"/>
                        <a:buFont typeface="Arial"/>
                        <a:buNone/>
                      </a:pPr>
                      <a:r>
                        <a:rPr lang="en-IN" sz="1800"/>
                        <a:t>LM-Hunter: An NLP-Powered Graph Method for Detecting Adversary Lateral Movements in APT Cyber-Attacks at Scale</a:t>
                      </a:r>
                      <a:r>
                        <a:rPr lang="en-IN" sz="1800" u="none" cap="none" strike="noStrike"/>
                        <a:t> </a:t>
                      </a:r>
                      <a:r>
                        <a:rPr lang="en-IN" sz="1600" u="none" cap="none" strike="noStrike"/>
                        <a:t>[</a:t>
                      </a:r>
                      <a:r>
                        <a:rPr lang="en-IN" sz="1600"/>
                        <a:t>1</a:t>
                      </a:r>
                      <a:r>
                        <a:rPr lang="en-IN" sz="1600" u="none" cap="none" strike="noStrike"/>
                        <a:t>]</a:t>
                      </a:r>
                      <a:endParaRPr sz="18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It analyzes user activity sub-graphs and uses seq2seq models to learn network dynamics for identifying suspicious lateral movements</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A dataset from a real-world incident at a Fortune 500 company, infiltrated by an APT actor using Conti Ransomware and Cobalt Strike</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LM-Hunter is a new robust and efficient method for identifying stealth adversaries moving laterally through enterprise networks at scale.</a:t>
                      </a:r>
                      <a:endParaRPr sz="1400" u="none" cap="none" strike="noStrike"/>
                    </a:p>
                  </a:txBody>
                  <a:tcPr marT="18975" marB="18975" marR="31600" marL="31600" anchor="ctr">
                    <a:noFill/>
                  </a:tcPr>
                </a:tc>
              </a:tr>
              <a:tr h="1058375">
                <a:tc>
                  <a:txBody>
                    <a:bodyPr/>
                    <a:lstStyle/>
                    <a:p>
                      <a:pPr indent="0" lvl="0" marL="0" marR="0" rtl="0" algn="l">
                        <a:lnSpc>
                          <a:spcPct val="100000"/>
                        </a:lnSpc>
                        <a:spcBef>
                          <a:spcPts val="0"/>
                        </a:spcBef>
                        <a:spcAft>
                          <a:spcPts val="0"/>
                        </a:spcAft>
                        <a:buClr>
                          <a:srgbClr val="000000"/>
                        </a:buClr>
                        <a:buSzPts val="1800"/>
                        <a:buFont typeface="Arial"/>
                        <a:buNone/>
                      </a:pPr>
                      <a:r>
                        <a:rPr lang="en-IN" sz="1800"/>
                        <a:t>Hackphyr: A Local Fine-Tuned LLM Agent for Network Security Environments</a:t>
                      </a:r>
                      <a:r>
                        <a:rPr lang="en-IN" sz="1800" u="none" cap="none" strike="noStrike"/>
                        <a:t> </a:t>
                      </a:r>
                      <a:r>
                        <a:rPr lang="en-IN" sz="1600" u="none" cap="none" strike="noStrike"/>
                        <a:t>[</a:t>
                      </a:r>
                      <a:r>
                        <a:rPr lang="en-IN" sz="1600"/>
                        <a:t>2</a:t>
                      </a:r>
                      <a:r>
                        <a:rPr lang="en-IN" sz="1600" u="none" cap="none" strike="noStrike"/>
                        <a:t>]</a:t>
                      </a:r>
                      <a:endParaRPr sz="18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Fine-tuned a 7 billion pre-trained LLM (Zephyr-7b-β) as a red team agent in the NetSecGame environment</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New task-specific cybersecurity dataset generation (overall) </a:t>
                      </a:r>
                      <a:endParaRPr sz="1400" u="none" cap="none" strike="noStrike"/>
                    </a:p>
                  </a:txBody>
                  <a:tcPr marT="18975" marB="18975" marR="31600" marL="31600" anchor="ctr">
                    <a:noFill/>
                  </a:tcPr>
                </a:tc>
                <a:tc>
                  <a:txBody>
                    <a:bodyPr/>
                    <a:lstStyle/>
                    <a:p>
                      <a:pPr indent="0" lvl="0" marL="0" rtl="0" algn="l">
                        <a:spcBef>
                          <a:spcPts val="0"/>
                        </a:spcBef>
                        <a:spcAft>
                          <a:spcPts val="0"/>
                        </a:spcAft>
                        <a:buClr>
                          <a:schemeClr val="dk1"/>
                        </a:buClr>
                        <a:buSzPts val="1100"/>
                        <a:buFont typeface="Arial"/>
                        <a:buNone/>
                      </a:pPr>
                      <a:r>
                        <a:rPr lang="en-IN" sz="1800"/>
                        <a:t>A new task-specific cybersecurity dataset was generated to enhance the base model's capabilities, proving crucial for Hackphyr's performance</a:t>
                      </a:r>
                      <a:endParaRPr sz="1800"/>
                    </a:p>
                  </a:txBody>
                  <a:tcPr marT="18975" marB="18975" marR="31600" marL="31600" anchor="ctr">
                    <a:noFill/>
                  </a:tcPr>
                </a:tc>
              </a:tr>
              <a:tr h="915625">
                <a:tc>
                  <a:txBody>
                    <a:bodyPr/>
                    <a:lstStyle/>
                    <a:p>
                      <a:pPr indent="0" lvl="0" marL="0" marR="0" rtl="0" algn="l">
                        <a:lnSpc>
                          <a:spcPct val="100000"/>
                        </a:lnSpc>
                        <a:spcBef>
                          <a:spcPts val="0"/>
                        </a:spcBef>
                        <a:spcAft>
                          <a:spcPts val="0"/>
                        </a:spcAft>
                        <a:buClr>
                          <a:srgbClr val="000000"/>
                        </a:buClr>
                        <a:buSzPts val="1800"/>
                        <a:buFont typeface="Arial"/>
                        <a:buNone/>
                      </a:pPr>
                      <a:r>
                        <a:rPr lang="en-IN" sz="1800"/>
                        <a:t>Revolutionizing Cyber Threat Detection with Large Language Models: A privacy-preserving BERT-based Lightweight Model for IoT/IIoT Devices </a:t>
                      </a:r>
                      <a:r>
                        <a:rPr lang="en-IN" sz="1600" u="none" cap="none" strike="noStrike"/>
                        <a:t>[</a:t>
                      </a:r>
                      <a:r>
                        <a:rPr lang="en-IN" sz="1600"/>
                        <a:t>3</a:t>
                      </a:r>
                      <a:r>
                        <a:rPr lang="en-IN" sz="1600" u="none" cap="none" strike="noStrike"/>
                        <a:t>]</a:t>
                      </a:r>
                      <a:endParaRPr sz="1800" u="none" cap="none" strike="noStrike"/>
                    </a:p>
                  </a:txBody>
                  <a:tcPr marT="18975" marB="18975" marR="31600" marL="31600" anchor="ctr">
                    <a:noFill/>
                  </a:tcPr>
                </a:tc>
                <a:tc>
                  <a:txBody>
                    <a:bodyPr/>
                    <a:lstStyle/>
                    <a:p>
                      <a:pPr indent="0" lvl="0" marL="0" rtl="0" algn="l">
                        <a:spcBef>
                          <a:spcPts val="0"/>
                        </a:spcBef>
                        <a:spcAft>
                          <a:spcPts val="0"/>
                        </a:spcAft>
                        <a:buClr>
                          <a:schemeClr val="dk1"/>
                        </a:buClr>
                        <a:buSzPts val="1100"/>
                        <a:buFont typeface="Arial"/>
                        <a:buNone/>
                      </a:pPr>
                      <a:r>
                        <a:rPr lang="en-IN" sz="1800"/>
                        <a:t> A novel architecture leveraging BERT for cyber threat detection in IoT networks, using Privacy-Preserving Fixed-Length Encoding (PPFLE) and Byte-level Byte-Pair Encoder (BBPE) Tokenizer </a:t>
                      </a:r>
                      <a:endParaRPr sz="1800"/>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Edge-IIoTset cybersecurity dataset</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SecurityBERT achieved 98.2% accuracy in classifying 14 network attack types</a:t>
                      </a:r>
                      <a:endParaRPr sz="1400" u="none" cap="none" strike="noStrike"/>
                    </a:p>
                  </a:txBody>
                  <a:tcPr marT="18975" marB="18975" marR="31600" marL="31600" anchor="ctr">
                    <a:noFill/>
                  </a:tcPr>
                </a:tc>
              </a:tr>
              <a:tr h="915625">
                <a:tc>
                  <a:txBody>
                    <a:bodyPr/>
                    <a:lstStyle/>
                    <a:p>
                      <a:pPr indent="0" lvl="0" marL="0" marR="0" rtl="0" algn="l">
                        <a:lnSpc>
                          <a:spcPct val="100000"/>
                        </a:lnSpc>
                        <a:spcBef>
                          <a:spcPts val="0"/>
                        </a:spcBef>
                        <a:spcAft>
                          <a:spcPts val="0"/>
                        </a:spcAft>
                        <a:buClr>
                          <a:srgbClr val="000000"/>
                        </a:buClr>
                        <a:buSzPts val="1800"/>
                        <a:buFont typeface="Arial"/>
                        <a:buNone/>
                      </a:pPr>
                      <a:r>
                        <a:rPr lang="en-IN" sz="1800"/>
                        <a:t>SecureBERT: A Domain-Specific Language Model for Cybersecurity</a:t>
                      </a:r>
                      <a:r>
                        <a:rPr lang="en-IN" sz="1600" u="none" cap="none" strike="noStrike"/>
                        <a:t>[</a:t>
                      </a:r>
                      <a:r>
                        <a:rPr lang="en-IN" sz="1600"/>
                        <a:t>4</a:t>
                      </a:r>
                      <a:r>
                        <a:rPr lang="en-IN" sz="1600" u="none" cap="none" strike="noStrike"/>
                        <a:t>]</a:t>
                      </a:r>
                      <a:endParaRPr sz="18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SecureBERT develops a customized tokenizer on top of a pre-trained generic English tokenizer</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MalwareTextDB</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SecureBERT captures cybersecurity text connotations effectively for automation tasks</a:t>
                      </a:r>
                      <a:endParaRPr sz="1400" u="none" cap="none" strike="noStrike"/>
                    </a:p>
                  </a:txBody>
                  <a:tcPr marT="18975" marB="18975" marR="31600" marL="31600" anchor="ctr">
                    <a:noFill/>
                  </a:tcPr>
                </a:tc>
              </a:tr>
              <a:tr h="7729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Zero Trust Security Model: Implementation Strategies and Effectiveness Analysis </a:t>
                      </a:r>
                      <a:r>
                        <a:rPr lang="en-IN" sz="1600" u="none" cap="none" strike="noStrike"/>
                        <a:t>[17]</a:t>
                      </a:r>
                      <a:endParaRPr sz="18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Zero Trust Architecture implementation</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Manufacturing network data</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61% of organizations have adopted Zero Trust at some level, with merely 18% having implemented all Zero Trust principles</a:t>
                      </a:r>
                      <a:endParaRPr sz="1400" u="none" cap="none" strike="noStrike"/>
                    </a:p>
                  </a:txBody>
                  <a:tcPr marT="18975" marB="18975" marR="31600" marL="31600" anchor="ctr">
                    <a:noFill/>
                  </a:tcPr>
                </a:tc>
              </a:tr>
              <a:tr h="7729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Enhancing cybersecurity with explainable AI </a:t>
                      </a:r>
                      <a:r>
                        <a:rPr b="0" lang="en-IN" sz="1600" u="none" cap="none" strike="noStrike"/>
                        <a:t>[18]</a:t>
                      </a:r>
                      <a:endParaRPr sz="18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Explainable AI for cybersecurity transparency</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Phishing and malware datasets</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XAI improves trust and reduces false positives in manufacturing security systems</a:t>
                      </a:r>
                      <a:endParaRPr sz="1400" u="none" cap="none" strike="noStrike"/>
                    </a:p>
                  </a:txBody>
                  <a:tcPr marT="18975" marB="18975" marR="31600" marL="31600" anchor="ctr">
                    <a:noFill/>
                  </a:tcPr>
                </a:tc>
              </a:tr>
              <a:tr h="915625">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Manufacturing sector hit hardest by ransomware in 2024 Q4 [20]</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Ransomware analysis in industrial sectors</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Global ransomware incident data</a:t>
                      </a:r>
                      <a:endParaRPr sz="1400" u="none" cap="none" strike="noStrike"/>
                    </a:p>
                  </a:txBody>
                  <a:tcPr marT="18975" marB="18975" marR="31600" marL="316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Manufacturing leads with 424 ransomware incidents in Q4 2024, 70% of total industrial attacks</a:t>
                      </a:r>
                      <a:endParaRPr sz="1400" u="none" cap="none" strike="noStrike"/>
                    </a:p>
                  </a:txBody>
                  <a:tcPr marT="18975" marB="18975" marR="31600" marL="31600" anchor="ctr">
                    <a:noFill/>
                  </a:tcPr>
                </a:tc>
              </a:tr>
            </a:tbl>
          </a:graphicData>
        </a:graphic>
      </p:graphicFrame>
      <p:sp>
        <p:nvSpPr>
          <p:cNvPr id="145" name="Google Shape;145;p4"/>
          <p:cNvSpPr txBox="1"/>
          <p:nvPr/>
        </p:nvSpPr>
        <p:spPr>
          <a:xfrm>
            <a:off x="1808604" y="650457"/>
            <a:ext cx="6825416" cy="1224310"/>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Clr>
                <a:srgbClr val="000000"/>
              </a:buClr>
              <a:buSzPts val="5765"/>
              <a:buFont typeface="Arial"/>
              <a:buNone/>
            </a:pPr>
            <a:r>
              <a:rPr b="1" i="0" lang="en-IN" sz="5765" u="none" cap="none" strike="noStrike">
                <a:solidFill>
                  <a:srgbClr val="231F20"/>
                </a:solidFill>
                <a:latin typeface="Arial Rounded"/>
                <a:ea typeface="Arial Rounded"/>
                <a:cs typeface="Arial Rounded"/>
                <a:sym typeface="Arial Rounded"/>
              </a:rPr>
              <a:t>Literature Review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
          <p:cNvSpPr/>
          <p:nvPr/>
        </p:nvSpPr>
        <p:spPr>
          <a:xfrm rot="10800000">
            <a:off x="-2059222" y="-798391"/>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p:nvPr/>
        </p:nvSpPr>
        <p:spPr>
          <a:xfrm>
            <a:off x="16950144" y="2279527"/>
            <a:ext cx="380329" cy="362730"/>
          </a:xfrm>
          <a:custGeom>
            <a:rect b="b" l="l" r="r" t="t"/>
            <a:pathLst>
              <a:path extrusionOk="0"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7365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5"/>
          <p:cNvSpPr/>
          <p:nvPr/>
        </p:nvSpPr>
        <p:spPr>
          <a:xfrm>
            <a:off x="16280008" y="124434"/>
            <a:ext cx="1720154" cy="2064383"/>
          </a:xfrm>
          <a:custGeom>
            <a:rect b="b" l="l" r="r" t="t"/>
            <a:pathLst>
              <a:path extrusionOk="0"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7365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38CD5"/>
              </a:solidFill>
              <a:latin typeface="Arial"/>
              <a:ea typeface="Arial"/>
              <a:cs typeface="Arial"/>
              <a:sym typeface="Arial"/>
            </a:endParaRPr>
          </a:p>
        </p:txBody>
      </p:sp>
      <p:sp>
        <p:nvSpPr>
          <p:cNvPr id="155" name="Google Shape;155;p5"/>
          <p:cNvSpPr/>
          <p:nvPr/>
        </p:nvSpPr>
        <p:spPr>
          <a:xfrm>
            <a:off x="16681544" y="347278"/>
            <a:ext cx="917029" cy="1101235"/>
          </a:xfrm>
          <a:custGeom>
            <a:rect b="b" l="l" r="r" t="t"/>
            <a:pathLst>
              <a:path extrusionOk="0" h="1101235" w="917029">
                <a:moveTo>
                  <a:pt x="0" y="0"/>
                </a:moveTo>
                <a:lnTo>
                  <a:pt x="917029" y="0"/>
                </a:lnTo>
                <a:lnTo>
                  <a:pt x="917029" y="1101235"/>
                </a:lnTo>
                <a:lnTo>
                  <a:pt x="0" y="110123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5"/>
          <p:cNvSpPr txBox="1"/>
          <p:nvPr/>
        </p:nvSpPr>
        <p:spPr>
          <a:xfrm>
            <a:off x="1047023" y="1448513"/>
            <a:ext cx="8006961" cy="702115"/>
          </a:xfrm>
          <a:prstGeom prst="rect">
            <a:avLst/>
          </a:prstGeom>
          <a:noFill/>
          <a:ln>
            <a:noFill/>
          </a:ln>
        </p:spPr>
        <p:txBody>
          <a:bodyPr anchorCtr="0" anchor="t" bIns="0" lIns="0" spcFirstLastPara="1" rIns="0" wrap="square" tIns="0">
            <a:spAutoFit/>
          </a:bodyPr>
          <a:lstStyle/>
          <a:p>
            <a:pPr indent="0" lvl="0" marL="0" marR="0" rtl="0" algn="l">
              <a:lnSpc>
                <a:spcPct val="122125"/>
              </a:lnSpc>
              <a:spcBef>
                <a:spcPts val="0"/>
              </a:spcBef>
              <a:spcAft>
                <a:spcPts val="0"/>
              </a:spcAft>
              <a:buClr>
                <a:srgbClr val="000000"/>
              </a:buClr>
              <a:buSzPts val="4800"/>
              <a:buFont typeface="Arial"/>
              <a:buNone/>
            </a:pPr>
            <a:r>
              <a:rPr b="1" i="0" lang="en-IN" sz="4800" u="none" cap="none" strike="noStrike">
                <a:solidFill>
                  <a:srgbClr val="040506"/>
                </a:solidFill>
                <a:latin typeface="Arial Rounded"/>
                <a:ea typeface="Arial Rounded"/>
                <a:cs typeface="Arial Rounded"/>
                <a:sym typeface="Arial Rounded"/>
              </a:rPr>
              <a:t>PROBLEM STATEMENT</a:t>
            </a:r>
            <a:endParaRPr b="0" i="0" sz="1400" u="none" cap="none" strike="noStrike">
              <a:solidFill>
                <a:srgbClr val="000000"/>
              </a:solidFill>
              <a:latin typeface="Arial"/>
              <a:ea typeface="Arial"/>
              <a:cs typeface="Arial"/>
              <a:sym typeface="Arial"/>
            </a:endParaRPr>
          </a:p>
        </p:txBody>
      </p:sp>
      <p:sp>
        <p:nvSpPr>
          <p:cNvPr id="157" name="Google Shape;157;p5"/>
          <p:cNvSpPr txBox="1"/>
          <p:nvPr/>
        </p:nvSpPr>
        <p:spPr>
          <a:xfrm>
            <a:off x="452019" y="2420307"/>
            <a:ext cx="15670200" cy="7542300"/>
          </a:xfrm>
          <a:prstGeom prst="rect">
            <a:avLst/>
          </a:prstGeom>
          <a:noFill/>
          <a:ln>
            <a:noFill/>
          </a:ln>
        </p:spPr>
        <p:txBody>
          <a:bodyPr anchorCtr="0" anchor="ctr" bIns="0" lIns="0" spcFirstLastPara="1" rIns="0" wrap="square" tIns="0">
            <a:spAutoFit/>
          </a:bodyPr>
          <a:lstStyle/>
          <a:p>
            <a:pPr indent="-457200" lvl="0" marL="4572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Critical Security Gaps:</a:t>
            </a:r>
            <a:r>
              <a:rPr b="0" i="0" lang="en-IN" sz="2800" u="none" cap="none" strike="noStrike">
                <a:solidFill>
                  <a:srgbClr val="000000"/>
                </a:solidFill>
                <a:latin typeface="Arial"/>
                <a:ea typeface="Arial"/>
                <a:cs typeface="Arial"/>
                <a:sym typeface="Arial"/>
              </a:rPr>
              <a:t> Traditional IT security tools are ineffective in smart manufacturing due to unique operational and real-time requirements. [</a:t>
            </a:r>
            <a:r>
              <a:rPr lang="en-IN" sz="2800"/>
              <a:t>9</a:t>
            </a:r>
            <a:r>
              <a:rPr b="0" i="0" lang="en-IN" sz="2800" u="none" cap="none" strike="noStrike">
                <a:solidFill>
                  <a:srgbClr val="000000"/>
                </a:solidFill>
                <a:latin typeface="Arial"/>
                <a:ea typeface="Arial"/>
                <a:cs typeface="Arial"/>
                <a:sym typeface="Arial"/>
              </a:rPr>
              <a:t>][</a:t>
            </a:r>
            <a:r>
              <a:rPr lang="en-IN" sz="2800"/>
              <a:t>10]</a:t>
            </a:r>
            <a:endParaRPr b="0" i="0" sz="14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AI-Driven Threats:</a:t>
            </a:r>
            <a:r>
              <a:rPr b="0" i="0" lang="en-IN" sz="2800" u="none" cap="none" strike="noStrike">
                <a:solidFill>
                  <a:srgbClr val="000000"/>
                </a:solidFill>
                <a:latin typeface="Arial"/>
                <a:ea typeface="Arial"/>
                <a:cs typeface="Arial"/>
                <a:sym typeface="Arial"/>
              </a:rPr>
              <a:t> Attackers leverage AI to automate attacks. For example,  with gen AI reducing phishing email creation time by 99.5% [</a:t>
            </a:r>
            <a:r>
              <a:rPr lang="en-IN" sz="2800"/>
              <a:t>8</a:t>
            </a:r>
            <a:r>
              <a:rPr b="0" i="0" lang="en-IN" sz="2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Operational Constraints:</a:t>
            </a:r>
            <a:r>
              <a:rPr b="0" i="0" lang="en-IN" sz="2800" u="none" cap="none" strike="noStrike">
                <a:solidFill>
                  <a:srgbClr val="000000"/>
                </a:solidFill>
                <a:latin typeface="Arial"/>
                <a:ea typeface="Arial"/>
                <a:cs typeface="Arial"/>
                <a:sym typeface="Arial"/>
              </a:rPr>
              <a:t> High false positives or slow response can cause costly downtime or safety risks[</a:t>
            </a:r>
            <a:r>
              <a:rPr lang="en-IN" sz="2800"/>
              <a:t>16</a:t>
            </a:r>
            <a:r>
              <a:rPr b="0" i="0" lang="en-IN" sz="2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Limited Attack Data:</a:t>
            </a:r>
            <a:r>
              <a:rPr b="0" i="0" lang="en-IN" sz="2800" u="none" cap="none" strike="noStrike">
                <a:solidFill>
                  <a:srgbClr val="000000"/>
                </a:solidFill>
                <a:latin typeface="Arial"/>
                <a:ea typeface="Arial"/>
                <a:cs typeface="Arial"/>
                <a:sym typeface="Arial"/>
              </a:rPr>
              <a:t> Individual manufacturing facilities lack sufficient attack examples to build robust detection models [</a:t>
            </a:r>
            <a:r>
              <a:rPr lang="en-IN" sz="2800"/>
              <a:t>11</a:t>
            </a:r>
            <a:r>
              <a:rPr b="0" i="0" lang="en-IN" sz="2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Privacy Concerns:</a:t>
            </a:r>
            <a:r>
              <a:rPr b="0" i="0" lang="en-IN" sz="2800" u="none" cap="none" strike="noStrike">
                <a:solidFill>
                  <a:srgbClr val="000000"/>
                </a:solidFill>
                <a:latin typeface="Arial"/>
                <a:ea typeface="Arial"/>
                <a:cs typeface="Arial"/>
                <a:sym typeface="Arial"/>
              </a:rPr>
              <a:t> Organizations are reluctant to share cybersecurity data, hindering collaborative defense efforts [</a:t>
            </a:r>
            <a:r>
              <a:rPr lang="en-IN" sz="2800"/>
              <a:t>11</a:t>
            </a:r>
            <a:r>
              <a:rPr b="0" i="0" lang="en-IN" sz="2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Lack of Robust Frameworks:</a:t>
            </a:r>
            <a:r>
              <a:rPr b="0" i="0" lang="en-IN" sz="2800" u="none" cap="none" strike="noStrike">
                <a:solidFill>
                  <a:srgbClr val="000000"/>
                </a:solidFill>
                <a:latin typeface="Arial"/>
                <a:ea typeface="Arial"/>
                <a:cs typeface="Arial"/>
                <a:sym typeface="Arial"/>
              </a:rPr>
              <a:t> No comprehensive, real-time, AI-based mitigation framework exists that addresses adversarial ML attacks in manufacturing [</a:t>
            </a:r>
            <a:r>
              <a:rPr lang="en-IN" sz="2800"/>
              <a:t>18</a:t>
            </a:r>
            <a:r>
              <a:rPr b="0" i="0" lang="en-IN" sz="2800" u="none" cap="none" strike="noStrike">
                <a:solidFill>
                  <a:srgbClr val="000000"/>
                </a:solidFill>
                <a:latin typeface="Arial"/>
                <a:ea typeface="Arial"/>
                <a:cs typeface="Arial"/>
                <a:sym typeface="Arial"/>
              </a:rPr>
              <a:t>][</a:t>
            </a:r>
            <a:r>
              <a:rPr lang="en-IN" sz="2800"/>
              <a:t>19</a:t>
            </a:r>
            <a:r>
              <a:rPr b="0" i="0" lang="en-IN" sz="2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5"/>
          <p:cNvSpPr/>
          <p:nvPr/>
        </p:nvSpPr>
        <p:spPr>
          <a:xfrm rot="10800000">
            <a:off x="-305814" y="-323115"/>
            <a:ext cx="8744064" cy="2511931"/>
          </a:xfrm>
          <a:custGeom>
            <a:rect b="b" l="l" r="r" t="t"/>
            <a:pathLst>
              <a:path extrusionOk="0" h="2511931" w="8744064">
                <a:moveTo>
                  <a:pt x="0" y="0"/>
                </a:moveTo>
                <a:lnTo>
                  <a:pt x="8744064" y="0"/>
                </a:lnTo>
                <a:lnTo>
                  <a:pt x="8744064" y="2511931"/>
                </a:lnTo>
                <a:lnTo>
                  <a:pt x="0" y="25119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63" name="Shape 163"/>
        <p:cNvGrpSpPr/>
        <p:nvPr/>
      </p:nvGrpSpPr>
      <p:grpSpPr>
        <a:xfrm>
          <a:off x="0" y="0"/>
          <a:ext cx="0" cy="0"/>
          <a:chOff x="0" y="0"/>
          <a:chExt cx="0" cy="0"/>
        </a:xfrm>
      </p:grpSpPr>
      <p:sp>
        <p:nvSpPr>
          <p:cNvPr id="164" name="Google Shape;164;p6"/>
          <p:cNvSpPr/>
          <p:nvPr/>
        </p:nvSpPr>
        <p:spPr>
          <a:xfrm>
            <a:off x="16986894" y="8293655"/>
            <a:ext cx="4687320" cy="4687320"/>
          </a:xfrm>
          <a:custGeom>
            <a:rect b="b" l="l" r="r" t="t"/>
            <a:pathLst>
              <a:path extrusionOk="0" h="4687320" w="4687320">
                <a:moveTo>
                  <a:pt x="0" y="0"/>
                </a:moveTo>
                <a:lnTo>
                  <a:pt x="4687320" y="0"/>
                </a:lnTo>
                <a:lnTo>
                  <a:pt x="4687320" y="4687319"/>
                </a:lnTo>
                <a:lnTo>
                  <a:pt x="0" y="468731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6"/>
          <p:cNvGrpSpPr/>
          <p:nvPr/>
        </p:nvGrpSpPr>
        <p:grpSpPr>
          <a:xfrm>
            <a:off x="17245445" y="8747685"/>
            <a:ext cx="2085109" cy="2085109"/>
            <a:chOff x="17245445" y="8747685"/>
            <a:chExt cx="2085109" cy="2085109"/>
          </a:xfrm>
        </p:grpSpPr>
        <p:sp>
          <p:nvSpPr>
            <p:cNvPr id="166" name="Google Shape;166;p6"/>
            <p:cNvSpPr/>
            <p:nvPr/>
          </p:nvSpPr>
          <p:spPr>
            <a:xfrm>
              <a:off x="17245445" y="8747685"/>
              <a:ext cx="2085109" cy="2085109"/>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365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6"/>
            <p:cNvSpPr txBox="1"/>
            <p:nvPr/>
          </p:nvSpPr>
          <p:spPr>
            <a:xfrm>
              <a:off x="17440924" y="8894294"/>
              <a:ext cx="1694151" cy="1743021"/>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8" name="Google Shape;168;p6"/>
          <p:cNvSpPr/>
          <p:nvPr/>
        </p:nvSpPr>
        <p:spPr>
          <a:xfrm>
            <a:off x="-3464331" y="759998"/>
            <a:ext cx="4687320" cy="4687320"/>
          </a:xfrm>
          <a:custGeom>
            <a:rect b="b" l="l" r="r" t="t"/>
            <a:pathLst>
              <a:path extrusionOk="0" h="4687320" w="4687320">
                <a:moveTo>
                  <a:pt x="0" y="0"/>
                </a:moveTo>
                <a:lnTo>
                  <a:pt x="4687320" y="0"/>
                </a:lnTo>
                <a:lnTo>
                  <a:pt x="4687320" y="4687319"/>
                </a:lnTo>
                <a:lnTo>
                  <a:pt x="0" y="468731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6"/>
          <p:cNvSpPr/>
          <p:nvPr/>
        </p:nvSpPr>
        <p:spPr>
          <a:xfrm>
            <a:off x="-3875505" y="-4214084"/>
            <a:ext cx="8637895" cy="8637895"/>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365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0" name="Google Shape;170;p6"/>
          <p:cNvGrpSpPr/>
          <p:nvPr/>
        </p:nvGrpSpPr>
        <p:grpSpPr>
          <a:xfrm>
            <a:off x="-2223317" y="-3885483"/>
            <a:ext cx="8141101" cy="7220740"/>
            <a:chOff x="-2030283" y="-3986708"/>
            <a:chExt cx="8141101" cy="7220740"/>
          </a:xfrm>
        </p:grpSpPr>
        <p:sp>
          <p:nvSpPr>
            <p:cNvPr id="171" name="Google Shape;171;p6"/>
            <p:cNvSpPr txBox="1"/>
            <p:nvPr/>
          </p:nvSpPr>
          <p:spPr>
            <a:xfrm>
              <a:off x="-2030283" y="-3986708"/>
              <a:ext cx="7018290" cy="722074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6"/>
            <p:cNvSpPr txBox="1"/>
            <p:nvPr/>
          </p:nvSpPr>
          <p:spPr>
            <a:xfrm>
              <a:off x="505379" y="191143"/>
              <a:ext cx="5605439" cy="2024208"/>
            </a:xfrm>
            <a:prstGeom prst="rect">
              <a:avLst/>
            </a:prstGeom>
            <a:noFill/>
            <a:ln>
              <a:noFill/>
            </a:ln>
          </p:spPr>
          <p:txBody>
            <a:bodyPr anchorCtr="0" anchor="t" bIns="0" lIns="0" spcFirstLastPara="1" rIns="0" wrap="square" tIns="0">
              <a:spAutoFit/>
            </a:bodyPr>
            <a:lstStyle/>
            <a:p>
              <a:pPr indent="0" lvl="0" marL="0" marR="0" rtl="0" algn="l">
                <a:lnSpc>
                  <a:spcPct val="138008"/>
                </a:lnSpc>
                <a:spcBef>
                  <a:spcPts val="0"/>
                </a:spcBef>
                <a:spcAft>
                  <a:spcPts val="0"/>
                </a:spcAft>
                <a:buClr>
                  <a:srgbClr val="000000"/>
                </a:buClr>
                <a:buSzPts val="5946"/>
                <a:buFont typeface="Arial"/>
                <a:buNone/>
              </a:pPr>
              <a:r>
                <a:rPr b="1" i="0" lang="en-IN" sz="5946" u="none" cap="none" strike="noStrike">
                  <a:solidFill>
                    <a:srgbClr val="FFFFFF"/>
                  </a:solidFill>
                  <a:latin typeface="Arial Rounded"/>
                  <a:ea typeface="Arial Rounded"/>
                  <a:cs typeface="Arial Rounded"/>
                  <a:sym typeface="Arial Rounded"/>
                </a:rPr>
                <a:t>Research Objectives</a:t>
              </a:r>
              <a:endParaRPr b="0" i="0" sz="1400" u="none" cap="none" strike="noStrike">
                <a:solidFill>
                  <a:srgbClr val="000000"/>
                </a:solidFill>
                <a:latin typeface="Arial"/>
                <a:ea typeface="Arial"/>
                <a:cs typeface="Arial"/>
                <a:sym typeface="Arial"/>
              </a:endParaRPr>
            </a:p>
          </p:txBody>
        </p:sp>
      </p:grpSp>
      <p:sp>
        <p:nvSpPr>
          <p:cNvPr id="173" name="Google Shape;173;p6"/>
          <p:cNvSpPr txBox="1"/>
          <p:nvPr/>
        </p:nvSpPr>
        <p:spPr>
          <a:xfrm>
            <a:off x="3308098" y="3204816"/>
            <a:ext cx="14534400" cy="5910600"/>
          </a:xfrm>
          <a:prstGeom prst="rect">
            <a:avLst/>
          </a:prstGeom>
          <a:noFill/>
          <a:ln>
            <a:noFill/>
          </a:ln>
        </p:spPr>
        <p:txBody>
          <a:bodyPr anchorCtr="0" anchor="t" bIns="45700" lIns="91425" spcFirstLastPara="1" rIns="91425" wrap="square" tIns="45700">
            <a:spAutoFit/>
          </a:bodyPr>
          <a:lstStyle/>
          <a:p>
            <a:pPr indent="-406400" lvl="0" marL="457200" marR="0" rtl="0" algn="l">
              <a:lnSpc>
                <a:spcPct val="100000"/>
              </a:lnSpc>
              <a:spcBef>
                <a:spcPts val="0"/>
              </a:spcBef>
              <a:spcAft>
                <a:spcPts val="0"/>
              </a:spcAft>
              <a:buClr>
                <a:srgbClr val="000000"/>
              </a:buClr>
              <a:buSzPts val="2800"/>
              <a:buFont typeface="Arial"/>
              <a:buChar char="●"/>
            </a:pPr>
            <a:r>
              <a:rPr lang="en-IN" sz="2800"/>
              <a:t>Identify </a:t>
            </a:r>
            <a:r>
              <a:rPr b="0" i="0" lang="en-IN" sz="2800" u="none" cap="none" strike="noStrike">
                <a:solidFill>
                  <a:srgbClr val="000000"/>
                </a:solidFill>
                <a:latin typeface="Arial"/>
                <a:ea typeface="Arial"/>
                <a:cs typeface="Arial"/>
                <a:sym typeface="Arial"/>
              </a:rPr>
              <a:t>threats in smart manufacturing environments</a:t>
            </a:r>
            <a:r>
              <a:rPr lang="en-IN" sz="2800"/>
              <a:t>.</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406400" lvl="0" marL="457200" marR="0" rtl="0" algn="l">
              <a:lnSpc>
                <a:spcPct val="100000"/>
              </a:lnSpc>
              <a:spcBef>
                <a:spcPts val="0"/>
              </a:spcBef>
              <a:spcAft>
                <a:spcPts val="0"/>
              </a:spcAft>
              <a:buClr>
                <a:srgbClr val="000000"/>
              </a:buClr>
              <a:buSzPts val="2800"/>
              <a:buFont typeface="Arial"/>
              <a:buChar char="●"/>
            </a:pPr>
            <a:r>
              <a:rPr b="0" i="0" lang="en-IN" sz="2800" u="none" cap="none" strike="noStrike">
                <a:solidFill>
                  <a:srgbClr val="000000"/>
                </a:solidFill>
                <a:latin typeface="Arial"/>
                <a:ea typeface="Arial"/>
                <a:cs typeface="Arial"/>
                <a:sym typeface="Arial"/>
              </a:rPr>
              <a:t>Develop</a:t>
            </a:r>
            <a:r>
              <a:rPr lang="en-IN" sz="2800"/>
              <a:t> </a:t>
            </a:r>
            <a:r>
              <a:rPr b="0" i="0" lang="en-IN" sz="2800" u="none" cap="none" strike="noStrike">
                <a:solidFill>
                  <a:srgbClr val="000000"/>
                </a:solidFill>
                <a:latin typeface="Arial"/>
                <a:ea typeface="Arial"/>
                <a:cs typeface="Arial"/>
                <a:sym typeface="Arial"/>
              </a:rPr>
              <a:t>real-time mitigation framework </a:t>
            </a:r>
            <a:r>
              <a:rPr lang="en-IN" sz="2800"/>
              <a:t>using SLM</a:t>
            </a:r>
            <a:r>
              <a:rPr b="0" i="0" lang="en-IN" sz="2800" u="none" cap="none" strike="noStrike">
                <a:solidFill>
                  <a:srgbClr val="000000"/>
                </a:solidFill>
                <a:latin typeface="Arial"/>
                <a:ea typeface="Arial"/>
                <a:cs typeface="Arial"/>
                <a:sym typeface="Arial"/>
              </a:rPr>
              <a:t> techniques for </a:t>
            </a:r>
            <a:r>
              <a:rPr lang="en-IN" sz="2800"/>
              <a:t>selected attack(s).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406400" lvl="0" marL="457200" marR="0" rtl="0" algn="l">
              <a:lnSpc>
                <a:spcPct val="100000"/>
              </a:lnSpc>
              <a:spcBef>
                <a:spcPts val="0"/>
              </a:spcBef>
              <a:spcAft>
                <a:spcPts val="0"/>
              </a:spcAft>
              <a:buClr>
                <a:srgbClr val="000000"/>
              </a:buClr>
              <a:buSzPts val="2800"/>
              <a:buFont typeface="Arial"/>
              <a:buChar char="●"/>
            </a:pPr>
            <a:r>
              <a:rPr b="0" i="0" lang="en-IN" sz="2800" u="none" cap="none" strike="noStrike">
                <a:solidFill>
                  <a:srgbClr val="000000"/>
                </a:solidFill>
                <a:latin typeface="Arial"/>
                <a:ea typeface="Arial"/>
                <a:cs typeface="Arial"/>
                <a:sym typeface="Arial"/>
              </a:rPr>
              <a:t>Enhance robustness of </a:t>
            </a:r>
            <a:r>
              <a:rPr lang="en-IN" sz="2800"/>
              <a:t>SLM</a:t>
            </a:r>
            <a:r>
              <a:rPr b="0" i="0" lang="en-IN" sz="2800" u="none" cap="none" strike="noStrike">
                <a:solidFill>
                  <a:srgbClr val="000000"/>
                </a:solidFill>
                <a:latin typeface="Arial"/>
                <a:ea typeface="Arial"/>
                <a:cs typeface="Arial"/>
                <a:sym typeface="Arial"/>
              </a:rPr>
              <a:t> against </a:t>
            </a:r>
            <a:r>
              <a:rPr lang="en-IN" sz="2800"/>
              <a:t>identified</a:t>
            </a:r>
            <a:r>
              <a:rPr b="0" i="0" lang="en-IN" sz="2800" u="none" cap="none" strike="noStrike">
                <a:solidFill>
                  <a:srgbClr val="000000"/>
                </a:solidFill>
                <a:latin typeface="Arial"/>
                <a:ea typeface="Arial"/>
                <a:cs typeface="Arial"/>
                <a:sym typeface="Arial"/>
              </a:rPr>
              <a:t> attack(s) in industrial control system environments</a:t>
            </a:r>
            <a:r>
              <a:rPr lang="en-IN" sz="2800"/>
              <a:t>.</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406400" lvl="0" marL="457200" marR="0" rtl="0" algn="l">
              <a:lnSpc>
                <a:spcPct val="100000"/>
              </a:lnSpc>
              <a:spcBef>
                <a:spcPts val="0"/>
              </a:spcBef>
              <a:spcAft>
                <a:spcPts val="0"/>
              </a:spcAft>
              <a:buClr>
                <a:srgbClr val="000000"/>
              </a:buClr>
              <a:buSzPts val="2800"/>
              <a:buFont typeface="Arial"/>
              <a:buChar char="●"/>
            </a:pPr>
            <a:r>
              <a:rPr lang="en-IN" sz="2800"/>
              <a:t>Identify impact of</a:t>
            </a:r>
            <a:r>
              <a:rPr b="0" i="0" lang="en-IN" sz="2800" u="none" cap="none" strike="noStrike">
                <a:solidFill>
                  <a:srgbClr val="000000"/>
                </a:solidFill>
                <a:latin typeface="Arial"/>
                <a:ea typeface="Arial"/>
                <a:cs typeface="Arial"/>
                <a:sym typeface="Arial"/>
              </a:rPr>
              <a:t> emerging technologies including digital twins, zero trust architecture, and post-quantum cryptography</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406400" lvl="0" marL="457200" marR="0" rtl="0" algn="l">
              <a:lnSpc>
                <a:spcPct val="100000"/>
              </a:lnSpc>
              <a:spcBef>
                <a:spcPts val="0"/>
              </a:spcBef>
              <a:spcAft>
                <a:spcPts val="0"/>
              </a:spcAft>
              <a:buClr>
                <a:srgbClr val="000000"/>
              </a:buClr>
              <a:buSzPts val="2800"/>
              <a:buFont typeface="Arial"/>
              <a:buChar char="●"/>
            </a:pPr>
            <a:r>
              <a:rPr b="0" i="0" lang="en-IN" sz="2800" u="none" cap="none" strike="noStrike">
                <a:solidFill>
                  <a:srgbClr val="000000"/>
                </a:solidFill>
                <a:latin typeface="Arial"/>
                <a:ea typeface="Arial"/>
                <a:cs typeface="Arial"/>
                <a:sym typeface="Arial"/>
              </a:rPr>
              <a:t>Evaluate the proposed framework using explainable AI principles for transparency and trust</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78" name="Shape 178"/>
        <p:cNvGrpSpPr/>
        <p:nvPr/>
      </p:nvGrpSpPr>
      <p:grpSpPr>
        <a:xfrm>
          <a:off x="0" y="0"/>
          <a:ext cx="0" cy="0"/>
          <a:chOff x="0" y="0"/>
          <a:chExt cx="0" cy="0"/>
        </a:xfrm>
      </p:grpSpPr>
      <p:sp>
        <p:nvSpPr>
          <p:cNvPr id="179" name="Google Shape;179;g3b824e2dc5f_0_8"/>
          <p:cNvSpPr txBox="1"/>
          <p:nvPr/>
        </p:nvSpPr>
        <p:spPr>
          <a:xfrm>
            <a:off x="1998294" y="581800"/>
            <a:ext cx="12241800" cy="3336600"/>
          </a:xfrm>
          <a:prstGeom prst="rect">
            <a:avLst/>
          </a:prstGeom>
          <a:noFill/>
          <a:ln>
            <a:noFill/>
          </a:ln>
        </p:spPr>
        <p:txBody>
          <a:bodyPr anchorCtr="0" anchor="t" bIns="0" lIns="0" spcFirstLastPara="1" rIns="0" wrap="square" tIns="0">
            <a:spAutoFit/>
          </a:bodyPr>
          <a:lstStyle/>
          <a:p>
            <a:pPr indent="0" lvl="0" marL="0" rtl="0" algn="l">
              <a:lnSpc>
                <a:spcPct val="138005"/>
              </a:lnSpc>
              <a:spcBef>
                <a:spcPts val="0"/>
              </a:spcBef>
              <a:spcAft>
                <a:spcPts val="0"/>
              </a:spcAft>
              <a:buClr>
                <a:schemeClr val="dk1"/>
              </a:buClr>
              <a:buSzPts val="1100"/>
              <a:buFont typeface="Arial"/>
              <a:buNone/>
            </a:pPr>
            <a:r>
              <a:rPr b="1" lang="en-IN" sz="5765">
                <a:solidFill>
                  <a:srgbClr val="231F20"/>
                </a:solidFill>
                <a:latin typeface="Arial Rounded"/>
                <a:ea typeface="Arial Rounded"/>
                <a:cs typeface="Arial Rounded"/>
                <a:sym typeface="Arial Rounded"/>
              </a:rPr>
              <a:t>RDC 1 Feedback &amp; Research Pivot</a:t>
            </a:r>
            <a:endParaRPr b="1" sz="5765">
              <a:solidFill>
                <a:srgbClr val="231F20"/>
              </a:solidFill>
              <a:latin typeface="Arial Rounded"/>
              <a:ea typeface="Arial Rounded"/>
              <a:cs typeface="Arial Rounded"/>
              <a:sym typeface="Arial Rounded"/>
            </a:endParaRPr>
          </a:p>
          <a:p>
            <a:pPr indent="0" lvl="0" marL="0" rtl="0" algn="l">
              <a:lnSpc>
                <a:spcPct val="138005"/>
              </a:lnSpc>
              <a:spcBef>
                <a:spcPts val="0"/>
              </a:spcBef>
              <a:spcAft>
                <a:spcPts val="0"/>
              </a:spcAft>
              <a:buClr>
                <a:schemeClr val="dk1"/>
              </a:buClr>
              <a:buSzPts val="1100"/>
              <a:buFont typeface="Arial"/>
              <a:buNone/>
            </a:pPr>
            <a:r>
              <a:t/>
            </a:r>
            <a:endParaRPr b="1" sz="5765">
              <a:solidFill>
                <a:srgbClr val="231F20"/>
              </a:solidFill>
              <a:latin typeface="Arial Rounded"/>
              <a:ea typeface="Arial Rounded"/>
              <a:cs typeface="Arial Rounded"/>
              <a:sym typeface="Arial Rounded"/>
            </a:endParaRPr>
          </a:p>
          <a:p>
            <a:pPr indent="0" lvl="0" marL="0" marR="0" rtl="0" algn="l">
              <a:lnSpc>
                <a:spcPct val="138005"/>
              </a:lnSpc>
              <a:spcBef>
                <a:spcPts val="0"/>
              </a:spcBef>
              <a:spcAft>
                <a:spcPts val="0"/>
              </a:spcAft>
              <a:buClr>
                <a:srgbClr val="000000"/>
              </a:buClr>
              <a:buSzPts val="5765"/>
              <a:buFont typeface="Arial"/>
              <a:buNone/>
            </a:pPr>
            <a:r>
              <a:t/>
            </a:r>
            <a:endParaRPr b="1" sz="5765">
              <a:solidFill>
                <a:srgbClr val="231F20"/>
              </a:solidFill>
              <a:latin typeface="Arial Rounded"/>
              <a:ea typeface="Arial Rounded"/>
              <a:cs typeface="Arial Rounded"/>
              <a:sym typeface="Arial Rounded"/>
            </a:endParaRPr>
          </a:p>
        </p:txBody>
      </p:sp>
      <p:sp>
        <p:nvSpPr>
          <p:cNvPr id="180" name="Google Shape;180;g3b824e2dc5f_0_8"/>
          <p:cNvSpPr txBox="1"/>
          <p:nvPr/>
        </p:nvSpPr>
        <p:spPr>
          <a:xfrm>
            <a:off x="837997" y="3047178"/>
            <a:ext cx="15394200" cy="5066400"/>
          </a:xfrm>
          <a:prstGeom prst="rect">
            <a:avLst/>
          </a:prstGeom>
          <a:noFill/>
          <a:ln>
            <a:noFill/>
          </a:ln>
        </p:spPr>
        <p:txBody>
          <a:bodyPr anchorCtr="0" anchor="t" bIns="0" lIns="0" spcFirstLastPara="1" rIns="0" wrap="square" tIns="0">
            <a:spAutoFit/>
          </a:bodyPr>
          <a:lstStyle/>
          <a:p>
            <a:pPr indent="-412750" lvl="0" marL="457200" rtl="0" algn="l">
              <a:lnSpc>
                <a:spcPct val="115000"/>
              </a:lnSpc>
              <a:spcBef>
                <a:spcPts val="1200"/>
              </a:spcBef>
              <a:spcAft>
                <a:spcPts val="0"/>
              </a:spcAft>
              <a:buClr>
                <a:schemeClr val="dk1"/>
              </a:buClr>
              <a:buSzPts val="2900"/>
              <a:buChar char="•"/>
            </a:pPr>
            <a:r>
              <a:rPr b="1" lang="en-IN" sz="2900">
                <a:solidFill>
                  <a:schemeClr val="dk1"/>
                </a:solidFill>
              </a:rPr>
              <a:t>Committee Feedback (June 2025):</a:t>
            </a:r>
            <a:r>
              <a:rPr lang="en-IN" sz="2900">
                <a:solidFill>
                  <a:schemeClr val="dk1"/>
                </a:solidFill>
              </a:rPr>
              <a:t> Narrow the scope to a single attack vector for higher research depth.</a:t>
            </a:r>
            <a:endParaRPr sz="2900">
              <a:solidFill>
                <a:schemeClr val="dk1"/>
              </a:solidFill>
            </a:endParaRPr>
          </a:p>
          <a:p>
            <a:pPr indent="-412750" lvl="1" marL="914400" rtl="0" algn="l">
              <a:lnSpc>
                <a:spcPct val="115000"/>
              </a:lnSpc>
              <a:spcBef>
                <a:spcPts val="0"/>
              </a:spcBef>
              <a:spcAft>
                <a:spcPts val="0"/>
              </a:spcAft>
              <a:buClr>
                <a:schemeClr val="dk1"/>
              </a:buClr>
              <a:buSzPts val="2900"/>
              <a:buChar char="○"/>
            </a:pPr>
            <a:r>
              <a:rPr lang="en-IN" sz="2900">
                <a:solidFill>
                  <a:schemeClr val="dk1"/>
                </a:solidFill>
              </a:rPr>
              <a:t>Identify specialized datasets for the chosen manufacturing sector.</a:t>
            </a:r>
            <a:endParaRPr sz="2900">
              <a:solidFill>
                <a:schemeClr val="dk1"/>
              </a:solidFill>
            </a:endParaRPr>
          </a:p>
          <a:p>
            <a:pPr indent="-412750" lvl="0" marL="457200" rtl="0" algn="l">
              <a:lnSpc>
                <a:spcPct val="115000"/>
              </a:lnSpc>
              <a:spcBef>
                <a:spcPts val="0"/>
              </a:spcBef>
              <a:spcAft>
                <a:spcPts val="0"/>
              </a:spcAft>
              <a:buClr>
                <a:schemeClr val="dk1"/>
              </a:buClr>
              <a:buSzPts val="2900"/>
              <a:buChar char="•"/>
            </a:pPr>
            <a:r>
              <a:rPr b="1" lang="en-IN" sz="2900">
                <a:solidFill>
                  <a:schemeClr val="dk1"/>
                </a:solidFill>
              </a:rPr>
              <a:t>Action Taken (H2 2025):</a:t>
            </a:r>
            <a:r>
              <a:rPr lang="en-IN" sz="2900">
                <a:solidFill>
                  <a:schemeClr val="dk1"/>
                </a:solidFill>
              </a:rPr>
              <a:t> </a:t>
            </a:r>
            <a:r>
              <a:rPr b="1" lang="en-IN" sz="2900">
                <a:solidFill>
                  <a:schemeClr val="dk1"/>
                </a:solidFill>
              </a:rPr>
              <a:t>Primary Focus:</a:t>
            </a:r>
            <a:r>
              <a:rPr lang="en-IN" sz="2900">
                <a:solidFill>
                  <a:schemeClr val="dk1"/>
                </a:solidFill>
              </a:rPr>
              <a:t> Lateral Movement (LM) Detection. LM is the critical phase where attackers maneuver through the internal network (East-West traffic) after the initial breach.</a:t>
            </a:r>
            <a:endParaRPr sz="2900">
              <a:solidFill>
                <a:schemeClr val="dk1"/>
              </a:solidFill>
            </a:endParaRPr>
          </a:p>
          <a:p>
            <a:pPr indent="-412750" lvl="1" marL="914400" rtl="0" algn="l">
              <a:lnSpc>
                <a:spcPct val="115000"/>
              </a:lnSpc>
              <a:spcBef>
                <a:spcPts val="0"/>
              </a:spcBef>
              <a:spcAft>
                <a:spcPts val="0"/>
              </a:spcAft>
              <a:buClr>
                <a:schemeClr val="dk1"/>
              </a:buClr>
              <a:buSzPts val="2900"/>
              <a:buChar char="○"/>
            </a:pPr>
            <a:r>
              <a:rPr b="1" lang="en-IN" sz="2900">
                <a:solidFill>
                  <a:schemeClr val="dk1"/>
                </a:solidFill>
              </a:rPr>
              <a:t>Secondary/Backup Focus:</a:t>
            </a:r>
            <a:r>
              <a:rPr lang="en-IN" sz="2900">
                <a:solidFill>
                  <a:schemeClr val="dk1"/>
                </a:solidFill>
              </a:rPr>
              <a:t> Ransomware Detection </a:t>
            </a:r>
            <a:endParaRPr sz="2900">
              <a:solidFill>
                <a:schemeClr val="dk1"/>
              </a:solidFill>
            </a:endParaRPr>
          </a:p>
          <a:p>
            <a:pPr indent="-412750" lvl="1" marL="914400" rtl="0" algn="l">
              <a:lnSpc>
                <a:spcPct val="115000"/>
              </a:lnSpc>
              <a:spcBef>
                <a:spcPts val="0"/>
              </a:spcBef>
              <a:spcAft>
                <a:spcPts val="0"/>
              </a:spcAft>
              <a:buClr>
                <a:schemeClr val="dk1"/>
              </a:buClr>
              <a:buSzPts val="2900"/>
              <a:buChar char="○"/>
            </a:pPr>
            <a:r>
              <a:rPr b="1" lang="en-IN" sz="2900">
                <a:solidFill>
                  <a:schemeClr val="dk1"/>
                </a:solidFill>
              </a:rPr>
              <a:t>Strategic Industry Choice:</a:t>
            </a:r>
            <a:r>
              <a:rPr lang="en-IN" sz="2900">
                <a:solidFill>
                  <a:schemeClr val="dk1"/>
                </a:solidFill>
              </a:rPr>
              <a:t> </a:t>
            </a:r>
            <a:r>
              <a:rPr b="1" lang="en-IN" sz="2900">
                <a:solidFill>
                  <a:schemeClr val="dk1"/>
                </a:solidFill>
              </a:rPr>
              <a:t>Automotive Smart Manufacturing</a:t>
            </a:r>
            <a:r>
              <a:rPr lang="en-IN" sz="2900">
                <a:solidFill>
                  <a:schemeClr val="dk1"/>
                </a:solidFill>
              </a:rPr>
              <a:t>. This sector features high-value Intellectual Property (IP) and complex assembly-line IoT devices making LM detection vital.</a:t>
            </a:r>
            <a:endParaRPr b="1" sz="3600"/>
          </a:p>
        </p:txBody>
      </p:sp>
      <p:sp>
        <p:nvSpPr>
          <p:cNvPr id="181" name="Google Shape;181;g3b824e2dc5f_0_8"/>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b824e2dc5f_0_8"/>
          <p:cNvSpPr/>
          <p:nvPr/>
        </p:nvSpPr>
        <p:spPr>
          <a:xfrm rot="10800000">
            <a:off x="-2059222" y="-789427"/>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87" name="Shape 187"/>
        <p:cNvGrpSpPr/>
        <p:nvPr/>
      </p:nvGrpSpPr>
      <p:grpSpPr>
        <a:xfrm>
          <a:off x="0" y="0"/>
          <a:ext cx="0" cy="0"/>
          <a:chOff x="0" y="0"/>
          <a:chExt cx="0" cy="0"/>
        </a:xfrm>
      </p:grpSpPr>
      <p:sp>
        <p:nvSpPr>
          <p:cNvPr id="188" name="Google Shape;188;g3b824e2dc5f_0_25"/>
          <p:cNvSpPr txBox="1"/>
          <p:nvPr/>
        </p:nvSpPr>
        <p:spPr>
          <a:xfrm>
            <a:off x="1998300" y="581800"/>
            <a:ext cx="15940200" cy="3336600"/>
          </a:xfrm>
          <a:prstGeom prst="rect">
            <a:avLst/>
          </a:prstGeom>
          <a:noFill/>
          <a:ln>
            <a:noFill/>
          </a:ln>
        </p:spPr>
        <p:txBody>
          <a:bodyPr anchorCtr="0" anchor="t" bIns="0" lIns="0" spcFirstLastPara="1" rIns="0" wrap="square" tIns="0">
            <a:spAutoFit/>
          </a:bodyPr>
          <a:lstStyle/>
          <a:p>
            <a:pPr indent="0" lvl="0" marL="0" rtl="0" algn="l">
              <a:lnSpc>
                <a:spcPct val="138005"/>
              </a:lnSpc>
              <a:spcBef>
                <a:spcPts val="0"/>
              </a:spcBef>
              <a:spcAft>
                <a:spcPts val="0"/>
              </a:spcAft>
              <a:buClr>
                <a:schemeClr val="dk1"/>
              </a:buClr>
              <a:buSzPts val="1100"/>
              <a:buFont typeface="Arial"/>
              <a:buNone/>
            </a:pPr>
            <a:r>
              <a:rPr b="1" lang="en-IN" sz="5765">
                <a:solidFill>
                  <a:srgbClr val="231F20"/>
                </a:solidFill>
                <a:latin typeface="Arial Rounded"/>
                <a:ea typeface="Arial Rounded"/>
                <a:cs typeface="Arial Rounded"/>
                <a:sym typeface="Arial Rounded"/>
              </a:rPr>
              <a:t>Current Research State</a:t>
            </a:r>
            <a:endParaRPr b="1" sz="5765">
              <a:solidFill>
                <a:srgbClr val="231F20"/>
              </a:solidFill>
              <a:latin typeface="Arial Rounded"/>
              <a:ea typeface="Arial Rounded"/>
              <a:cs typeface="Arial Rounded"/>
              <a:sym typeface="Arial Rounded"/>
            </a:endParaRPr>
          </a:p>
          <a:p>
            <a:pPr indent="0" lvl="0" marL="0" rtl="0" algn="l">
              <a:lnSpc>
                <a:spcPct val="138005"/>
              </a:lnSpc>
              <a:spcBef>
                <a:spcPts val="0"/>
              </a:spcBef>
              <a:spcAft>
                <a:spcPts val="0"/>
              </a:spcAft>
              <a:buClr>
                <a:schemeClr val="dk1"/>
              </a:buClr>
              <a:buSzPts val="1100"/>
              <a:buFont typeface="Arial"/>
              <a:buNone/>
            </a:pPr>
            <a:r>
              <a:t/>
            </a:r>
            <a:endParaRPr b="1" sz="5765">
              <a:solidFill>
                <a:srgbClr val="231F20"/>
              </a:solidFill>
              <a:latin typeface="Arial Rounded"/>
              <a:ea typeface="Arial Rounded"/>
              <a:cs typeface="Arial Rounded"/>
              <a:sym typeface="Arial Rounded"/>
            </a:endParaRPr>
          </a:p>
          <a:p>
            <a:pPr indent="0" lvl="0" marL="0" marR="0" rtl="0" algn="l">
              <a:lnSpc>
                <a:spcPct val="138005"/>
              </a:lnSpc>
              <a:spcBef>
                <a:spcPts val="0"/>
              </a:spcBef>
              <a:spcAft>
                <a:spcPts val="0"/>
              </a:spcAft>
              <a:buClr>
                <a:srgbClr val="000000"/>
              </a:buClr>
              <a:buSzPts val="5765"/>
              <a:buFont typeface="Arial"/>
              <a:buNone/>
            </a:pPr>
            <a:r>
              <a:t/>
            </a:r>
            <a:endParaRPr b="1" sz="5765">
              <a:solidFill>
                <a:srgbClr val="231F20"/>
              </a:solidFill>
              <a:latin typeface="Arial Rounded"/>
              <a:ea typeface="Arial Rounded"/>
              <a:cs typeface="Arial Rounded"/>
              <a:sym typeface="Arial Rounded"/>
            </a:endParaRPr>
          </a:p>
        </p:txBody>
      </p:sp>
      <p:sp>
        <p:nvSpPr>
          <p:cNvPr id="189" name="Google Shape;189;g3b824e2dc5f_0_25"/>
          <p:cNvSpPr txBox="1"/>
          <p:nvPr/>
        </p:nvSpPr>
        <p:spPr>
          <a:xfrm>
            <a:off x="927922" y="2957378"/>
            <a:ext cx="15394200" cy="6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IN" sz="2900">
                <a:solidFill>
                  <a:schemeClr val="dk1"/>
                </a:solidFill>
              </a:rPr>
              <a:t>Following an exhaustive 6-month review, the research has transitioned from general threat modeling to data-driven SLM training.</a:t>
            </a:r>
            <a:endParaRPr sz="2900">
              <a:solidFill>
                <a:schemeClr val="dk1"/>
              </a:solidFill>
            </a:endParaRPr>
          </a:p>
          <a:p>
            <a:pPr indent="-412750" lvl="0" marL="457200" rtl="0" algn="l">
              <a:lnSpc>
                <a:spcPct val="115000"/>
              </a:lnSpc>
              <a:spcBef>
                <a:spcPts val="1200"/>
              </a:spcBef>
              <a:spcAft>
                <a:spcPts val="0"/>
              </a:spcAft>
              <a:buClr>
                <a:schemeClr val="dk1"/>
              </a:buClr>
              <a:buSzPts val="2900"/>
              <a:buChar char="●"/>
            </a:pPr>
            <a:r>
              <a:rPr b="1" lang="en-IN" sz="2900">
                <a:solidFill>
                  <a:schemeClr val="dk1"/>
                </a:solidFill>
              </a:rPr>
              <a:t>Selected Datasets:</a:t>
            </a:r>
            <a:endParaRPr b="1" sz="2900">
              <a:solidFill>
                <a:schemeClr val="dk1"/>
              </a:solidFill>
            </a:endParaRPr>
          </a:p>
          <a:p>
            <a:pPr indent="-412750" lvl="1" marL="914400" rtl="0" algn="l">
              <a:lnSpc>
                <a:spcPct val="115000"/>
              </a:lnSpc>
              <a:spcBef>
                <a:spcPts val="0"/>
              </a:spcBef>
              <a:spcAft>
                <a:spcPts val="0"/>
              </a:spcAft>
              <a:buClr>
                <a:schemeClr val="dk1"/>
              </a:buClr>
              <a:buSzPts val="2900"/>
              <a:buAutoNum type="arabicPeriod"/>
            </a:pPr>
            <a:r>
              <a:rPr b="1" lang="en-IN" sz="2900">
                <a:solidFill>
                  <a:schemeClr val="dk1"/>
                </a:solidFill>
              </a:rPr>
              <a:t>LMD-2023 (1.8M Sysmon logs):</a:t>
            </a:r>
            <a:r>
              <a:rPr lang="en-IN" sz="2900">
                <a:solidFill>
                  <a:schemeClr val="dk1"/>
                </a:solidFill>
              </a:rPr>
              <a:t> High-fidelity dataset focusing on Process Tree Labeling, allowing the Small Language Model (SLM) to learn the "origin" of malicious commands within host logs.</a:t>
            </a:r>
            <a:endParaRPr sz="2900">
              <a:solidFill>
                <a:schemeClr val="dk1"/>
              </a:solidFill>
            </a:endParaRPr>
          </a:p>
          <a:p>
            <a:pPr indent="-412750" lvl="1" marL="914400" rtl="0" algn="l">
              <a:lnSpc>
                <a:spcPct val="115000"/>
              </a:lnSpc>
              <a:spcBef>
                <a:spcPts val="0"/>
              </a:spcBef>
              <a:spcAft>
                <a:spcPts val="0"/>
              </a:spcAft>
              <a:buClr>
                <a:schemeClr val="dk1"/>
              </a:buClr>
              <a:buSzPts val="2900"/>
              <a:buAutoNum type="arabicPeriod"/>
            </a:pPr>
            <a:r>
              <a:rPr b="1" lang="en-IN" sz="2900">
                <a:solidFill>
                  <a:schemeClr val="dk1"/>
                </a:solidFill>
              </a:rPr>
              <a:t>LANL (Los Alamos National Laboratory):</a:t>
            </a:r>
            <a:r>
              <a:rPr lang="en-IN" sz="2900">
                <a:solidFill>
                  <a:schemeClr val="dk1"/>
                </a:solidFill>
              </a:rPr>
              <a:t> Comprehensive authentication logs that capture realistic administrative tool abuse e.g. LOLBins like PowerShell/Windows Management Instrumentation (WMI), which are primary Lateral Movement (LM) techniques.</a:t>
            </a:r>
            <a:endParaRPr sz="2900">
              <a:solidFill>
                <a:schemeClr val="dk1"/>
              </a:solidFill>
            </a:endParaRPr>
          </a:p>
          <a:p>
            <a:pPr indent="-412750" lvl="0" marL="457200" rtl="0" algn="l">
              <a:lnSpc>
                <a:spcPct val="115000"/>
              </a:lnSpc>
              <a:spcBef>
                <a:spcPts val="0"/>
              </a:spcBef>
              <a:spcAft>
                <a:spcPts val="0"/>
              </a:spcAft>
              <a:buClr>
                <a:schemeClr val="dk1"/>
              </a:buClr>
              <a:buSzPts val="2900"/>
              <a:buChar char="●"/>
            </a:pPr>
            <a:r>
              <a:rPr b="1" lang="en-IN" sz="2900">
                <a:solidFill>
                  <a:schemeClr val="dk1"/>
                </a:solidFill>
              </a:rPr>
              <a:t>Preliminary Work:</a:t>
            </a:r>
            <a:r>
              <a:rPr lang="en-IN" sz="2900">
                <a:solidFill>
                  <a:schemeClr val="dk1"/>
                </a:solidFill>
              </a:rPr>
              <a:t> Initial approach of tokenization strategies for mapping Windows Event Logs and Sysmon data into a format suitable for Small Language Models (SLMs).</a:t>
            </a:r>
            <a:endParaRPr sz="2900">
              <a:solidFill>
                <a:schemeClr val="dk1"/>
              </a:solidFill>
            </a:endParaRPr>
          </a:p>
          <a:p>
            <a:pPr indent="0" lvl="0" marL="0" rtl="0" algn="l">
              <a:lnSpc>
                <a:spcPct val="115000"/>
              </a:lnSpc>
              <a:spcBef>
                <a:spcPts val="1200"/>
              </a:spcBef>
              <a:spcAft>
                <a:spcPts val="1200"/>
              </a:spcAft>
              <a:buNone/>
            </a:pPr>
            <a:r>
              <a:t/>
            </a:r>
            <a:endParaRPr b="1" sz="2900">
              <a:solidFill>
                <a:schemeClr val="dk1"/>
              </a:solidFill>
            </a:endParaRPr>
          </a:p>
        </p:txBody>
      </p:sp>
      <p:sp>
        <p:nvSpPr>
          <p:cNvPr id="190" name="Google Shape;190;g3b824e2dc5f_0_25"/>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3b824e2dc5f_0_25"/>
          <p:cNvSpPr/>
          <p:nvPr/>
        </p:nvSpPr>
        <p:spPr>
          <a:xfrm rot="10800000">
            <a:off x="-2059222" y="-789427"/>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196" name="Shape 196"/>
        <p:cNvGrpSpPr/>
        <p:nvPr/>
      </p:nvGrpSpPr>
      <p:grpSpPr>
        <a:xfrm>
          <a:off x="0" y="0"/>
          <a:ext cx="0" cy="0"/>
          <a:chOff x="0" y="0"/>
          <a:chExt cx="0" cy="0"/>
        </a:xfrm>
      </p:grpSpPr>
      <p:sp>
        <p:nvSpPr>
          <p:cNvPr id="197" name="Google Shape;197;g3b824e2dc5f_0_38"/>
          <p:cNvSpPr txBox="1"/>
          <p:nvPr/>
        </p:nvSpPr>
        <p:spPr>
          <a:xfrm>
            <a:off x="1998300" y="581800"/>
            <a:ext cx="15940200" cy="3336600"/>
          </a:xfrm>
          <a:prstGeom prst="rect">
            <a:avLst/>
          </a:prstGeom>
          <a:noFill/>
          <a:ln>
            <a:noFill/>
          </a:ln>
        </p:spPr>
        <p:txBody>
          <a:bodyPr anchorCtr="0" anchor="t" bIns="0" lIns="0" spcFirstLastPara="1" rIns="0" wrap="square" tIns="0">
            <a:spAutoFit/>
          </a:bodyPr>
          <a:lstStyle/>
          <a:p>
            <a:pPr indent="0" lvl="0" marL="0" rtl="0" algn="l">
              <a:lnSpc>
                <a:spcPct val="138005"/>
              </a:lnSpc>
              <a:spcBef>
                <a:spcPts val="0"/>
              </a:spcBef>
              <a:spcAft>
                <a:spcPts val="0"/>
              </a:spcAft>
              <a:buClr>
                <a:schemeClr val="dk1"/>
              </a:buClr>
              <a:buSzPts val="1100"/>
              <a:buFont typeface="Arial"/>
              <a:buNone/>
            </a:pPr>
            <a:r>
              <a:rPr b="1" lang="en-IN" sz="5765">
                <a:solidFill>
                  <a:srgbClr val="231F20"/>
                </a:solidFill>
                <a:latin typeface="Arial Rounded"/>
                <a:ea typeface="Arial Rounded"/>
                <a:cs typeface="Arial Rounded"/>
                <a:sym typeface="Arial Rounded"/>
              </a:rPr>
              <a:t>Current Research State</a:t>
            </a:r>
            <a:endParaRPr b="1" sz="5765">
              <a:solidFill>
                <a:srgbClr val="231F20"/>
              </a:solidFill>
              <a:latin typeface="Arial Rounded"/>
              <a:ea typeface="Arial Rounded"/>
              <a:cs typeface="Arial Rounded"/>
              <a:sym typeface="Arial Rounded"/>
            </a:endParaRPr>
          </a:p>
          <a:p>
            <a:pPr indent="0" lvl="0" marL="0" rtl="0" algn="l">
              <a:lnSpc>
                <a:spcPct val="138005"/>
              </a:lnSpc>
              <a:spcBef>
                <a:spcPts val="0"/>
              </a:spcBef>
              <a:spcAft>
                <a:spcPts val="0"/>
              </a:spcAft>
              <a:buClr>
                <a:schemeClr val="dk1"/>
              </a:buClr>
              <a:buSzPts val="1100"/>
              <a:buFont typeface="Arial"/>
              <a:buNone/>
            </a:pPr>
            <a:r>
              <a:t/>
            </a:r>
            <a:endParaRPr b="1" sz="5765">
              <a:solidFill>
                <a:srgbClr val="231F20"/>
              </a:solidFill>
              <a:latin typeface="Arial Rounded"/>
              <a:ea typeface="Arial Rounded"/>
              <a:cs typeface="Arial Rounded"/>
              <a:sym typeface="Arial Rounded"/>
            </a:endParaRPr>
          </a:p>
          <a:p>
            <a:pPr indent="0" lvl="0" marL="0" marR="0" rtl="0" algn="l">
              <a:lnSpc>
                <a:spcPct val="138005"/>
              </a:lnSpc>
              <a:spcBef>
                <a:spcPts val="0"/>
              </a:spcBef>
              <a:spcAft>
                <a:spcPts val="0"/>
              </a:spcAft>
              <a:buClr>
                <a:srgbClr val="000000"/>
              </a:buClr>
              <a:buSzPts val="5765"/>
              <a:buFont typeface="Arial"/>
              <a:buNone/>
            </a:pPr>
            <a:r>
              <a:t/>
            </a:r>
            <a:endParaRPr b="1" sz="5765">
              <a:solidFill>
                <a:srgbClr val="231F20"/>
              </a:solidFill>
              <a:latin typeface="Arial Rounded"/>
              <a:ea typeface="Arial Rounded"/>
              <a:cs typeface="Arial Rounded"/>
              <a:sym typeface="Arial Rounded"/>
            </a:endParaRPr>
          </a:p>
        </p:txBody>
      </p:sp>
      <p:sp>
        <p:nvSpPr>
          <p:cNvPr id="198" name="Google Shape;198;g3b824e2dc5f_0_38"/>
          <p:cNvSpPr txBox="1"/>
          <p:nvPr/>
        </p:nvSpPr>
        <p:spPr>
          <a:xfrm>
            <a:off x="927922" y="2957378"/>
            <a:ext cx="15394200" cy="3988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IN" sz="2900">
                <a:solidFill>
                  <a:schemeClr val="dk1"/>
                </a:solidFill>
              </a:rPr>
              <a:t>Why Small Language Model (SLM)?</a:t>
            </a:r>
            <a:r>
              <a:rPr lang="en-IN" sz="2900">
                <a:solidFill>
                  <a:schemeClr val="dk1"/>
                </a:solidFill>
              </a:rPr>
              <a:t> Traditional LLMs are too resource-heavy for "at the edge" industrial deployment. (e.g. GPT4 - 1 Trillion vs DistilBERT - 66 Million)</a:t>
            </a:r>
            <a:endParaRPr sz="2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2900">
                <a:solidFill>
                  <a:schemeClr val="dk1"/>
                </a:solidFill>
              </a:rPr>
              <a:t>Model Parameters:</a:t>
            </a:r>
            <a:r>
              <a:rPr lang="en-IN" sz="2900">
                <a:solidFill>
                  <a:schemeClr val="dk1"/>
                </a:solidFill>
              </a:rPr>
              <a:t> Utilizing LLM models with </a:t>
            </a:r>
            <a:r>
              <a:rPr b="1" lang="en-IN" sz="2900">
                <a:solidFill>
                  <a:schemeClr val="dk1"/>
                </a:solidFill>
              </a:rPr>
              <a:t>under 8B parameters</a:t>
            </a:r>
            <a:r>
              <a:rPr lang="en-IN" sz="2900">
                <a:solidFill>
                  <a:schemeClr val="dk1"/>
                </a:solidFill>
              </a:rPr>
              <a:t> (e.g., DistilBERT - 66 M or similar) to ensure low-latency inference on industrial gateways.</a:t>
            </a:r>
            <a:endParaRPr sz="2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2900">
                <a:solidFill>
                  <a:schemeClr val="dk1"/>
                </a:solidFill>
              </a:rPr>
              <a:t>Privacy-First:</a:t>
            </a:r>
            <a:r>
              <a:rPr lang="en-IN" sz="2900">
                <a:solidFill>
                  <a:schemeClr val="dk1"/>
                </a:solidFill>
              </a:rPr>
              <a:t> SLMs allow for on-premises deployment, ensuring sensitive manufacturing telemetry never leaves the facility, addressing the "Privacy Paradox" identified in RDC 1.</a:t>
            </a:r>
            <a:endParaRPr sz="2900">
              <a:solidFill>
                <a:schemeClr val="dk1"/>
              </a:solidFill>
            </a:endParaRPr>
          </a:p>
          <a:p>
            <a:pPr indent="0" lvl="0" marL="0" rtl="0" algn="l">
              <a:lnSpc>
                <a:spcPct val="115000"/>
              </a:lnSpc>
              <a:spcBef>
                <a:spcPts val="1200"/>
              </a:spcBef>
              <a:spcAft>
                <a:spcPts val="1200"/>
              </a:spcAft>
              <a:buNone/>
            </a:pPr>
            <a:r>
              <a:t/>
            </a:r>
            <a:endParaRPr sz="2900">
              <a:solidFill>
                <a:schemeClr val="dk1"/>
              </a:solidFill>
            </a:endParaRPr>
          </a:p>
        </p:txBody>
      </p:sp>
      <p:sp>
        <p:nvSpPr>
          <p:cNvPr id="199" name="Google Shape;199;g3b824e2dc5f_0_38"/>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b824e2dc5f_0_38"/>
          <p:cNvSpPr/>
          <p:nvPr/>
        </p:nvSpPr>
        <p:spPr>
          <a:xfrm rot="10800000">
            <a:off x="-2059222" y="-789427"/>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205" name="Shape 205"/>
        <p:cNvGrpSpPr/>
        <p:nvPr/>
      </p:nvGrpSpPr>
      <p:grpSpPr>
        <a:xfrm>
          <a:off x="0" y="0"/>
          <a:ext cx="0" cy="0"/>
          <a:chOff x="0" y="0"/>
          <a:chExt cx="0" cy="0"/>
        </a:xfrm>
      </p:grpSpPr>
      <p:sp>
        <p:nvSpPr>
          <p:cNvPr id="206" name="Google Shape;206;g3b824e2dc5f_0_81"/>
          <p:cNvSpPr txBox="1"/>
          <p:nvPr/>
        </p:nvSpPr>
        <p:spPr>
          <a:xfrm>
            <a:off x="1998300" y="581800"/>
            <a:ext cx="15940200" cy="3336600"/>
          </a:xfrm>
          <a:prstGeom prst="rect">
            <a:avLst/>
          </a:prstGeom>
          <a:noFill/>
          <a:ln>
            <a:noFill/>
          </a:ln>
        </p:spPr>
        <p:txBody>
          <a:bodyPr anchorCtr="0" anchor="t" bIns="0" lIns="0" spcFirstLastPara="1" rIns="0" wrap="square" tIns="0">
            <a:spAutoFit/>
          </a:bodyPr>
          <a:lstStyle/>
          <a:p>
            <a:pPr indent="0" lvl="0" marL="0" rtl="0" algn="l">
              <a:lnSpc>
                <a:spcPct val="138005"/>
              </a:lnSpc>
              <a:spcBef>
                <a:spcPts val="0"/>
              </a:spcBef>
              <a:spcAft>
                <a:spcPts val="0"/>
              </a:spcAft>
              <a:buClr>
                <a:schemeClr val="dk1"/>
              </a:buClr>
              <a:buSzPts val="1100"/>
              <a:buFont typeface="Arial"/>
              <a:buNone/>
            </a:pPr>
            <a:r>
              <a:rPr b="1" lang="en-IN" sz="5765">
                <a:solidFill>
                  <a:srgbClr val="231F20"/>
                </a:solidFill>
                <a:latin typeface="Arial Rounded"/>
                <a:ea typeface="Arial Rounded"/>
                <a:cs typeface="Arial Rounded"/>
                <a:sym typeface="Arial Rounded"/>
              </a:rPr>
              <a:t>Current Research State</a:t>
            </a:r>
            <a:endParaRPr b="1" sz="5765">
              <a:solidFill>
                <a:srgbClr val="231F20"/>
              </a:solidFill>
              <a:latin typeface="Arial Rounded"/>
              <a:ea typeface="Arial Rounded"/>
              <a:cs typeface="Arial Rounded"/>
              <a:sym typeface="Arial Rounded"/>
            </a:endParaRPr>
          </a:p>
          <a:p>
            <a:pPr indent="0" lvl="0" marL="0" rtl="0" algn="l">
              <a:lnSpc>
                <a:spcPct val="138005"/>
              </a:lnSpc>
              <a:spcBef>
                <a:spcPts val="0"/>
              </a:spcBef>
              <a:spcAft>
                <a:spcPts val="0"/>
              </a:spcAft>
              <a:buClr>
                <a:schemeClr val="dk1"/>
              </a:buClr>
              <a:buSzPts val="1100"/>
              <a:buFont typeface="Arial"/>
              <a:buNone/>
            </a:pPr>
            <a:r>
              <a:t/>
            </a:r>
            <a:endParaRPr b="1" sz="5765">
              <a:solidFill>
                <a:srgbClr val="231F20"/>
              </a:solidFill>
              <a:latin typeface="Arial Rounded"/>
              <a:ea typeface="Arial Rounded"/>
              <a:cs typeface="Arial Rounded"/>
              <a:sym typeface="Arial Rounded"/>
            </a:endParaRPr>
          </a:p>
          <a:p>
            <a:pPr indent="0" lvl="0" marL="0" marR="0" rtl="0" algn="l">
              <a:lnSpc>
                <a:spcPct val="138005"/>
              </a:lnSpc>
              <a:spcBef>
                <a:spcPts val="0"/>
              </a:spcBef>
              <a:spcAft>
                <a:spcPts val="0"/>
              </a:spcAft>
              <a:buClr>
                <a:srgbClr val="000000"/>
              </a:buClr>
              <a:buSzPts val="5765"/>
              <a:buFont typeface="Arial"/>
              <a:buNone/>
            </a:pPr>
            <a:r>
              <a:t/>
            </a:r>
            <a:endParaRPr b="1" sz="5765">
              <a:solidFill>
                <a:srgbClr val="231F20"/>
              </a:solidFill>
              <a:latin typeface="Arial Rounded"/>
              <a:ea typeface="Arial Rounded"/>
              <a:cs typeface="Arial Rounded"/>
              <a:sym typeface="Arial Rounded"/>
            </a:endParaRPr>
          </a:p>
        </p:txBody>
      </p:sp>
      <p:sp>
        <p:nvSpPr>
          <p:cNvPr id="207" name="Google Shape;207;g3b824e2dc5f_0_81"/>
          <p:cNvSpPr txBox="1"/>
          <p:nvPr/>
        </p:nvSpPr>
        <p:spPr>
          <a:xfrm>
            <a:off x="927922" y="2957378"/>
            <a:ext cx="15394200" cy="3474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IN" sz="2900">
                <a:solidFill>
                  <a:schemeClr val="dk1"/>
                </a:solidFill>
              </a:rPr>
              <a:t>Publication under review for IEEE Tech Focus Conference - Odisha AI Symposium:</a:t>
            </a:r>
            <a:r>
              <a:rPr lang="en-IN" sz="2900">
                <a:solidFill>
                  <a:schemeClr val="dk1"/>
                </a:solidFill>
              </a:rPr>
              <a:t> </a:t>
            </a:r>
            <a:br>
              <a:rPr lang="en-IN" sz="2900">
                <a:solidFill>
                  <a:schemeClr val="dk1"/>
                </a:solidFill>
              </a:rPr>
            </a:br>
            <a:r>
              <a:rPr lang="en-IN" sz="2900">
                <a:solidFill>
                  <a:schemeClr val="dk1"/>
                </a:solidFill>
              </a:rPr>
              <a:t>Comparative Analysis of Mitigation Frameworks for AI-Driven Threats in Smart Manufacturing Systems</a:t>
            </a:r>
            <a:endParaRPr sz="2900">
              <a:solidFill>
                <a:schemeClr val="dk1"/>
              </a:solidFill>
            </a:endParaRPr>
          </a:p>
          <a:p>
            <a:pPr indent="0" lvl="0" marL="0" rtl="0" algn="l">
              <a:lnSpc>
                <a:spcPct val="115000"/>
              </a:lnSpc>
              <a:spcBef>
                <a:spcPts val="1200"/>
              </a:spcBef>
              <a:spcAft>
                <a:spcPts val="0"/>
              </a:spcAft>
              <a:buNone/>
            </a:pPr>
            <a:r>
              <a:t/>
            </a:r>
            <a:endParaRPr sz="2900">
              <a:solidFill>
                <a:schemeClr val="dk1"/>
              </a:solidFill>
            </a:endParaRPr>
          </a:p>
          <a:p>
            <a:pPr indent="0" lvl="0" marL="0" rtl="0" algn="l">
              <a:lnSpc>
                <a:spcPct val="115000"/>
              </a:lnSpc>
              <a:spcBef>
                <a:spcPts val="1200"/>
              </a:spcBef>
              <a:spcAft>
                <a:spcPts val="0"/>
              </a:spcAft>
              <a:buNone/>
            </a:pPr>
            <a:r>
              <a:t/>
            </a:r>
            <a:endParaRPr b="1" sz="2900">
              <a:solidFill>
                <a:schemeClr val="dk1"/>
              </a:solidFill>
            </a:endParaRPr>
          </a:p>
          <a:p>
            <a:pPr indent="0" lvl="0" marL="0" rtl="0" algn="l">
              <a:lnSpc>
                <a:spcPct val="115000"/>
              </a:lnSpc>
              <a:spcBef>
                <a:spcPts val="1200"/>
              </a:spcBef>
              <a:spcAft>
                <a:spcPts val="1200"/>
              </a:spcAft>
              <a:buNone/>
            </a:pPr>
            <a:r>
              <a:t/>
            </a:r>
            <a:endParaRPr b="1" sz="2900">
              <a:solidFill>
                <a:schemeClr val="dk1"/>
              </a:solidFill>
            </a:endParaRPr>
          </a:p>
        </p:txBody>
      </p:sp>
      <p:sp>
        <p:nvSpPr>
          <p:cNvPr id="208" name="Google Shape;208;g3b824e2dc5f_0_81"/>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3b824e2dc5f_0_81"/>
          <p:cNvSpPr/>
          <p:nvPr/>
        </p:nvSpPr>
        <p:spPr>
          <a:xfrm rot="10800000">
            <a:off x="-2059222" y="-789427"/>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0" name="Google Shape;210;g3b824e2dc5f_0_81" title="Screenshot 2026-01-16 at 1.44.52 AM.png"/>
          <p:cNvPicPr preferRelativeResize="0"/>
          <p:nvPr/>
        </p:nvPicPr>
        <p:blipFill>
          <a:blip r:embed="rId4">
            <a:alphaModFix/>
          </a:blip>
          <a:stretch>
            <a:fillRect/>
          </a:stretch>
        </p:blipFill>
        <p:spPr>
          <a:xfrm>
            <a:off x="529025" y="5358475"/>
            <a:ext cx="7042002" cy="3756300"/>
          </a:xfrm>
          <a:prstGeom prst="rect">
            <a:avLst/>
          </a:prstGeom>
          <a:noFill/>
          <a:ln>
            <a:noFill/>
          </a:ln>
        </p:spPr>
      </p:pic>
      <p:pic>
        <p:nvPicPr>
          <p:cNvPr id="211" name="Google Shape;211;g3b824e2dc5f_0_81" title="Screenshot 2026-01-16 at 1.46.11 AM.png"/>
          <p:cNvPicPr preferRelativeResize="0"/>
          <p:nvPr/>
        </p:nvPicPr>
        <p:blipFill>
          <a:blip r:embed="rId5">
            <a:alphaModFix/>
          </a:blip>
          <a:stretch>
            <a:fillRect/>
          </a:stretch>
        </p:blipFill>
        <p:spPr>
          <a:xfrm>
            <a:off x="7848744" y="4562123"/>
            <a:ext cx="9934177" cy="4287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216" name="Shape 216"/>
        <p:cNvGrpSpPr/>
        <p:nvPr/>
      </p:nvGrpSpPr>
      <p:grpSpPr>
        <a:xfrm>
          <a:off x="0" y="0"/>
          <a:ext cx="0" cy="0"/>
          <a:chOff x="0" y="0"/>
          <a:chExt cx="0" cy="0"/>
        </a:xfrm>
      </p:grpSpPr>
      <p:sp>
        <p:nvSpPr>
          <p:cNvPr id="217" name="Google Shape;217;p8"/>
          <p:cNvSpPr txBox="1"/>
          <p:nvPr/>
        </p:nvSpPr>
        <p:spPr>
          <a:xfrm>
            <a:off x="1998308" y="974713"/>
            <a:ext cx="6825416" cy="1224310"/>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Clr>
                <a:srgbClr val="000000"/>
              </a:buClr>
              <a:buSzPts val="5765"/>
              <a:buFont typeface="Arial"/>
              <a:buNone/>
            </a:pPr>
            <a:r>
              <a:rPr b="1" i="0" lang="en-IN" sz="5765" u="none" cap="none" strike="noStrike">
                <a:solidFill>
                  <a:srgbClr val="231F20"/>
                </a:solidFill>
                <a:latin typeface="Arial Rounded"/>
                <a:ea typeface="Arial Rounded"/>
                <a:cs typeface="Arial Rounded"/>
                <a:sym typeface="Arial Rounded"/>
              </a:rPr>
              <a:t>Research Timeline </a:t>
            </a:r>
            <a:endParaRPr b="0" i="0" sz="1400" u="none" cap="none" strike="noStrike">
              <a:solidFill>
                <a:srgbClr val="000000"/>
              </a:solidFill>
              <a:latin typeface="Arial"/>
              <a:ea typeface="Arial"/>
              <a:cs typeface="Arial"/>
              <a:sym typeface="Arial"/>
            </a:endParaRPr>
          </a:p>
        </p:txBody>
      </p:sp>
      <p:sp>
        <p:nvSpPr>
          <p:cNvPr id="218" name="Google Shape;218;p8"/>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8"/>
          <p:cNvSpPr/>
          <p:nvPr/>
        </p:nvSpPr>
        <p:spPr>
          <a:xfrm rot="10800000">
            <a:off x="-2059222" y="-798391"/>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20" name="Google Shape;220;p8"/>
          <p:cNvGraphicFramePr/>
          <p:nvPr/>
        </p:nvGraphicFramePr>
        <p:xfrm>
          <a:off x="2750684" y="2471943"/>
          <a:ext cx="3000000" cy="3000000"/>
        </p:xfrm>
        <a:graphic>
          <a:graphicData uri="http://schemas.openxmlformats.org/drawingml/2006/table">
            <a:tbl>
              <a:tblPr firstRow="1">
                <a:noFill/>
                <a:tableStyleId>{FD62060C-A9E3-43FF-8695-09CB6F05CB28}</a:tableStyleId>
              </a:tblPr>
              <a:tblGrid>
                <a:gridCol w="3148150"/>
                <a:gridCol w="3148150"/>
                <a:gridCol w="3148150"/>
                <a:gridCol w="3148150"/>
              </a:tblGrid>
              <a:tr h="40200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Year</a:t>
                      </a:r>
                      <a:endParaRPr sz="1400" u="none" cap="none" strike="noStrike"/>
                    </a:p>
                  </a:txBody>
                  <a:tcPr marT="35700" marB="35700" marR="35700" marL="35700">
                    <a:no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Quarter</a:t>
                      </a:r>
                      <a:endParaRPr sz="1400" u="none" cap="none" strike="noStrike"/>
                    </a:p>
                  </a:txBody>
                  <a:tcPr marT="35700" marB="35700" marR="35700" marL="35700">
                    <a:no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Activities &amp; Milestones</a:t>
                      </a:r>
                      <a:endParaRPr sz="1400" u="none" cap="none" strike="noStrike"/>
                    </a:p>
                  </a:txBody>
                  <a:tcPr marT="35700" marB="35700" marR="35700" marL="35700">
                    <a:no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Key Deliverables</a:t>
                      </a:r>
                      <a:endParaRPr sz="1400" u="none" cap="none" strike="noStrike"/>
                    </a:p>
                  </a:txBody>
                  <a:tcPr marT="35700" marB="35700" marR="35700" marL="35700">
                    <a:noFill/>
                  </a:tcPr>
                </a:tc>
              </a:tr>
              <a:tr h="9641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Year 1</a:t>
                      </a:r>
                      <a:endParaRPr sz="18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Q1-Q2</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Literature review, federated learning framework design , digital twin architecture planning </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Comprehensive literature survey, initial framework design</a:t>
                      </a:r>
                      <a:endParaRPr sz="1400" u="none" cap="none" strike="noStrike"/>
                    </a:p>
                  </a:txBody>
                  <a:tcPr marT="21425" marB="21425" marR="35700" marL="35700" anchor="ctr">
                    <a:noFill/>
                  </a:tcPr>
                </a:tc>
              </a:tr>
              <a:tr h="12653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Q3-Q4</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A</a:t>
                      </a:r>
                      <a:r>
                        <a:rPr lang="en-IN" sz="1800" u="none" cap="none" strike="noStrike"/>
                        <a:t>nalysis of</a:t>
                      </a:r>
                      <a:r>
                        <a:rPr lang="en-IN" sz="1800"/>
                        <a:t> attack(s),</a:t>
                      </a:r>
                      <a:r>
                        <a:rPr lang="en-IN" sz="1800" u="none" cap="none" strike="noStrike"/>
                        <a:t> dataset collection</a:t>
                      </a:r>
                      <a:r>
                        <a:rPr lang="en-IN" sz="1800"/>
                        <a:t>, experimental training for LM</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Threat taxonomy, </a:t>
                      </a:r>
                      <a:r>
                        <a:rPr lang="en-IN" sz="1800"/>
                        <a:t>Training dataset(s) &amp; validation for approach -  SLM to detect LM attack</a:t>
                      </a:r>
                      <a:endParaRPr sz="1400" u="none" cap="none" strike="noStrike"/>
                    </a:p>
                  </a:txBody>
                  <a:tcPr marT="21425" marB="21425" marR="35700" marL="35700" anchor="ctr">
                    <a:noFill/>
                  </a:tcPr>
                </a:tc>
              </a:tr>
              <a:tr h="12653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Year 2</a:t>
                      </a:r>
                      <a:endParaRPr sz="18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Q1-Q2</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SLM </a:t>
                      </a:r>
                      <a:r>
                        <a:rPr lang="en-IN" sz="1800"/>
                        <a:t>training</a:t>
                      </a:r>
                      <a:r>
                        <a:rPr lang="en-IN" sz="1800"/>
                        <a:t> for LM attacks with </a:t>
                      </a:r>
                      <a:r>
                        <a:rPr lang="en-IN" sz="1800"/>
                        <a:t>multiple</a:t>
                      </a:r>
                      <a:r>
                        <a:rPr lang="en-IN" sz="1800"/>
                        <a:t> dataset(s) &amp; </a:t>
                      </a:r>
                      <a:r>
                        <a:rPr lang="en-IN" sz="1800" u="none" cap="none" strike="noStrike"/>
                        <a:t> robustness testing </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Functional </a:t>
                      </a:r>
                      <a:r>
                        <a:rPr lang="en-IN" sz="1800"/>
                        <a:t>LLM </a:t>
                      </a:r>
                      <a:r>
                        <a:rPr lang="en-IN" sz="1800" u="none" cap="none" strike="noStrike"/>
                        <a:t>model(s), robustness evaluation framework</a:t>
                      </a:r>
                      <a:endParaRPr sz="1400" u="none" cap="none" strike="noStrike"/>
                    </a:p>
                  </a:txBody>
                  <a:tcPr marT="21425" marB="21425" marR="35700" marL="35700" anchor="ctr">
                    <a:noFill/>
                  </a:tcPr>
                </a:tc>
              </a:tr>
              <a:tr h="964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Q3-Q4</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Validation &amp; optimisation for SLM in test environment</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Detection accuracy &amp; </a:t>
                      </a:r>
                      <a:r>
                        <a:rPr lang="en-IN" sz="1800"/>
                        <a:t>performance measurement on edge devices</a:t>
                      </a:r>
                      <a:endParaRPr sz="1400" u="none" cap="none" strike="noStrike"/>
                    </a:p>
                  </a:txBody>
                  <a:tcPr marT="21425" marB="21425" marR="35700" marL="35700" anchor="ctr">
                    <a:noFill/>
                  </a:tcPr>
                </a:tc>
              </a:tr>
              <a:tr h="1114750">
                <a:tc>
                  <a:txBody>
                    <a:bodyPr/>
                    <a:lstStyle/>
                    <a:p>
                      <a:pPr indent="0" lvl="0" marL="0" marR="0" rtl="0" algn="l">
                        <a:lnSpc>
                          <a:spcPct val="100000"/>
                        </a:lnSpc>
                        <a:spcBef>
                          <a:spcPts val="0"/>
                        </a:spcBef>
                        <a:spcAft>
                          <a:spcPts val="0"/>
                        </a:spcAft>
                        <a:buClr>
                          <a:srgbClr val="000000"/>
                        </a:buClr>
                        <a:buSzPts val="1800"/>
                        <a:buFont typeface="Arial"/>
                        <a:buNone/>
                      </a:pPr>
                      <a:r>
                        <a:rPr b="0" lang="en-IN" sz="1800" u="none" cap="none" strike="noStrike"/>
                        <a:t>Year 3</a:t>
                      </a:r>
                      <a:endParaRPr sz="18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Q1-Q2</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Formulate</a:t>
                      </a:r>
                      <a:r>
                        <a:rPr lang="en-IN" sz="1800"/>
                        <a:t> ways to train &amp; improve</a:t>
                      </a:r>
                      <a:r>
                        <a:rPr lang="en-IN" sz="1800" u="none" cap="none" strike="noStrike"/>
                        <a:t>, run real-world validation, performance benchmarking</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Improvement framework</a:t>
                      </a:r>
                      <a:r>
                        <a:rPr lang="en-IN" sz="1800" u="none" cap="none" strike="noStrike"/>
                        <a:t>, </a:t>
                      </a:r>
                      <a:r>
                        <a:rPr lang="en-IN" sz="1800"/>
                        <a:t>real-world benchmarking data</a:t>
                      </a:r>
                      <a:endParaRPr sz="1400" u="none" cap="none" strike="noStrike"/>
                    </a:p>
                  </a:txBody>
                  <a:tcPr marT="21425" marB="21425" marR="35700" marL="35700" anchor="ctr">
                    <a:noFill/>
                  </a:tcPr>
                </a:tc>
              </a:tr>
              <a:tr h="11147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Q3-Q4</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Industrial case studies, comparative analysis, dissertation writing and defense preparation</a:t>
                      </a:r>
                      <a:endParaRPr sz="1400" u="none" cap="none" strike="noStrike"/>
                    </a:p>
                  </a:txBody>
                  <a:tcPr marT="21425" marB="21425" marR="35700" marL="35700" anchor="ctr">
                    <a:noFill/>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Final dissertation, defense presentation</a:t>
                      </a:r>
                      <a:endParaRPr sz="1400" u="none" cap="none" strike="noStrike"/>
                    </a:p>
                  </a:txBody>
                  <a:tcPr marT="21425" marB="21425" marR="35700" marL="35700" anchor="ctr">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9"/>
          <p:cNvSpPr txBox="1"/>
          <p:nvPr/>
        </p:nvSpPr>
        <p:spPr>
          <a:xfrm>
            <a:off x="1998308" y="974713"/>
            <a:ext cx="6825416" cy="1224310"/>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Clr>
                <a:srgbClr val="000000"/>
              </a:buClr>
              <a:buSzPts val="5765"/>
              <a:buFont typeface="Arial"/>
              <a:buNone/>
            </a:pPr>
            <a:r>
              <a:rPr b="1" i="0" lang="en-IN" sz="5765" u="none" cap="none" strike="noStrike">
                <a:solidFill>
                  <a:srgbClr val="231F20"/>
                </a:solidFill>
                <a:latin typeface="Arial Rounded"/>
                <a:ea typeface="Arial Rounded"/>
                <a:cs typeface="Arial Rounded"/>
                <a:sym typeface="Arial Rounded"/>
              </a:rPr>
              <a:t>Expected Outcome</a:t>
            </a:r>
            <a:endParaRPr b="0" i="0" sz="1400" u="none" cap="none" strike="noStrike">
              <a:solidFill>
                <a:srgbClr val="000000"/>
              </a:solidFill>
              <a:latin typeface="Arial"/>
              <a:ea typeface="Arial"/>
              <a:cs typeface="Arial"/>
              <a:sym typeface="Arial"/>
            </a:endParaRPr>
          </a:p>
        </p:txBody>
      </p:sp>
      <p:sp>
        <p:nvSpPr>
          <p:cNvPr id="227" name="Google Shape;227;p9"/>
          <p:cNvSpPr txBox="1"/>
          <p:nvPr/>
        </p:nvSpPr>
        <p:spPr>
          <a:xfrm>
            <a:off x="945397" y="2817590"/>
            <a:ext cx="16320600" cy="4956300"/>
          </a:xfrm>
          <a:prstGeom prst="rect">
            <a:avLst/>
          </a:prstGeom>
          <a:noFill/>
          <a:ln>
            <a:noFill/>
          </a:ln>
        </p:spPr>
        <p:txBody>
          <a:bodyPr anchorCtr="0" anchor="t" bIns="0" lIns="0" spcFirstLastPara="1" rIns="0" wrap="square" tIns="0">
            <a:spAutoFit/>
          </a:bodyPr>
          <a:lstStyle/>
          <a:p>
            <a:pPr indent="-571500" lvl="0" marL="5715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Threat Taxonomy:</a:t>
            </a:r>
            <a:r>
              <a:rPr b="0" i="0" lang="en-IN" sz="2800" u="none" cap="none" strike="noStrike">
                <a:solidFill>
                  <a:srgbClr val="000000"/>
                </a:solidFill>
                <a:latin typeface="Arial"/>
                <a:ea typeface="Arial"/>
                <a:cs typeface="Arial"/>
                <a:sym typeface="Arial"/>
              </a:rPr>
              <a:t> </a:t>
            </a:r>
            <a:r>
              <a:rPr lang="en-IN" sz="2800"/>
              <a:t>C</a:t>
            </a:r>
            <a:r>
              <a:rPr b="0" i="0" lang="en-IN" sz="2800" u="none" cap="none" strike="noStrike">
                <a:solidFill>
                  <a:srgbClr val="000000"/>
                </a:solidFill>
                <a:latin typeface="Arial"/>
                <a:ea typeface="Arial"/>
                <a:cs typeface="Arial"/>
                <a:sym typeface="Arial"/>
              </a:rPr>
              <a:t>lassification of AI-driven </a:t>
            </a:r>
            <a:r>
              <a:rPr b="0" i="0" lang="en-IN" sz="2800" u="none" cap="none" strike="noStrike">
                <a:solidFill>
                  <a:srgbClr val="000000"/>
                </a:solidFill>
                <a:latin typeface="Arial"/>
                <a:ea typeface="Arial"/>
                <a:cs typeface="Arial"/>
                <a:sym typeface="Arial"/>
              </a:rPr>
              <a:t>threats for </a:t>
            </a:r>
            <a:r>
              <a:rPr lang="en-IN" sz="2800"/>
              <a:t>Industrial Control Systems </a:t>
            </a:r>
            <a:endParaRPr b="0" i="0" sz="1400" u="none" cap="none" strike="noStrike">
              <a:solidFill>
                <a:srgbClr val="000000"/>
              </a:solidFill>
              <a:latin typeface="Arial"/>
              <a:ea typeface="Arial"/>
              <a:cs typeface="Arial"/>
              <a:sym typeface="Arial"/>
            </a:endParaRPr>
          </a:p>
          <a:p>
            <a:pPr indent="-393700" lvl="0" marL="5715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2800"/>
              <a:buFont typeface="Arial"/>
              <a:buChar char="•"/>
            </a:pPr>
            <a:r>
              <a:rPr b="1" lang="en-IN" sz="2800"/>
              <a:t>Identification of</a:t>
            </a:r>
            <a:r>
              <a:rPr b="1" i="0" lang="en-IN" sz="2800" u="none" cap="none" strike="noStrike">
                <a:solidFill>
                  <a:srgbClr val="000000"/>
                </a:solidFill>
                <a:latin typeface="Arial"/>
                <a:ea typeface="Arial"/>
                <a:cs typeface="Arial"/>
                <a:sym typeface="Arial"/>
              </a:rPr>
              <a:t> </a:t>
            </a:r>
            <a:r>
              <a:rPr b="1" lang="en-IN" sz="2800"/>
              <a:t>threat(s) &amp; mitigation</a:t>
            </a:r>
            <a:r>
              <a:rPr b="1" i="0" lang="en-IN" sz="2800" u="none" cap="none" strike="noStrike">
                <a:solidFill>
                  <a:srgbClr val="000000"/>
                </a:solidFill>
                <a:latin typeface="Arial"/>
                <a:ea typeface="Arial"/>
                <a:cs typeface="Arial"/>
                <a:sym typeface="Arial"/>
              </a:rPr>
              <a:t> </a:t>
            </a:r>
            <a:r>
              <a:rPr b="1" lang="en-IN" sz="2800"/>
              <a:t>f</a:t>
            </a:r>
            <a:r>
              <a:rPr b="1" i="0" lang="en-IN" sz="2800" u="none" cap="none" strike="noStrike">
                <a:solidFill>
                  <a:srgbClr val="000000"/>
                </a:solidFill>
                <a:latin typeface="Arial"/>
                <a:ea typeface="Arial"/>
                <a:cs typeface="Arial"/>
                <a:sym typeface="Arial"/>
              </a:rPr>
              <a:t>ramework:</a:t>
            </a:r>
            <a:r>
              <a:rPr b="0" i="0" lang="en-IN" sz="2800" u="none" cap="none" strike="noStrike">
                <a:solidFill>
                  <a:srgbClr val="000000"/>
                </a:solidFill>
                <a:latin typeface="Arial"/>
                <a:ea typeface="Arial"/>
                <a:cs typeface="Arial"/>
                <a:sym typeface="Arial"/>
              </a:rPr>
              <a:t> </a:t>
            </a:r>
            <a:r>
              <a:rPr lang="en-IN" sz="2800"/>
              <a:t>SLM based lateral movement</a:t>
            </a:r>
            <a:r>
              <a:rPr b="0" i="0" lang="en-IN" sz="2800" u="none" cap="none" strike="noStrike">
                <a:solidFill>
                  <a:srgbClr val="000000"/>
                </a:solidFill>
                <a:latin typeface="Arial"/>
                <a:ea typeface="Arial"/>
                <a:cs typeface="Arial"/>
                <a:sym typeface="Arial"/>
              </a:rPr>
              <a:t> attack detection framework</a:t>
            </a:r>
            <a:r>
              <a:rPr lang="en-IN" sz="2800"/>
              <a:t> using SLM</a:t>
            </a:r>
            <a:endParaRPr b="0" i="0" sz="1400" u="none" cap="none" strike="noStrike">
              <a:solidFill>
                <a:srgbClr val="000000"/>
              </a:solidFill>
              <a:latin typeface="Arial"/>
              <a:ea typeface="Arial"/>
              <a:cs typeface="Arial"/>
              <a:sym typeface="Arial"/>
            </a:endParaRPr>
          </a:p>
          <a:p>
            <a:pPr indent="-393700" lvl="0" marL="5715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2800"/>
              <a:buFont typeface="Arial"/>
              <a:buChar char="•"/>
            </a:pPr>
            <a:r>
              <a:rPr b="1" lang="en-IN" sz="2800"/>
              <a:t>Training with dataset </a:t>
            </a:r>
            <a:r>
              <a:rPr b="1" i="0" lang="en-IN" sz="2800" u="none" cap="none" strike="noStrike">
                <a:solidFill>
                  <a:srgbClr val="000000"/>
                </a:solidFill>
                <a:latin typeface="Arial"/>
                <a:ea typeface="Arial"/>
                <a:cs typeface="Arial"/>
                <a:sym typeface="Arial"/>
              </a:rPr>
              <a:t>:</a:t>
            </a:r>
            <a:r>
              <a:rPr b="0" i="0" lang="en-IN" sz="2800" u="none" cap="none" strike="noStrike">
                <a:solidFill>
                  <a:srgbClr val="000000"/>
                </a:solidFill>
                <a:latin typeface="Arial"/>
                <a:ea typeface="Arial"/>
                <a:cs typeface="Arial"/>
                <a:sym typeface="Arial"/>
              </a:rPr>
              <a:t> </a:t>
            </a:r>
            <a:r>
              <a:rPr lang="en-IN" sz="2800"/>
              <a:t>Trained SLM with LM dataset</a:t>
            </a:r>
            <a:endParaRPr b="0" i="0" sz="1400" u="none" cap="none" strike="noStrike">
              <a:solidFill>
                <a:srgbClr val="000000"/>
              </a:solidFill>
              <a:latin typeface="Arial"/>
              <a:ea typeface="Arial"/>
              <a:cs typeface="Arial"/>
              <a:sym typeface="Arial"/>
            </a:endParaRPr>
          </a:p>
          <a:p>
            <a:pPr indent="-393700" lvl="0" marL="5715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Digital Twin Integration:</a:t>
            </a:r>
            <a:r>
              <a:rPr b="0" i="0" lang="en-IN" sz="2800" u="none" cap="none" strike="noStrike">
                <a:solidFill>
                  <a:srgbClr val="000000"/>
                </a:solidFill>
                <a:latin typeface="Arial"/>
                <a:ea typeface="Arial"/>
                <a:cs typeface="Arial"/>
                <a:sym typeface="Arial"/>
              </a:rPr>
              <a:t> Real-time </a:t>
            </a:r>
            <a:r>
              <a:rPr lang="en-IN" sz="2800"/>
              <a:t>edge compute</a:t>
            </a:r>
            <a:r>
              <a:rPr b="0" i="0" lang="en-IN" sz="2800" u="none" cap="none" strike="noStrike">
                <a:solidFill>
                  <a:srgbClr val="000000"/>
                </a:solidFill>
                <a:latin typeface="Arial"/>
                <a:ea typeface="Arial"/>
                <a:cs typeface="Arial"/>
                <a:sym typeface="Arial"/>
              </a:rPr>
              <a:t> monitoring without operational performance impact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393700" lvl="0" marL="5715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2800"/>
              <a:buFont typeface="Arial"/>
              <a:buChar char="•"/>
            </a:pPr>
            <a:r>
              <a:rPr b="1" i="0" lang="en-IN" sz="2800" u="none" cap="none" strike="noStrike">
                <a:solidFill>
                  <a:srgbClr val="000000"/>
                </a:solidFill>
                <a:latin typeface="Arial"/>
                <a:ea typeface="Arial"/>
                <a:cs typeface="Arial"/>
                <a:sym typeface="Arial"/>
              </a:rPr>
              <a:t>Future-Ready:</a:t>
            </a:r>
            <a:r>
              <a:rPr b="0" i="0" lang="en-IN" sz="2800" u="none" cap="none" strike="noStrike">
                <a:solidFill>
                  <a:srgbClr val="000000"/>
                </a:solidFill>
                <a:latin typeface="Arial"/>
                <a:ea typeface="Arial"/>
                <a:cs typeface="Arial"/>
                <a:sym typeface="Arial"/>
              </a:rPr>
              <a:t> Potential impact of </a:t>
            </a:r>
            <a:r>
              <a:rPr lang="en-IN" sz="2800"/>
              <a:t>p</a:t>
            </a:r>
            <a:r>
              <a:rPr b="0" i="0" lang="en-IN" sz="2800" u="none" cap="none" strike="noStrike">
                <a:solidFill>
                  <a:srgbClr val="000000"/>
                </a:solidFill>
                <a:latin typeface="Arial"/>
                <a:ea typeface="Arial"/>
                <a:cs typeface="Arial"/>
                <a:sym typeface="Arial"/>
              </a:rPr>
              <a:t>ost-quantum cryptographic</a:t>
            </a:r>
            <a:r>
              <a:rPr lang="en-IN" sz="2800"/>
              <a:t> &amp; future threats.</a:t>
            </a:r>
            <a:endParaRPr b="0" i="0" sz="1400" u="none" cap="none" strike="noStrike">
              <a:solidFill>
                <a:srgbClr val="000000"/>
              </a:solidFill>
              <a:latin typeface="Arial"/>
              <a:ea typeface="Arial"/>
              <a:cs typeface="Arial"/>
              <a:sym typeface="Arial"/>
            </a:endParaRPr>
          </a:p>
        </p:txBody>
      </p:sp>
      <p:sp>
        <p:nvSpPr>
          <p:cNvPr id="228" name="Google Shape;228;p9"/>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rot="10800000">
            <a:off x="-2059222" y="-798391"/>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0"/>
          <p:cNvSpPr txBox="1"/>
          <p:nvPr/>
        </p:nvSpPr>
        <p:spPr>
          <a:xfrm>
            <a:off x="1998308" y="974713"/>
            <a:ext cx="6825416" cy="1224310"/>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Clr>
                <a:srgbClr val="000000"/>
              </a:buClr>
              <a:buSzPts val="5765"/>
              <a:buFont typeface="Arial"/>
              <a:buNone/>
            </a:pPr>
            <a:r>
              <a:rPr b="1" i="0" lang="en-IN" sz="5765" u="none" cap="none" strike="noStrike">
                <a:solidFill>
                  <a:srgbClr val="231F20"/>
                </a:solidFill>
                <a:latin typeface="Arial Rounded"/>
                <a:ea typeface="Arial Rounded"/>
                <a:cs typeface="Arial Rounded"/>
                <a:sym typeface="Arial Rounded"/>
              </a:rPr>
              <a:t>Conclusion</a:t>
            </a:r>
            <a:endParaRPr b="0" i="0" sz="1400" u="none" cap="none" strike="noStrike">
              <a:solidFill>
                <a:srgbClr val="000000"/>
              </a:solidFill>
              <a:latin typeface="Arial"/>
              <a:ea typeface="Arial"/>
              <a:cs typeface="Arial"/>
              <a:sym typeface="Arial"/>
            </a:endParaRPr>
          </a:p>
        </p:txBody>
      </p:sp>
      <p:sp>
        <p:nvSpPr>
          <p:cNvPr id="236" name="Google Shape;236;p10"/>
          <p:cNvSpPr txBox="1"/>
          <p:nvPr/>
        </p:nvSpPr>
        <p:spPr>
          <a:xfrm>
            <a:off x="1998300" y="2422279"/>
            <a:ext cx="15070500" cy="1785600"/>
          </a:xfrm>
          <a:prstGeom prst="rect">
            <a:avLst/>
          </a:prstGeom>
          <a:noFill/>
          <a:ln>
            <a:noFill/>
          </a:ln>
        </p:spPr>
        <p:txBody>
          <a:bodyPr anchorCtr="0" anchor="t" bIns="0" lIns="0" spcFirstLastPara="1" rIns="0" wrap="square" tIns="0">
            <a:spAutoFit/>
          </a:bodyPr>
          <a:lstStyle/>
          <a:p>
            <a:pPr indent="-412750" lvl="0" marL="457200" rtl="0" algn="l">
              <a:spcBef>
                <a:spcPts val="0"/>
              </a:spcBef>
              <a:spcAft>
                <a:spcPts val="0"/>
              </a:spcAft>
              <a:buClr>
                <a:schemeClr val="dk1"/>
              </a:buClr>
              <a:buSzPts val="2900"/>
              <a:buChar char="●"/>
            </a:pPr>
            <a:r>
              <a:rPr lang="en-IN" sz="2900">
                <a:solidFill>
                  <a:schemeClr val="dk1"/>
                </a:solidFill>
              </a:rPr>
              <a:t>The research has successfully moved from broad "AI Security" to a </a:t>
            </a:r>
            <a:r>
              <a:rPr b="1" lang="en-IN" sz="2900">
                <a:solidFill>
                  <a:schemeClr val="dk1"/>
                </a:solidFill>
              </a:rPr>
              <a:t>targeted, data-backed approach for Lateral Movement</a:t>
            </a:r>
            <a:r>
              <a:rPr lang="en-IN" sz="2900">
                <a:solidFill>
                  <a:schemeClr val="dk1"/>
                </a:solidFill>
              </a:rPr>
              <a:t>.</a:t>
            </a:r>
            <a:endParaRPr sz="2900">
              <a:solidFill>
                <a:schemeClr val="dk1"/>
              </a:solidFill>
            </a:endParaRPr>
          </a:p>
          <a:p>
            <a:pPr indent="-412750" lvl="0" marL="457200" rtl="0" algn="l">
              <a:spcBef>
                <a:spcPts val="0"/>
              </a:spcBef>
              <a:spcAft>
                <a:spcPts val="0"/>
              </a:spcAft>
              <a:buClr>
                <a:schemeClr val="dk1"/>
              </a:buClr>
              <a:buSzPts val="2900"/>
              <a:buChar char="●"/>
            </a:pPr>
            <a:r>
              <a:rPr lang="en-IN" sz="2900">
                <a:solidFill>
                  <a:schemeClr val="dk1"/>
                </a:solidFill>
              </a:rPr>
              <a:t>The selection of </a:t>
            </a:r>
            <a:r>
              <a:rPr b="1" lang="en-IN" sz="2900">
                <a:solidFill>
                  <a:schemeClr val="dk1"/>
                </a:solidFill>
              </a:rPr>
              <a:t>Automotive Manufacturing</a:t>
            </a:r>
            <a:r>
              <a:rPr lang="en-IN" sz="2900">
                <a:solidFill>
                  <a:schemeClr val="dk1"/>
                </a:solidFill>
              </a:rPr>
              <a:t> provides a realistic, high-stakes testbed.</a:t>
            </a:r>
            <a:endParaRPr sz="2900">
              <a:solidFill>
                <a:schemeClr val="dk1"/>
              </a:solidFill>
            </a:endParaRPr>
          </a:p>
          <a:p>
            <a:pPr indent="-412750" lvl="0" marL="457200" rtl="0" algn="l">
              <a:spcBef>
                <a:spcPts val="0"/>
              </a:spcBef>
              <a:spcAft>
                <a:spcPts val="0"/>
              </a:spcAft>
              <a:buClr>
                <a:schemeClr val="dk1"/>
              </a:buClr>
              <a:buSzPts val="2900"/>
              <a:buChar char="●"/>
            </a:pPr>
            <a:r>
              <a:rPr lang="en-IN" sz="2900">
                <a:solidFill>
                  <a:schemeClr val="dk1"/>
                </a:solidFill>
              </a:rPr>
              <a:t>The next milestone is the </a:t>
            </a:r>
            <a:r>
              <a:rPr b="1" lang="en-IN" sz="2900">
                <a:solidFill>
                  <a:schemeClr val="dk1"/>
                </a:solidFill>
              </a:rPr>
              <a:t>Trained SLM prototype</a:t>
            </a:r>
            <a:r>
              <a:rPr lang="en-IN" sz="2900">
                <a:solidFill>
                  <a:schemeClr val="dk1"/>
                </a:solidFill>
              </a:rPr>
              <a:t> by next review.</a:t>
            </a:r>
            <a:endParaRPr sz="5400"/>
          </a:p>
        </p:txBody>
      </p:sp>
      <p:sp>
        <p:nvSpPr>
          <p:cNvPr id="237" name="Google Shape;237;p10"/>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0"/>
          <p:cNvSpPr/>
          <p:nvPr/>
        </p:nvSpPr>
        <p:spPr>
          <a:xfrm rot="10800000">
            <a:off x="-2059222" y="-798391"/>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243" name="Shape 243"/>
        <p:cNvGrpSpPr/>
        <p:nvPr/>
      </p:nvGrpSpPr>
      <p:grpSpPr>
        <a:xfrm>
          <a:off x="0" y="0"/>
          <a:ext cx="0" cy="0"/>
          <a:chOff x="0" y="0"/>
          <a:chExt cx="0" cy="0"/>
        </a:xfrm>
      </p:grpSpPr>
      <p:sp>
        <p:nvSpPr>
          <p:cNvPr id="244" name="Google Shape;244;p11"/>
          <p:cNvSpPr txBox="1"/>
          <p:nvPr/>
        </p:nvSpPr>
        <p:spPr>
          <a:xfrm>
            <a:off x="1994995" y="140918"/>
            <a:ext cx="6825416" cy="947760"/>
          </a:xfrm>
          <a:prstGeom prst="rect">
            <a:avLst/>
          </a:prstGeom>
          <a:noFill/>
          <a:ln>
            <a:noFill/>
          </a:ln>
        </p:spPr>
        <p:txBody>
          <a:bodyPr anchorCtr="0" anchor="t" bIns="0" lIns="0" spcFirstLastPara="1" rIns="0" wrap="square" tIns="0">
            <a:spAutoFit/>
          </a:bodyPr>
          <a:lstStyle/>
          <a:p>
            <a:pPr indent="0" lvl="0" marL="0" marR="0" rtl="0" algn="l">
              <a:lnSpc>
                <a:spcPct val="138005"/>
              </a:lnSpc>
              <a:spcBef>
                <a:spcPts val="0"/>
              </a:spcBef>
              <a:spcAft>
                <a:spcPts val="0"/>
              </a:spcAft>
              <a:buClr>
                <a:srgbClr val="000000"/>
              </a:buClr>
              <a:buSzPts val="5765"/>
              <a:buFont typeface="Arial"/>
              <a:buNone/>
            </a:pPr>
            <a:r>
              <a:rPr b="1" i="0" lang="en-IN" sz="5765" u="none" cap="none" strike="noStrike">
                <a:solidFill>
                  <a:srgbClr val="231F20"/>
                </a:solidFill>
                <a:latin typeface="Arial Rounded"/>
                <a:ea typeface="Arial Rounded"/>
                <a:cs typeface="Arial Rounded"/>
                <a:sym typeface="Arial Rounded"/>
              </a:rPr>
              <a:t>References </a:t>
            </a:r>
            <a:endParaRPr b="0" i="0" sz="1400" u="none" cap="none" strike="noStrike">
              <a:solidFill>
                <a:srgbClr val="000000"/>
              </a:solidFill>
              <a:latin typeface="Arial"/>
              <a:ea typeface="Arial"/>
              <a:cs typeface="Arial"/>
              <a:sym typeface="Arial"/>
            </a:endParaRPr>
          </a:p>
        </p:txBody>
      </p:sp>
      <p:sp>
        <p:nvSpPr>
          <p:cNvPr id="245" name="Google Shape;245;p11"/>
          <p:cNvSpPr/>
          <p:nvPr/>
        </p:nvSpPr>
        <p:spPr>
          <a:xfrm>
            <a:off x="16322124" y="7754894"/>
            <a:ext cx="4118443" cy="3654183"/>
          </a:xfrm>
          <a:custGeom>
            <a:rect b="b" l="l" r="r" t="t"/>
            <a:pathLst>
              <a:path extrusionOk="0" h="3654183" w="4118443">
                <a:moveTo>
                  <a:pt x="0" y="0"/>
                </a:moveTo>
                <a:lnTo>
                  <a:pt x="4118443" y="0"/>
                </a:lnTo>
                <a:lnTo>
                  <a:pt x="4118443" y="3654183"/>
                </a:lnTo>
                <a:lnTo>
                  <a:pt x="0" y="36541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1"/>
          <p:cNvSpPr/>
          <p:nvPr/>
        </p:nvSpPr>
        <p:spPr>
          <a:xfrm rot="10800000">
            <a:off x="-2059222" y="-798391"/>
            <a:ext cx="4118443" cy="3654183"/>
          </a:xfrm>
          <a:custGeom>
            <a:rect b="b" l="l" r="r" t="t"/>
            <a:pathLst>
              <a:path extrusionOk="0" h="3654183" w="4118443">
                <a:moveTo>
                  <a:pt x="4118444" y="3654182"/>
                </a:moveTo>
                <a:lnTo>
                  <a:pt x="0" y="3654182"/>
                </a:lnTo>
                <a:lnTo>
                  <a:pt x="0" y="0"/>
                </a:lnTo>
                <a:lnTo>
                  <a:pt x="4118444" y="0"/>
                </a:lnTo>
                <a:lnTo>
                  <a:pt x="4118444" y="3654182"/>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1"/>
          <p:cNvSpPr txBox="1"/>
          <p:nvPr/>
        </p:nvSpPr>
        <p:spPr>
          <a:xfrm>
            <a:off x="1156591" y="940248"/>
            <a:ext cx="16611600" cy="9158400"/>
          </a:xfrm>
          <a:prstGeom prst="rect">
            <a:avLst/>
          </a:prstGeom>
          <a:noFill/>
          <a:ln>
            <a:noFill/>
          </a:ln>
        </p:spPr>
        <p:txBody>
          <a:bodyPr anchorCtr="0" anchor="t" bIns="45700" lIns="91425" spcFirstLastPara="1" rIns="91425" wrap="square" tIns="45700">
            <a:spAutoFit/>
          </a:bodyPr>
          <a:lstStyle/>
          <a:p>
            <a:pPr indent="-450850" lvl="0" marL="457200" marR="0" rtl="0" algn="l">
              <a:lnSpc>
                <a:spcPct val="100000"/>
              </a:lnSpc>
              <a:spcBef>
                <a:spcPts val="0"/>
              </a:spcBef>
              <a:spcAft>
                <a:spcPts val="0"/>
              </a:spcAft>
              <a:buClr>
                <a:srgbClr val="000000"/>
              </a:buClr>
              <a:buSzPts val="1900"/>
              <a:buFont typeface="Arial"/>
              <a:buAutoNum type="arabicPeriod"/>
            </a:pPr>
            <a:r>
              <a:rPr lang="en-IN" sz="1900"/>
              <a:t>Pérez-Gomariz, M., et al. (2025). LM-Hunter: An NLP-Powered Graph Method for Detecting Adversary Lateral Movements in APT Cyber-Attacks at Scale. Computer Networks, 262, pp. 104521-104535.</a:t>
            </a:r>
            <a:endParaRPr sz="1900"/>
          </a:p>
          <a:p>
            <a:pPr indent="-450850" lvl="0" marL="457200" marR="0" rtl="0" algn="l">
              <a:lnSpc>
                <a:spcPct val="100000"/>
              </a:lnSpc>
              <a:spcBef>
                <a:spcPts val="0"/>
              </a:spcBef>
              <a:spcAft>
                <a:spcPts val="0"/>
              </a:spcAft>
              <a:buClr>
                <a:srgbClr val="000000"/>
              </a:buClr>
              <a:buSzPts val="1900"/>
              <a:buFont typeface="Arial"/>
              <a:buAutoNum type="arabicPeriod"/>
            </a:pPr>
            <a:r>
              <a:rPr lang="en-IN" sz="1900"/>
              <a:t>Rigaki, M., et al. (2025). Building Adaptive and Transparent Cyber Agents with Local Language Models. Expert Systems with Applications, 262, pp. 125123-125140.</a:t>
            </a:r>
            <a:endParaRPr sz="1900"/>
          </a:p>
          <a:p>
            <a:pPr indent="-450850" lvl="0" marL="457200" marR="0" rtl="0" algn="l">
              <a:lnSpc>
                <a:spcPct val="100000"/>
              </a:lnSpc>
              <a:spcBef>
                <a:spcPts val="0"/>
              </a:spcBef>
              <a:spcAft>
                <a:spcPts val="0"/>
              </a:spcAft>
              <a:buClr>
                <a:srgbClr val="000000"/>
              </a:buClr>
              <a:buSzPts val="1900"/>
              <a:buFont typeface="Arial"/>
              <a:buAutoNum type="arabicPeriod"/>
            </a:pPr>
            <a:r>
              <a:rPr lang="en-IN" sz="1900"/>
              <a:t>Ferrag, M. A., et al. (2023). Revolutionizing Cyber Threat Detection with Large Language Models: A Privacy-Preserving BERT-Based Lightweight Model for IoT/IIoT Devices. arXiv preprint, 2306.14263, pp. 1-15.</a:t>
            </a:r>
            <a:endParaRPr sz="1900"/>
          </a:p>
          <a:p>
            <a:pPr indent="-450850" lvl="0" marL="457200" marR="0" rtl="0" algn="l">
              <a:lnSpc>
                <a:spcPct val="100000"/>
              </a:lnSpc>
              <a:spcBef>
                <a:spcPts val="0"/>
              </a:spcBef>
              <a:spcAft>
                <a:spcPts val="0"/>
              </a:spcAft>
              <a:buClr>
                <a:srgbClr val="000000"/>
              </a:buClr>
              <a:buSzPts val="1900"/>
              <a:buFont typeface="Arial"/>
              <a:buAutoNum type="arabicPeriod"/>
            </a:pPr>
            <a:r>
              <a:rPr lang="en-IN" sz="1900"/>
              <a:t>Ameri, K., et al. (2022). SecureBERT: A Domain-Specific Language Model for Cybersecurity. arXiv preprint, 2204.02685, pp. 1-13</a:t>
            </a:r>
            <a:endParaRPr sz="1900"/>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SotaTek. (2024). The Cybersecurity Imperative in Smart Manufacturing 2024. </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IIoT World. (2024). How can AI be used to improve cybersecurity in manufacturing? Manufacturing cybersecurity insights.</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Utthunga. (2025). AI-Driven Threat Detection: The Future of OT Cybersecurity Solutions. Operational technology security research.</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Lumen Technologies. (2025). Manufacturing security trends and the impact of artificial intelligence. Security trends report.</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PureCyber. (2024). Rising Cyber Risks in Manufacturing: AI's Impact and Mitigation Strategies. Cybersecurity analysis.</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Sezgin, A., et al. (2023). AID4I: An Intrusion Detection Framework for Industrial Internet of Things Using Automated Machine Learning. Computers, Materials &amp; Continua, 76(2), pp. 2121-2143.</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BytePlus. (2025). What adversarial attacks means for the future of manufacturing? Manufacturing security analysis.</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IJPREMS. (2024). Enhancing Cybersecurity in Industry 4.0: A Machine Learning Approach. Industrial cybersecurity research.</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Kus, D., et al. (2022). A False Sense of Security? Revisiting the State of Machine Learning-Based Industrial Intrusion Detection. COMSYS Research.</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IGI Global. (2025). Machine Learning and Federated Learning in Industrial Cybersecurity. Academic research publication.</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ArXiv. (2024). Applications of Federated Learning in Manufacturing. Manufacturing technology research.</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Verma, P., Breslin, J. G., &amp; O'Shea, D. (2022). FLDID: Federated Learning Enabled Deep Intrusion Detection in Smart Manufacturing Industries. Sensors, 22(22), pp. 8974.</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RTInsights. (2023). Digital Twins Offer a Whole New Layer of Security, Study Suggests. Technology security insights.</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Illume. (2025). Cybersecurity in Smart Manufacturing: The Next Big Challenge. Industrial cybersecurity analysis.</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Trout Software. (2025). Zero Trust for Industrial Networks. Network security architecture.</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Fortinet, (2024). 2024 State of Operational Technology and Cybersecurity Report.</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Sandeep Reddy Gudimetla. (2024). Zero Trust Security Model: Implementation Strategies And Effectiveness Analysis. International Research Journal of Engineering and Technology. 11 (5), pp. 1186-1194.</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Mostafa Ibrahim. (2025). Enhancing cybersecurity with explainable AI. W&amp;B Fully Connected Community Post</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Melania Watson. (2025). Manufacturing sector hit hardest by ransomware in 2024 Q4. SecurityBrief Canada</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Dragos. (2025). Dragos Industrial Ransomware Analysis: Q4 2024. </a:t>
            </a:r>
            <a:endParaRPr b="0" i="0" sz="1300" u="none" cap="none" strike="noStrike">
              <a:solidFill>
                <a:srgbClr val="000000"/>
              </a:solidFill>
              <a:latin typeface="Arial"/>
              <a:ea typeface="Arial"/>
              <a:cs typeface="Arial"/>
              <a:sym typeface="Arial"/>
            </a:endParaRPr>
          </a:p>
          <a:p>
            <a:pPr indent="-450850" lvl="0" marL="457200" marR="0" rtl="0" algn="l">
              <a:lnSpc>
                <a:spcPct val="100000"/>
              </a:lnSpc>
              <a:spcBef>
                <a:spcPts val="0"/>
              </a:spcBef>
              <a:spcAft>
                <a:spcPts val="0"/>
              </a:spcAft>
              <a:buClr>
                <a:srgbClr val="000000"/>
              </a:buClr>
              <a:buSzPts val="1900"/>
              <a:buFont typeface="Arial"/>
              <a:buAutoNum type="arabicPeriod"/>
            </a:pPr>
            <a:r>
              <a:rPr b="0" i="0" lang="en-IN" sz="1900" u="none" cap="none" strike="noStrike">
                <a:solidFill>
                  <a:srgbClr val="000000"/>
                </a:solidFill>
                <a:latin typeface="Arial"/>
                <a:ea typeface="Arial"/>
                <a:cs typeface="Arial"/>
                <a:sym typeface="Arial"/>
              </a:rPr>
              <a:t>West Oahu Hawaii. (2025). The Imperative of Post-Quantum Cryptography in Industrial Control Systems. ICS security research.</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2"/>
          <p:cNvSpPr txBox="1"/>
          <p:nvPr/>
        </p:nvSpPr>
        <p:spPr>
          <a:xfrm>
            <a:off x="3463770" y="3793552"/>
            <a:ext cx="5435861" cy="1169872"/>
          </a:xfrm>
          <a:prstGeom prst="rect">
            <a:avLst/>
          </a:prstGeom>
          <a:noFill/>
          <a:ln>
            <a:noFill/>
          </a:ln>
        </p:spPr>
        <p:txBody>
          <a:bodyPr anchorCtr="0" anchor="t" bIns="0" lIns="0" spcFirstLastPara="1" rIns="0" wrap="square" tIns="0">
            <a:spAutoFit/>
          </a:bodyPr>
          <a:lstStyle/>
          <a:p>
            <a:pPr indent="0" lvl="0" marL="0" marR="0" rtl="0" algn="ctr">
              <a:lnSpc>
                <a:spcPct val="93002"/>
              </a:lnSpc>
              <a:spcBef>
                <a:spcPts val="0"/>
              </a:spcBef>
              <a:spcAft>
                <a:spcPts val="0"/>
              </a:spcAft>
              <a:buClr>
                <a:srgbClr val="000000"/>
              </a:buClr>
              <a:buSzPts val="8174"/>
              <a:buFont typeface="Arial"/>
              <a:buNone/>
            </a:pPr>
            <a:r>
              <a:rPr b="1" i="0" lang="en-IN" sz="8174" u="none" cap="none" strike="noStrike">
                <a:solidFill>
                  <a:srgbClr val="231F20"/>
                </a:solidFill>
                <a:latin typeface="Arial Rounded"/>
                <a:ea typeface="Arial Rounded"/>
                <a:cs typeface="Arial Rounded"/>
                <a:sym typeface="Arial Rounded"/>
              </a:rPr>
              <a:t>QnA</a:t>
            </a:r>
            <a:endParaRPr b="0" i="0" sz="1400" u="none" cap="none" strike="noStrike">
              <a:solidFill>
                <a:srgbClr val="000000"/>
              </a:solidFill>
              <a:latin typeface="Arial"/>
              <a:ea typeface="Arial"/>
              <a:cs typeface="Arial"/>
              <a:sym typeface="Arial"/>
            </a:endParaRPr>
          </a:p>
        </p:txBody>
      </p:sp>
      <p:grpSp>
        <p:nvGrpSpPr>
          <p:cNvPr id="254" name="Google Shape;254;p12"/>
          <p:cNvGrpSpPr/>
          <p:nvPr/>
        </p:nvGrpSpPr>
        <p:grpSpPr>
          <a:xfrm rot="826432">
            <a:off x="-18344493" y="-3638449"/>
            <a:ext cx="21026341" cy="12904251"/>
            <a:chOff x="0" y="-19050"/>
            <a:chExt cx="5537802" cy="3398651"/>
          </a:xfrm>
        </p:grpSpPr>
        <p:sp>
          <p:nvSpPr>
            <p:cNvPr id="255" name="Google Shape;255;p12"/>
            <p:cNvSpPr/>
            <p:nvPr/>
          </p:nvSpPr>
          <p:spPr>
            <a:xfrm>
              <a:off x="0" y="0"/>
              <a:ext cx="5537802" cy="3379601"/>
            </a:xfrm>
            <a:custGeom>
              <a:rect b="b" l="l" r="r" t="t"/>
              <a:pathLst>
                <a:path extrusionOk="0" h="3379601" w="5537802">
                  <a:moveTo>
                    <a:pt x="0" y="0"/>
                  </a:moveTo>
                  <a:lnTo>
                    <a:pt x="5537802" y="0"/>
                  </a:lnTo>
                  <a:lnTo>
                    <a:pt x="5537802" y="3379601"/>
                  </a:lnTo>
                  <a:lnTo>
                    <a:pt x="0" y="3379601"/>
                  </a:lnTo>
                  <a:close/>
                </a:path>
              </a:pathLst>
            </a:custGeom>
            <a:solidFill>
              <a:srgbClr val="17365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2"/>
            <p:cNvSpPr txBox="1"/>
            <p:nvPr/>
          </p:nvSpPr>
          <p:spPr>
            <a:xfrm>
              <a:off x="0" y="-19050"/>
              <a:ext cx="5537802" cy="3398651"/>
            </a:xfrm>
            <a:prstGeom prst="rect">
              <a:avLst/>
            </a:prstGeom>
            <a:solidFill>
              <a:srgbClr val="17365D"/>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7" name="Google Shape;257;p12"/>
          <p:cNvGrpSpPr/>
          <p:nvPr/>
        </p:nvGrpSpPr>
        <p:grpSpPr>
          <a:xfrm rot="514787">
            <a:off x="10490592" y="3024167"/>
            <a:ext cx="313833" cy="8554679"/>
            <a:chOff x="0" y="-19050"/>
            <a:chExt cx="82656" cy="2253084"/>
          </a:xfrm>
        </p:grpSpPr>
        <p:sp>
          <p:nvSpPr>
            <p:cNvPr id="258" name="Google Shape;258;p12"/>
            <p:cNvSpPr/>
            <p:nvPr/>
          </p:nvSpPr>
          <p:spPr>
            <a:xfrm>
              <a:off x="0" y="0"/>
              <a:ext cx="82656" cy="2234034"/>
            </a:xfrm>
            <a:custGeom>
              <a:rect b="b" l="l" r="r" t="t"/>
              <a:pathLst>
                <a:path extrusionOk="0" h="2234034" w="82656">
                  <a:moveTo>
                    <a:pt x="0" y="0"/>
                  </a:moveTo>
                  <a:lnTo>
                    <a:pt x="82656" y="0"/>
                  </a:lnTo>
                  <a:lnTo>
                    <a:pt x="82656" y="2234034"/>
                  </a:lnTo>
                  <a:lnTo>
                    <a:pt x="0" y="2234034"/>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2"/>
            <p:cNvSpPr txBox="1"/>
            <p:nvPr/>
          </p:nvSpPr>
          <p:spPr>
            <a:xfrm>
              <a:off x="0" y="-19050"/>
              <a:ext cx="82656" cy="2253084"/>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0" name="Google Shape;260;p12"/>
          <p:cNvGrpSpPr/>
          <p:nvPr/>
        </p:nvGrpSpPr>
        <p:grpSpPr>
          <a:xfrm rot="773821">
            <a:off x="3749644" y="-4905431"/>
            <a:ext cx="313833" cy="8554679"/>
            <a:chOff x="0" y="-19050"/>
            <a:chExt cx="82656" cy="2253084"/>
          </a:xfrm>
        </p:grpSpPr>
        <p:sp>
          <p:nvSpPr>
            <p:cNvPr id="261" name="Google Shape;261;p12"/>
            <p:cNvSpPr/>
            <p:nvPr/>
          </p:nvSpPr>
          <p:spPr>
            <a:xfrm>
              <a:off x="0" y="0"/>
              <a:ext cx="82656" cy="2234034"/>
            </a:xfrm>
            <a:custGeom>
              <a:rect b="b" l="l" r="r" t="t"/>
              <a:pathLst>
                <a:path extrusionOk="0" h="2234034" w="82656">
                  <a:moveTo>
                    <a:pt x="0" y="0"/>
                  </a:moveTo>
                  <a:lnTo>
                    <a:pt x="82656" y="0"/>
                  </a:lnTo>
                  <a:lnTo>
                    <a:pt x="82656" y="2234034"/>
                  </a:lnTo>
                  <a:lnTo>
                    <a:pt x="0" y="2234034"/>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2"/>
            <p:cNvSpPr txBox="1"/>
            <p:nvPr/>
          </p:nvSpPr>
          <p:spPr>
            <a:xfrm>
              <a:off x="0" y="-19050"/>
              <a:ext cx="82656" cy="2253084"/>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Circuit board" id="263" name="Google Shape;263;p12"/>
          <p:cNvPicPr preferRelativeResize="0"/>
          <p:nvPr/>
        </p:nvPicPr>
        <p:blipFill rotWithShape="1">
          <a:blip r:embed="rId3">
            <a:alphaModFix/>
          </a:blip>
          <a:srcRect b="0" l="25823" r="25823" t="0"/>
          <a:stretch/>
        </p:blipFill>
        <p:spPr>
          <a:xfrm rot="535668">
            <a:off x="11134363" y="-371478"/>
            <a:ext cx="8391568" cy="1157545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3"/>
          <p:cNvSpPr txBox="1"/>
          <p:nvPr/>
        </p:nvSpPr>
        <p:spPr>
          <a:xfrm>
            <a:off x="3463770" y="3793552"/>
            <a:ext cx="5435861" cy="2339743"/>
          </a:xfrm>
          <a:prstGeom prst="rect">
            <a:avLst/>
          </a:prstGeom>
          <a:noFill/>
          <a:ln>
            <a:noFill/>
          </a:ln>
        </p:spPr>
        <p:txBody>
          <a:bodyPr anchorCtr="0" anchor="t" bIns="0" lIns="0" spcFirstLastPara="1" rIns="0" wrap="square" tIns="0">
            <a:spAutoFit/>
          </a:bodyPr>
          <a:lstStyle/>
          <a:p>
            <a:pPr indent="0" lvl="0" marL="0" marR="0" rtl="0" algn="ctr">
              <a:lnSpc>
                <a:spcPct val="93002"/>
              </a:lnSpc>
              <a:spcBef>
                <a:spcPts val="0"/>
              </a:spcBef>
              <a:spcAft>
                <a:spcPts val="0"/>
              </a:spcAft>
              <a:buClr>
                <a:srgbClr val="000000"/>
              </a:buClr>
              <a:buSzPts val="8174"/>
              <a:buFont typeface="Arial"/>
              <a:buNone/>
            </a:pPr>
            <a:r>
              <a:rPr b="1" i="0" lang="en-IN" sz="8174" u="none" cap="none" strike="noStrike">
                <a:solidFill>
                  <a:srgbClr val="231F20"/>
                </a:solidFill>
                <a:latin typeface="Arial Rounded"/>
                <a:ea typeface="Arial Rounded"/>
                <a:cs typeface="Arial Rounded"/>
                <a:sym typeface="Arial Rounded"/>
              </a:rPr>
              <a:t>Thank </a:t>
            </a:r>
            <a:endParaRPr b="0" i="0" sz="1400" u="none" cap="none" strike="noStrike">
              <a:solidFill>
                <a:srgbClr val="000000"/>
              </a:solidFill>
              <a:latin typeface="Arial"/>
              <a:ea typeface="Arial"/>
              <a:cs typeface="Arial"/>
              <a:sym typeface="Arial"/>
            </a:endParaRPr>
          </a:p>
          <a:p>
            <a:pPr indent="0" lvl="0" marL="0" marR="0" rtl="0" algn="ctr">
              <a:lnSpc>
                <a:spcPct val="93002"/>
              </a:lnSpc>
              <a:spcBef>
                <a:spcPts val="0"/>
              </a:spcBef>
              <a:spcAft>
                <a:spcPts val="0"/>
              </a:spcAft>
              <a:buClr>
                <a:srgbClr val="000000"/>
              </a:buClr>
              <a:buSzPts val="8174"/>
              <a:buFont typeface="Arial"/>
              <a:buNone/>
            </a:pPr>
            <a:r>
              <a:rPr b="1" i="0" lang="en-IN" sz="8174" u="none" cap="none" strike="noStrike">
                <a:solidFill>
                  <a:srgbClr val="231F20"/>
                </a:solidFill>
                <a:latin typeface="Arial Rounded"/>
                <a:ea typeface="Arial Rounded"/>
                <a:cs typeface="Arial Rounded"/>
                <a:sym typeface="Arial Rounded"/>
              </a:rPr>
              <a:t>You</a:t>
            </a:r>
            <a:endParaRPr b="0" i="0" sz="1400" u="none" cap="none" strike="noStrike">
              <a:solidFill>
                <a:srgbClr val="000000"/>
              </a:solidFill>
              <a:latin typeface="Arial"/>
              <a:ea typeface="Arial"/>
              <a:cs typeface="Arial"/>
              <a:sym typeface="Arial"/>
            </a:endParaRPr>
          </a:p>
        </p:txBody>
      </p:sp>
      <p:grpSp>
        <p:nvGrpSpPr>
          <p:cNvPr id="270" name="Google Shape;270;p13"/>
          <p:cNvGrpSpPr/>
          <p:nvPr/>
        </p:nvGrpSpPr>
        <p:grpSpPr>
          <a:xfrm rot="826432">
            <a:off x="-18344493" y="-3638449"/>
            <a:ext cx="21026341" cy="12904251"/>
            <a:chOff x="0" y="-19050"/>
            <a:chExt cx="5537802" cy="3398651"/>
          </a:xfrm>
        </p:grpSpPr>
        <p:sp>
          <p:nvSpPr>
            <p:cNvPr id="271" name="Google Shape;271;p13"/>
            <p:cNvSpPr/>
            <p:nvPr/>
          </p:nvSpPr>
          <p:spPr>
            <a:xfrm>
              <a:off x="0" y="0"/>
              <a:ext cx="5537802" cy="3379601"/>
            </a:xfrm>
            <a:custGeom>
              <a:rect b="b" l="l" r="r" t="t"/>
              <a:pathLst>
                <a:path extrusionOk="0" h="3379601" w="5537802">
                  <a:moveTo>
                    <a:pt x="0" y="0"/>
                  </a:moveTo>
                  <a:lnTo>
                    <a:pt x="5537802" y="0"/>
                  </a:lnTo>
                  <a:lnTo>
                    <a:pt x="5537802" y="3379601"/>
                  </a:lnTo>
                  <a:lnTo>
                    <a:pt x="0" y="3379601"/>
                  </a:lnTo>
                  <a:close/>
                </a:path>
              </a:pathLst>
            </a:custGeom>
            <a:solidFill>
              <a:srgbClr val="17365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3"/>
            <p:cNvSpPr txBox="1"/>
            <p:nvPr/>
          </p:nvSpPr>
          <p:spPr>
            <a:xfrm>
              <a:off x="0" y="-19050"/>
              <a:ext cx="5537802" cy="3398651"/>
            </a:xfrm>
            <a:prstGeom prst="rect">
              <a:avLst/>
            </a:prstGeom>
            <a:solidFill>
              <a:srgbClr val="17365D"/>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3" name="Google Shape;273;p13"/>
          <p:cNvGrpSpPr/>
          <p:nvPr/>
        </p:nvGrpSpPr>
        <p:grpSpPr>
          <a:xfrm rot="514787">
            <a:off x="10490592" y="3024167"/>
            <a:ext cx="313833" cy="8554679"/>
            <a:chOff x="0" y="-19050"/>
            <a:chExt cx="82656" cy="2253084"/>
          </a:xfrm>
        </p:grpSpPr>
        <p:sp>
          <p:nvSpPr>
            <p:cNvPr id="274" name="Google Shape;274;p13"/>
            <p:cNvSpPr/>
            <p:nvPr/>
          </p:nvSpPr>
          <p:spPr>
            <a:xfrm>
              <a:off x="0" y="0"/>
              <a:ext cx="82656" cy="2234034"/>
            </a:xfrm>
            <a:custGeom>
              <a:rect b="b" l="l" r="r" t="t"/>
              <a:pathLst>
                <a:path extrusionOk="0" h="2234034" w="82656">
                  <a:moveTo>
                    <a:pt x="0" y="0"/>
                  </a:moveTo>
                  <a:lnTo>
                    <a:pt x="82656" y="0"/>
                  </a:lnTo>
                  <a:lnTo>
                    <a:pt x="82656" y="2234034"/>
                  </a:lnTo>
                  <a:lnTo>
                    <a:pt x="0" y="2234034"/>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3"/>
            <p:cNvSpPr txBox="1"/>
            <p:nvPr/>
          </p:nvSpPr>
          <p:spPr>
            <a:xfrm>
              <a:off x="0" y="-19050"/>
              <a:ext cx="82656" cy="2253084"/>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6" name="Google Shape;276;p13"/>
          <p:cNvGrpSpPr/>
          <p:nvPr/>
        </p:nvGrpSpPr>
        <p:grpSpPr>
          <a:xfrm rot="773821">
            <a:off x="3749644" y="-4905431"/>
            <a:ext cx="313833" cy="8554679"/>
            <a:chOff x="0" y="-19050"/>
            <a:chExt cx="82656" cy="2253084"/>
          </a:xfrm>
        </p:grpSpPr>
        <p:sp>
          <p:nvSpPr>
            <p:cNvPr id="277" name="Google Shape;277;p13"/>
            <p:cNvSpPr/>
            <p:nvPr/>
          </p:nvSpPr>
          <p:spPr>
            <a:xfrm>
              <a:off x="0" y="0"/>
              <a:ext cx="82656" cy="2234034"/>
            </a:xfrm>
            <a:custGeom>
              <a:rect b="b" l="l" r="r" t="t"/>
              <a:pathLst>
                <a:path extrusionOk="0" h="2234034" w="82656">
                  <a:moveTo>
                    <a:pt x="0" y="0"/>
                  </a:moveTo>
                  <a:lnTo>
                    <a:pt x="82656" y="0"/>
                  </a:lnTo>
                  <a:lnTo>
                    <a:pt x="82656" y="2234034"/>
                  </a:lnTo>
                  <a:lnTo>
                    <a:pt x="0" y="2234034"/>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3"/>
            <p:cNvSpPr txBox="1"/>
            <p:nvPr/>
          </p:nvSpPr>
          <p:spPr>
            <a:xfrm>
              <a:off x="0" y="-19050"/>
              <a:ext cx="82656" cy="2253084"/>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Circuit board" id="279" name="Google Shape;279;p13"/>
          <p:cNvPicPr preferRelativeResize="0"/>
          <p:nvPr/>
        </p:nvPicPr>
        <p:blipFill rotWithShape="1">
          <a:blip r:embed="rId3">
            <a:alphaModFix/>
          </a:blip>
          <a:srcRect b="0" l="25823" r="25823" t="0"/>
          <a:stretch/>
        </p:blipFill>
        <p:spPr>
          <a:xfrm rot="535668">
            <a:off x="11134363" y="-371478"/>
            <a:ext cx="8391568" cy="1157545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grpSp>
        <p:nvGrpSpPr>
          <p:cNvPr id="285" name="Google Shape;285;p14"/>
          <p:cNvGrpSpPr/>
          <p:nvPr/>
        </p:nvGrpSpPr>
        <p:grpSpPr>
          <a:xfrm>
            <a:off x="633448" y="323215"/>
            <a:ext cx="17021103" cy="2863671"/>
            <a:chOff x="0" y="-19050"/>
            <a:chExt cx="4482924" cy="1064700"/>
          </a:xfrm>
        </p:grpSpPr>
        <p:sp>
          <p:nvSpPr>
            <p:cNvPr id="286" name="Google Shape;286;p14"/>
            <p:cNvSpPr/>
            <p:nvPr/>
          </p:nvSpPr>
          <p:spPr>
            <a:xfrm>
              <a:off x="0" y="0"/>
              <a:ext cx="4482924" cy="1045650"/>
            </a:xfrm>
            <a:custGeom>
              <a:rect b="b" l="l" r="r" t="t"/>
              <a:pathLst>
                <a:path extrusionOk="0" h="1045650" w="4482924">
                  <a:moveTo>
                    <a:pt x="0" y="0"/>
                  </a:moveTo>
                  <a:lnTo>
                    <a:pt x="4482924" y="0"/>
                  </a:lnTo>
                  <a:lnTo>
                    <a:pt x="4482924" y="1045650"/>
                  </a:lnTo>
                  <a:lnTo>
                    <a:pt x="0" y="1045650"/>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4"/>
            <p:cNvSpPr txBox="1"/>
            <p:nvPr/>
          </p:nvSpPr>
          <p:spPr>
            <a:xfrm>
              <a:off x="0" y="-19050"/>
              <a:ext cx="4482924" cy="1064700"/>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8" name="Google Shape;288;p14"/>
          <p:cNvSpPr/>
          <p:nvPr/>
        </p:nvSpPr>
        <p:spPr>
          <a:xfrm>
            <a:off x="616295" y="467381"/>
            <a:ext cx="16933642" cy="2719505"/>
          </a:xfrm>
          <a:custGeom>
            <a:rect b="b" l="l" r="r" t="t"/>
            <a:pathLst>
              <a:path extrusionOk="0" h="3949605" w="16933642">
                <a:moveTo>
                  <a:pt x="0" y="0"/>
                </a:moveTo>
                <a:lnTo>
                  <a:pt x="16933643" y="0"/>
                </a:lnTo>
                <a:lnTo>
                  <a:pt x="16933643" y="3949605"/>
                </a:lnTo>
                <a:lnTo>
                  <a:pt x="0" y="3949605"/>
                </a:lnTo>
                <a:lnTo>
                  <a:pt x="0" y="0"/>
                </a:lnTo>
                <a:close/>
              </a:path>
            </a:pathLst>
          </a:custGeom>
          <a:blipFill rotWithShape="1">
            <a:blip r:embed="rId3">
              <a:alphaModFix amt="18000"/>
            </a:blip>
            <a:stretch>
              <a:fillRect b="-92884" l="0" r="0" t="-928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4"/>
          <p:cNvSpPr txBox="1"/>
          <p:nvPr/>
        </p:nvSpPr>
        <p:spPr>
          <a:xfrm>
            <a:off x="4375955" y="1317753"/>
            <a:ext cx="9515774" cy="1770100"/>
          </a:xfrm>
          <a:prstGeom prst="rect">
            <a:avLst/>
          </a:prstGeom>
          <a:noFill/>
          <a:ln>
            <a:noFill/>
          </a:ln>
        </p:spPr>
        <p:txBody>
          <a:bodyPr anchorCtr="0" anchor="t" bIns="0" lIns="0" spcFirstLastPara="1" rIns="0" wrap="square" tIns="0">
            <a:spAutoFit/>
          </a:bodyPr>
          <a:lstStyle/>
          <a:p>
            <a:pPr indent="0" lvl="0" marL="0" marR="0" rtl="0" algn="ctr">
              <a:lnSpc>
                <a:spcPct val="137996"/>
              </a:lnSpc>
              <a:spcBef>
                <a:spcPts val="0"/>
              </a:spcBef>
              <a:spcAft>
                <a:spcPts val="0"/>
              </a:spcAft>
              <a:buClr>
                <a:srgbClr val="000000"/>
              </a:buClr>
              <a:buSzPts val="8335"/>
              <a:buFont typeface="Arial"/>
              <a:buNone/>
            </a:pPr>
            <a:r>
              <a:rPr b="1" i="0" lang="en-IN" sz="8335" u="none" cap="none" strike="noStrike">
                <a:solidFill>
                  <a:srgbClr val="FFFFFF"/>
                </a:solidFill>
                <a:latin typeface="Arial Rounded"/>
                <a:ea typeface="Arial Rounded"/>
                <a:cs typeface="Arial Rounded"/>
                <a:sym typeface="Arial Rounded"/>
              </a:rPr>
              <a:t>Backup Slides</a:t>
            </a:r>
            <a:endParaRPr b="0" i="0" sz="1400" u="none" cap="none" strike="noStrike">
              <a:solidFill>
                <a:srgbClr val="000000"/>
              </a:solidFill>
              <a:latin typeface="Arial"/>
              <a:ea typeface="Arial"/>
              <a:cs typeface="Arial"/>
              <a:sym typeface="Arial"/>
            </a:endParaRPr>
          </a:p>
        </p:txBody>
      </p:sp>
      <p:sp>
        <p:nvSpPr>
          <p:cNvPr id="290" name="Google Shape;290;p14"/>
          <p:cNvSpPr txBox="1"/>
          <p:nvPr/>
        </p:nvSpPr>
        <p:spPr>
          <a:xfrm>
            <a:off x="253218" y="3514038"/>
            <a:ext cx="13406400" cy="741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DataSets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General IoT Security Datasets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Canadian Institute for Cybersecurity IoT Dataset (CIC IoT-2023)</a:t>
            </a:r>
            <a:endParaRPr b="0" i="0" sz="1400" u="none" cap="none" strike="noStrike">
              <a:solidFill>
                <a:srgbClr val="000000"/>
              </a:solidFill>
              <a:latin typeface="Arial"/>
              <a:ea typeface="Arial"/>
              <a:cs typeface="Arial"/>
              <a:sym typeface="Arial"/>
            </a:endParaRPr>
          </a:p>
          <a:p>
            <a:pPr indent="0" lvl="4"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An extensive network of 105 real IoT devices under 33 attack types across seven categories (DDoS, DoS, Recon, Web-based, Brute Force, Spoofing, Mirai). Contains flow-based features from captured pcap files to support security analytics and intrusion detection research.</a:t>
            </a:r>
            <a:endParaRPr b="0" i="0" sz="1400" u="none" cap="none" strike="noStrike">
              <a:solidFill>
                <a:srgbClr val="000000"/>
              </a:solidFill>
              <a:latin typeface="Arial"/>
              <a:ea typeface="Arial"/>
              <a:cs typeface="Arial"/>
              <a:sym typeface="Arial"/>
            </a:endParaRPr>
          </a:p>
          <a:p>
            <a:pPr indent="0" lvl="4"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URL: </a:t>
            </a:r>
            <a:r>
              <a:rPr b="0" i="0" lang="en-IN" sz="1400" u="sng" cap="none" strike="noStrike">
                <a:solidFill>
                  <a:srgbClr val="000000"/>
                </a:solidFill>
                <a:latin typeface="Arial"/>
                <a:ea typeface="Arial"/>
                <a:cs typeface="Arial"/>
                <a:sym typeface="Arial"/>
                <a:hlinkClick r:id="rId4">
                  <a:extLst>
                    <a:ext uri="{A12FA001-AC4F-418D-AE19-62706E023703}">
                      <ahyp:hlinkClr val="tx"/>
                    </a:ext>
                  </a:extLst>
                </a:hlinkClick>
              </a:rPr>
              <a:t>https://www.unb.ca/cic/datasets/iotdataset-2023.html</a:t>
            </a:r>
            <a:endParaRPr/>
          </a:p>
          <a:p>
            <a:pPr indent="0" lvl="4" marL="0" marR="0" rtl="0" algn="l">
              <a:lnSpc>
                <a:spcPct val="100000"/>
              </a:lnSpc>
              <a:spcBef>
                <a:spcPts val="0"/>
              </a:spcBef>
              <a:spcAft>
                <a:spcPts val="0"/>
              </a:spcAft>
              <a:buClr>
                <a:srgbClr val="000000"/>
              </a:buClr>
              <a:buSzPts val="1400"/>
              <a:buFont typeface="Arial"/>
              <a:buNone/>
            </a:pPr>
            <a:r>
              <a:t/>
            </a:r>
            <a:endParaRPr/>
          </a:p>
          <a:p>
            <a:pPr indent="0" lvl="4" marL="0" marR="0" rtl="0" algn="l">
              <a:lnSpc>
                <a:spcPct val="100000"/>
              </a:lnSpc>
              <a:spcBef>
                <a:spcPts val="0"/>
              </a:spcBef>
              <a:spcAft>
                <a:spcPts val="0"/>
              </a:spcAft>
              <a:buClr>
                <a:srgbClr val="000000"/>
              </a:buClr>
              <a:buSzPts val="1400"/>
              <a:buFont typeface="Arial"/>
              <a:buNone/>
            </a:pPr>
            <a:r>
              <a:rPr b="1" lang="en-IN"/>
              <a:t>LM Dataset</a:t>
            </a:r>
            <a:endParaRPr b="1"/>
          </a:p>
          <a:p>
            <a:pPr indent="0" lvl="4" marL="0" marR="0" rtl="0" algn="l">
              <a:lnSpc>
                <a:spcPct val="100000"/>
              </a:lnSpc>
              <a:spcBef>
                <a:spcPts val="0"/>
              </a:spcBef>
              <a:spcAft>
                <a:spcPts val="0"/>
              </a:spcAft>
              <a:buClr>
                <a:srgbClr val="000000"/>
              </a:buClr>
              <a:buSzPts val="1400"/>
              <a:buFont typeface="Arial"/>
              <a:buNone/>
            </a:pPr>
            <a:r>
              <a:rPr lang="en-IN"/>
              <a:t>https://www.kaggle.com/datasets/ashrafahmedsadek/cybersecurity</a:t>
            </a:r>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IoT-23 Dataset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Twenty malware-infected and three benign IoT network captures (~21 GB pcaps, 8.8 GB flows) from Raspberry Pi devices executed with real IoT malware samples. Annotated flows support malware detection and network forensic analysis.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URL: </a:t>
            </a:r>
            <a:r>
              <a:rPr b="0" i="0" lang="en-IN" sz="1400" u="sng" cap="none" strike="noStrike">
                <a:solidFill>
                  <a:srgbClr val="000000"/>
                </a:solidFill>
                <a:latin typeface="Arial"/>
                <a:ea typeface="Arial"/>
                <a:cs typeface="Arial"/>
                <a:sym typeface="Arial"/>
                <a:hlinkClick r:id="rId5">
                  <a:extLst>
                    <a:ext uri="{A12FA001-AC4F-418D-AE19-62706E023703}">
                      <ahyp:hlinkClr val="tx"/>
                    </a:ext>
                  </a:extLst>
                </a:hlinkClick>
              </a:rPr>
              <a:t>https://www.stratosphereips.org/datasets-iot23</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DALHOUSIE NIMS LAB IoT ATTACK DATASET 2025-1</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The Dalhousie NIMS Lab IoT Attack Dataset 2025-1 was released on IEEE DataPort by the Networked Industrial Measurement Systems (NIMS) Lab at Dalhousie University. It provides a comprehensive, multi-modal capture of benign and malicious behaviors across a realistic heterogeneous IoT testbed, with the goal of supporting security testing, anomaly detection, forensics and machine-learning research in smart environments.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URL: </a:t>
            </a:r>
            <a:r>
              <a:rPr b="0" i="0" lang="en-IN" sz="1400" u="sng" cap="none" strike="noStrike">
                <a:solidFill>
                  <a:srgbClr val="000000"/>
                </a:solidFill>
                <a:latin typeface="Arial"/>
                <a:ea typeface="Arial"/>
                <a:cs typeface="Arial"/>
                <a:sym typeface="Arial"/>
                <a:hlinkClick r:id="rId6">
                  <a:extLst>
                    <a:ext uri="{A12FA001-AC4F-418D-AE19-62706E023703}">
                      <ahyp:hlinkClr val="tx"/>
                    </a:ext>
                  </a:extLst>
                </a:hlinkClick>
              </a:rPr>
              <a:t>https://ieee-dataport.org/documents/dalhousie-nims-lab-iot-attack-dataset-2025-1</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Smart Manufacturing &amp; Industrial Control System (ICS) Datasets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WADI (Water Distribution) Dataset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16 days of sensor and actuator data from a water distribution network (123 features) including 14 days normal operation and 2 days with 15 attack scenarios. Well-labeled for anomaly detection in CPS security.</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URL: </a:t>
            </a:r>
            <a:r>
              <a:rPr b="0" i="0" lang="en-IN" sz="1400" u="sng" cap="none" strike="noStrike">
                <a:solidFill>
                  <a:srgbClr val="000000"/>
                </a:solidFill>
                <a:latin typeface="Arial"/>
                <a:ea typeface="Arial"/>
                <a:cs typeface="Arial"/>
                <a:sym typeface="Arial"/>
                <a:hlinkClick r:id="rId7">
                  <a:extLst>
                    <a:ext uri="{A12FA001-AC4F-418D-AE19-62706E023703}">
                      <ahyp:hlinkClr val="tx"/>
                    </a:ext>
                  </a:extLst>
                </a:hlinkClick>
              </a:rPr>
              <a:t>https://itrust.sutd.edu.sg/itrust-labs_datasets/dataset_info/</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Four vibration and RPM sensor datasets from manufacturing testbeds (e.g., spindle, gearbox), annotated for normal, near-failure and failure states. Collected under varying operating conditions to support temporal anomaly detection and defect classification with transfer learning.</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URL: </a:t>
            </a:r>
            <a:r>
              <a:rPr b="0" i="0" lang="en-IN" sz="1400" u="sng" cap="none" strike="noStrike">
                <a:solidFill>
                  <a:srgbClr val="000000"/>
                </a:solidFill>
                <a:latin typeface="Arial"/>
                <a:ea typeface="Arial"/>
                <a:cs typeface="Arial"/>
                <a:sym typeface="Arial"/>
                <a:hlinkClick r:id="rId8">
                  <a:extLst>
                    <a:ext uri="{A12FA001-AC4F-418D-AE19-62706E023703}">
                      <ahyp:hlinkClr val="tx"/>
                    </a:ext>
                  </a:extLst>
                </a:hlinkClick>
              </a:rPr>
              <a:t>https://www.mdpi.com/1424-8220/23/1/486</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grpSp>
        <p:nvGrpSpPr>
          <p:cNvPr id="296" name="Google Shape;296;p15"/>
          <p:cNvGrpSpPr/>
          <p:nvPr/>
        </p:nvGrpSpPr>
        <p:grpSpPr>
          <a:xfrm>
            <a:off x="633448" y="323215"/>
            <a:ext cx="17021103" cy="2863671"/>
            <a:chOff x="0" y="-19050"/>
            <a:chExt cx="4482924" cy="1064700"/>
          </a:xfrm>
        </p:grpSpPr>
        <p:sp>
          <p:nvSpPr>
            <p:cNvPr id="297" name="Google Shape;297;p15"/>
            <p:cNvSpPr/>
            <p:nvPr/>
          </p:nvSpPr>
          <p:spPr>
            <a:xfrm>
              <a:off x="0" y="0"/>
              <a:ext cx="4482924" cy="1045650"/>
            </a:xfrm>
            <a:custGeom>
              <a:rect b="b" l="l" r="r" t="t"/>
              <a:pathLst>
                <a:path extrusionOk="0" h="1045650" w="4482924">
                  <a:moveTo>
                    <a:pt x="0" y="0"/>
                  </a:moveTo>
                  <a:lnTo>
                    <a:pt x="4482924" y="0"/>
                  </a:lnTo>
                  <a:lnTo>
                    <a:pt x="4482924" y="1045650"/>
                  </a:lnTo>
                  <a:lnTo>
                    <a:pt x="0" y="1045650"/>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5"/>
            <p:cNvSpPr txBox="1"/>
            <p:nvPr/>
          </p:nvSpPr>
          <p:spPr>
            <a:xfrm>
              <a:off x="0" y="-19050"/>
              <a:ext cx="4482924" cy="1064700"/>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9" name="Google Shape;299;p15"/>
          <p:cNvSpPr/>
          <p:nvPr/>
        </p:nvSpPr>
        <p:spPr>
          <a:xfrm>
            <a:off x="616295" y="467381"/>
            <a:ext cx="16933642" cy="2719505"/>
          </a:xfrm>
          <a:custGeom>
            <a:rect b="b" l="l" r="r" t="t"/>
            <a:pathLst>
              <a:path extrusionOk="0" h="3949605" w="16933642">
                <a:moveTo>
                  <a:pt x="0" y="0"/>
                </a:moveTo>
                <a:lnTo>
                  <a:pt x="16933643" y="0"/>
                </a:lnTo>
                <a:lnTo>
                  <a:pt x="16933643" y="3949605"/>
                </a:lnTo>
                <a:lnTo>
                  <a:pt x="0" y="3949605"/>
                </a:lnTo>
                <a:lnTo>
                  <a:pt x="0" y="0"/>
                </a:lnTo>
                <a:close/>
              </a:path>
            </a:pathLst>
          </a:custGeom>
          <a:blipFill rotWithShape="1">
            <a:blip r:embed="rId3">
              <a:alphaModFix amt="18000"/>
            </a:blip>
            <a:stretch>
              <a:fillRect b="-92884" l="0" r="0" t="-928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5"/>
          <p:cNvSpPr txBox="1"/>
          <p:nvPr/>
        </p:nvSpPr>
        <p:spPr>
          <a:xfrm>
            <a:off x="4375955" y="1317753"/>
            <a:ext cx="9515774" cy="1770100"/>
          </a:xfrm>
          <a:prstGeom prst="rect">
            <a:avLst/>
          </a:prstGeom>
          <a:noFill/>
          <a:ln>
            <a:noFill/>
          </a:ln>
        </p:spPr>
        <p:txBody>
          <a:bodyPr anchorCtr="0" anchor="t" bIns="0" lIns="0" spcFirstLastPara="1" rIns="0" wrap="square" tIns="0">
            <a:spAutoFit/>
          </a:bodyPr>
          <a:lstStyle/>
          <a:p>
            <a:pPr indent="0" lvl="0" marL="0" marR="0" rtl="0" algn="ctr">
              <a:lnSpc>
                <a:spcPct val="137996"/>
              </a:lnSpc>
              <a:spcBef>
                <a:spcPts val="0"/>
              </a:spcBef>
              <a:spcAft>
                <a:spcPts val="0"/>
              </a:spcAft>
              <a:buClr>
                <a:srgbClr val="000000"/>
              </a:buClr>
              <a:buSzPts val="8335"/>
              <a:buFont typeface="Arial"/>
              <a:buNone/>
            </a:pPr>
            <a:r>
              <a:rPr b="1" i="0" lang="en-IN" sz="8335" u="none" cap="none" strike="noStrike">
                <a:solidFill>
                  <a:srgbClr val="FFFFFF"/>
                </a:solidFill>
                <a:latin typeface="Arial Rounded"/>
                <a:ea typeface="Arial Rounded"/>
                <a:cs typeface="Arial Rounded"/>
                <a:sym typeface="Arial Rounded"/>
              </a:rPr>
              <a:t>Backup Slides</a:t>
            </a:r>
            <a:endParaRPr b="0" i="0" sz="1400" u="none" cap="none" strike="noStrike">
              <a:solidFill>
                <a:srgbClr val="000000"/>
              </a:solidFill>
              <a:latin typeface="Arial"/>
              <a:ea typeface="Arial"/>
              <a:cs typeface="Arial"/>
              <a:sym typeface="Arial"/>
            </a:endParaRPr>
          </a:p>
        </p:txBody>
      </p:sp>
      <p:sp>
        <p:nvSpPr>
          <p:cNvPr id="301" name="Google Shape;301;p15"/>
          <p:cNvSpPr txBox="1"/>
          <p:nvPr/>
        </p:nvSpPr>
        <p:spPr>
          <a:xfrm>
            <a:off x="2686929" y="9650937"/>
            <a:ext cx="1340651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Explainable AI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(Ref: https://wandb.ai/mostafaibrahim17/ml-articles/reports/Enhancing-cybersecurity-with-explainable-AI--Vmlldzo3NDIwMTc3)</a:t>
            </a:r>
            <a:endParaRPr b="0" i="0" sz="1400" u="none" cap="none" strike="noStrike">
              <a:solidFill>
                <a:srgbClr val="000000"/>
              </a:solidFill>
              <a:latin typeface="Arial"/>
              <a:ea typeface="Arial"/>
              <a:cs typeface="Arial"/>
              <a:sym typeface="Arial"/>
            </a:endParaRPr>
          </a:p>
        </p:txBody>
      </p:sp>
      <p:pic>
        <p:nvPicPr>
          <p:cNvPr id="302" name="Google Shape;302;p15"/>
          <p:cNvPicPr preferRelativeResize="0"/>
          <p:nvPr/>
        </p:nvPicPr>
        <p:blipFill rotWithShape="1">
          <a:blip r:embed="rId4">
            <a:alphaModFix/>
          </a:blip>
          <a:srcRect b="0" l="0" r="0" t="0"/>
          <a:stretch/>
        </p:blipFill>
        <p:spPr>
          <a:xfrm>
            <a:off x="4247894" y="3938225"/>
            <a:ext cx="9622302" cy="527389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grpSp>
        <p:nvGrpSpPr>
          <p:cNvPr id="308" name="Google Shape;308;p16"/>
          <p:cNvGrpSpPr/>
          <p:nvPr/>
        </p:nvGrpSpPr>
        <p:grpSpPr>
          <a:xfrm>
            <a:off x="633448" y="323215"/>
            <a:ext cx="17021103" cy="2863671"/>
            <a:chOff x="0" y="-19050"/>
            <a:chExt cx="4482924" cy="1064700"/>
          </a:xfrm>
        </p:grpSpPr>
        <p:sp>
          <p:nvSpPr>
            <p:cNvPr id="309" name="Google Shape;309;p16"/>
            <p:cNvSpPr/>
            <p:nvPr/>
          </p:nvSpPr>
          <p:spPr>
            <a:xfrm>
              <a:off x="0" y="0"/>
              <a:ext cx="4482924" cy="1045650"/>
            </a:xfrm>
            <a:custGeom>
              <a:rect b="b" l="l" r="r" t="t"/>
              <a:pathLst>
                <a:path extrusionOk="0" h="1045650" w="4482924">
                  <a:moveTo>
                    <a:pt x="0" y="0"/>
                  </a:moveTo>
                  <a:lnTo>
                    <a:pt x="4482924" y="0"/>
                  </a:lnTo>
                  <a:lnTo>
                    <a:pt x="4482924" y="1045650"/>
                  </a:lnTo>
                  <a:lnTo>
                    <a:pt x="0" y="1045650"/>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6"/>
            <p:cNvSpPr txBox="1"/>
            <p:nvPr/>
          </p:nvSpPr>
          <p:spPr>
            <a:xfrm>
              <a:off x="0" y="-19050"/>
              <a:ext cx="4482924" cy="1064700"/>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1" name="Google Shape;311;p16"/>
          <p:cNvSpPr/>
          <p:nvPr/>
        </p:nvSpPr>
        <p:spPr>
          <a:xfrm>
            <a:off x="616295" y="467381"/>
            <a:ext cx="16933642" cy="2719505"/>
          </a:xfrm>
          <a:custGeom>
            <a:rect b="b" l="l" r="r" t="t"/>
            <a:pathLst>
              <a:path extrusionOk="0" h="3949605" w="16933642">
                <a:moveTo>
                  <a:pt x="0" y="0"/>
                </a:moveTo>
                <a:lnTo>
                  <a:pt x="16933643" y="0"/>
                </a:lnTo>
                <a:lnTo>
                  <a:pt x="16933643" y="3949605"/>
                </a:lnTo>
                <a:lnTo>
                  <a:pt x="0" y="3949605"/>
                </a:lnTo>
                <a:lnTo>
                  <a:pt x="0" y="0"/>
                </a:lnTo>
                <a:close/>
              </a:path>
            </a:pathLst>
          </a:custGeom>
          <a:blipFill rotWithShape="1">
            <a:blip r:embed="rId3">
              <a:alphaModFix amt="18000"/>
            </a:blip>
            <a:stretch>
              <a:fillRect b="-92884" l="0" r="0" t="-928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6"/>
          <p:cNvSpPr txBox="1"/>
          <p:nvPr/>
        </p:nvSpPr>
        <p:spPr>
          <a:xfrm>
            <a:off x="4375955" y="1317753"/>
            <a:ext cx="9515774" cy="1770100"/>
          </a:xfrm>
          <a:prstGeom prst="rect">
            <a:avLst/>
          </a:prstGeom>
          <a:noFill/>
          <a:ln>
            <a:noFill/>
          </a:ln>
        </p:spPr>
        <p:txBody>
          <a:bodyPr anchorCtr="0" anchor="t" bIns="0" lIns="0" spcFirstLastPara="1" rIns="0" wrap="square" tIns="0">
            <a:spAutoFit/>
          </a:bodyPr>
          <a:lstStyle/>
          <a:p>
            <a:pPr indent="0" lvl="0" marL="0" marR="0" rtl="0" algn="ctr">
              <a:lnSpc>
                <a:spcPct val="137996"/>
              </a:lnSpc>
              <a:spcBef>
                <a:spcPts val="0"/>
              </a:spcBef>
              <a:spcAft>
                <a:spcPts val="0"/>
              </a:spcAft>
              <a:buClr>
                <a:srgbClr val="000000"/>
              </a:buClr>
              <a:buSzPts val="8335"/>
              <a:buFont typeface="Arial"/>
              <a:buNone/>
            </a:pPr>
            <a:r>
              <a:rPr b="1" i="0" lang="en-IN" sz="8335" u="none" cap="none" strike="noStrike">
                <a:solidFill>
                  <a:srgbClr val="FFFFFF"/>
                </a:solidFill>
                <a:latin typeface="Arial Rounded"/>
                <a:ea typeface="Arial Rounded"/>
                <a:cs typeface="Arial Rounded"/>
                <a:sym typeface="Arial Rounded"/>
              </a:rPr>
              <a:t>Backup Slides</a:t>
            </a:r>
            <a:endParaRPr b="0" i="0" sz="1400" u="none" cap="none" strike="noStrike">
              <a:solidFill>
                <a:srgbClr val="000000"/>
              </a:solidFill>
              <a:latin typeface="Arial"/>
              <a:ea typeface="Arial"/>
              <a:cs typeface="Arial"/>
              <a:sym typeface="Arial"/>
            </a:endParaRPr>
          </a:p>
        </p:txBody>
      </p:sp>
      <p:sp>
        <p:nvSpPr>
          <p:cNvPr id="313" name="Google Shape;313;p16"/>
          <p:cNvSpPr txBox="1"/>
          <p:nvPr/>
        </p:nvSpPr>
        <p:spPr>
          <a:xfrm>
            <a:off x="8003968" y="9819619"/>
            <a:ext cx="577140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FLDID: Proposed Model</a:t>
            </a:r>
            <a:endParaRPr b="0" i="0" sz="1400" u="none" cap="none" strike="noStrike">
              <a:solidFill>
                <a:srgbClr val="000000"/>
              </a:solidFill>
              <a:latin typeface="Arial"/>
              <a:ea typeface="Arial"/>
              <a:cs typeface="Arial"/>
              <a:sym typeface="Arial"/>
            </a:endParaRPr>
          </a:p>
        </p:txBody>
      </p:sp>
      <p:pic>
        <p:nvPicPr>
          <p:cNvPr descr="Figure 1" id="314" name="Google Shape;314;p16"/>
          <p:cNvPicPr preferRelativeResize="0"/>
          <p:nvPr/>
        </p:nvPicPr>
        <p:blipFill rotWithShape="1">
          <a:blip r:embed="rId4">
            <a:alphaModFix/>
          </a:blip>
          <a:srcRect b="0" l="0" r="0" t="0"/>
          <a:stretch/>
        </p:blipFill>
        <p:spPr>
          <a:xfrm>
            <a:off x="6289469" y="3279814"/>
            <a:ext cx="5977742" cy="64205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p17"/>
          <p:cNvGrpSpPr/>
          <p:nvPr/>
        </p:nvGrpSpPr>
        <p:grpSpPr>
          <a:xfrm>
            <a:off x="633448" y="323215"/>
            <a:ext cx="17021103" cy="2863671"/>
            <a:chOff x="0" y="-19050"/>
            <a:chExt cx="4482924" cy="1064700"/>
          </a:xfrm>
        </p:grpSpPr>
        <p:sp>
          <p:nvSpPr>
            <p:cNvPr id="321" name="Google Shape;321;p17"/>
            <p:cNvSpPr/>
            <p:nvPr/>
          </p:nvSpPr>
          <p:spPr>
            <a:xfrm>
              <a:off x="0" y="0"/>
              <a:ext cx="4482924" cy="1045650"/>
            </a:xfrm>
            <a:custGeom>
              <a:rect b="b" l="l" r="r" t="t"/>
              <a:pathLst>
                <a:path extrusionOk="0" h="1045650" w="4482924">
                  <a:moveTo>
                    <a:pt x="0" y="0"/>
                  </a:moveTo>
                  <a:lnTo>
                    <a:pt x="4482924" y="0"/>
                  </a:lnTo>
                  <a:lnTo>
                    <a:pt x="4482924" y="1045650"/>
                  </a:lnTo>
                  <a:lnTo>
                    <a:pt x="0" y="1045650"/>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7"/>
            <p:cNvSpPr txBox="1"/>
            <p:nvPr/>
          </p:nvSpPr>
          <p:spPr>
            <a:xfrm>
              <a:off x="0" y="-19050"/>
              <a:ext cx="4482924" cy="1064700"/>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3" name="Google Shape;323;p17"/>
          <p:cNvSpPr/>
          <p:nvPr/>
        </p:nvSpPr>
        <p:spPr>
          <a:xfrm>
            <a:off x="616295" y="467381"/>
            <a:ext cx="16933642" cy="2719505"/>
          </a:xfrm>
          <a:custGeom>
            <a:rect b="b" l="l" r="r" t="t"/>
            <a:pathLst>
              <a:path extrusionOk="0" h="3949605" w="16933642">
                <a:moveTo>
                  <a:pt x="0" y="0"/>
                </a:moveTo>
                <a:lnTo>
                  <a:pt x="16933643" y="0"/>
                </a:lnTo>
                <a:lnTo>
                  <a:pt x="16933643" y="3949605"/>
                </a:lnTo>
                <a:lnTo>
                  <a:pt x="0" y="3949605"/>
                </a:lnTo>
                <a:lnTo>
                  <a:pt x="0" y="0"/>
                </a:lnTo>
                <a:close/>
              </a:path>
            </a:pathLst>
          </a:custGeom>
          <a:blipFill rotWithShape="1">
            <a:blip r:embed="rId3">
              <a:alphaModFix amt="18000"/>
            </a:blip>
            <a:stretch>
              <a:fillRect b="-92884" l="0" r="0" t="-928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7"/>
          <p:cNvSpPr txBox="1"/>
          <p:nvPr/>
        </p:nvSpPr>
        <p:spPr>
          <a:xfrm>
            <a:off x="4375955" y="1317753"/>
            <a:ext cx="9515774" cy="1770100"/>
          </a:xfrm>
          <a:prstGeom prst="rect">
            <a:avLst/>
          </a:prstGeom>
          <a:noFill/>
          <a:ln>
            <a:noFill/>
          </a:ln>
        </p:spPr>
        <p:txBody>
          <a:bodyPr anchorCtr="0" anchor="t" bIns="0" lIns="0" spcFirstLastPara="1" rIns="0" wrap="square" tIns="0">
            <a:spAutoFit/>
          </a:bodyPr>
          <a:lstStyle/>
          <a:p>
            <a:pPr indent="0" lvl="0" marL="0" marR="0" rtl="0" algn="ctr">
              <a:lnSpc>
                <a:spcPct val="137996"/>
              </a:lnSpc>
              <a:spcBef>
                <a:spcPts val="0"/>
              </a:spcBef>
              <a:spcAft>
                <a:spcPts val="0"/>
              </a:spcAft>
              <a:buClr>
                <a:srgbClr val="000000"/>
              </a:buClr>
              <a:buSzPts val="8335"/>
              <a:buFont typeface="Arial"/>
              <a:buNone/>
            </a:pPr>
            <a:r>
              <a:rPr b="1" i="0" lang="en-IN" sz="8335" u="none" cap="none" strike="noStrike">
                <a:solidFill>
                  <a:srgbClr val="FFFFFF"/>
                </a:solidFill>
                <a:latin typeface="Arial Rounded"/>
                <a:ea typeface="Arial Rounded"/>
                <a:cs typeface="Arial Rounded"/>
                <a:sym typeface="Arial Rounded"/>
              </a:rPr>
              <a:t>Backup Slides</a:t>
            </a:r>
            <a:endParaRPr b="0" i="0" sz="1400" u="none" cap="none" strike="noStrike">
              <a:solidFill>
                <a:srgbClr val="000000"/>
              </a:solidFill>
              <a:latin typeface="Arial"/>
              <a:ea typeface="Arial"/>
              <a:cs typeface="Arial"/>
              <a:sym typeface="Arial"/>
            </a:endParaRPr>
          </a:p>
        </p:txBody>
      </p:sp>
      <p:pic>
        <p:nvPicPr>
          <p:cNvPr descr="Enhanced AI Security Framework Methodology with dark text for improved readability" id="325" name="Google Shape;325;p17"/>
          <p:cNvPicPr preferRelativeResize="0"/>
          <p:nvPr/>
        </p:nvPicPr>
        <p:blipFill rotWithShape="1">
          <a:blip r:embed="rId4">
            <a:alphaModFix/>
          </a:blip>
          <a:srcRect b="0" l="0" r="0" t="0"/>
          <a:stretch/>
        </p:blipFill>
        <p:spPr>
          <a:xfrm>
            <a:off x="2953467" y="3186886"/>
            <a:ext cx="10449937" cy="6966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grpSp>
        <p:nvGrpSpPr>
          <p:cNvPr id="331" name="Google Shape;331;p18"/>
          <p:cNvGrpSpPr/>
          <p:nvPr/>
        </p:nvGrpSpPr>
        <p:grpSpPr>
          <a:xfrm>
            <a:off x="633448" y="323215"/>
            <a:ext cx="17021103" cy="2863671"/>
            <a:chOff x="0" y="-19050"/>
            <a:chExt cx="4482924" cy="1064700"/>
          </a:xfrm>
        </p:grpSpPr>
        <p:sp>
          <p:nvSpPr>
            <p:cNvPr id="332" name="Google Shape;332;p18"/>
            <p:cNvSpPr/>
            <p:nvPr/>
          </p:nvSpPr>
          <p:spPr>
            <a:xfrm>
              <a:off x="0" y="0"/>
              <a:ext cx="4482924" cy="1045650"/>
            </a:xfrm>
            <a:custGeom>
              <a:rect b="b" l="l" r="r" t="t"/>
              <a:pathLst>
                <a:path extrusionOk="0" h="1045650" w="4482924">
                  <a:moveTo>
                    <a:pt x="0" y="0"/>
                  </a:moveTo>
                  <a:lnTo>
                    <a:pt x="4482924" y="0"/>
                  </a:lnTo>
                  <a:lnTo>
                    <a:pt x="4482924" y="1045650"/>
                  </a:lnTo>
                  <a:lnTo>
                    <a:pt x="0" y="1045650"/>
                  </a:lnTo>
                  <a:close/>
                </a:path>
              </a:pathLst>
            </a:custGeom>
            <a:solidFill>
              <a:srgbClr val="538CD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8"/>
            <p:cNvSpPr txBox="1"/>
            <p:nvPr/>
          </p:nvSpPr>
          <p:spPr>
            <a:xfrm>
              <a:off x="0" y="-19050"/>
              <a:ext cx="4482924" cy="1064700"/>
            </a:xfrm>
            <a:prstGeom prst="rect">
              <a:avLst/>
            </a:prstGeom>
            <a:solidFill>
              <a:srgbClr val="538CD5"/>
            </a:solid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18"/>
          <p:cNvSpPr/>
          <p:nvPr/>
        </p:nvSpPr>
        <p:spPr>
          <a:xfrm>
            <a:off x="616295" y="467381"/>
            <a:ext cx="16933642" cy="2719505"/>
          </a:xfrm>
          <a:custGeom>
            <a:rect b="b" l="l" r="r" t="t"/>
            <a:pathLst>
              <a:path extrusionOk="0" h="3949605" w="16933642">
                <a:moveTo>
                  <a:pt x="0" y="0"/>
                </a:moveTo>
                <a:lnTo>
                  <a:pt x="16933643" y="0"/>
                </a:lnTo>
                <a:lnTo>
                  <a:pt x="16933643" y="3949605"/>
                </a:lnTo>
                <a:lnTo>
                  <a:pt x="0" y="3949605"/>
                </a:lnTo>
                <a:lnTo>
                  <a:pt x="0" y="0"/>
                </a:lnTo>
                <a:close/>
              </a:path>
            </a:pathLst>
          </a:custGeom>
          <a:blipFill rotWithShape="1">
            <a:blip r:embed="rId3">
              <a:alphaModFix amt="18000"/>
            </a:blip>
            <a:stretch>
              <a:fillRect b="-92884" l="0" r="0" t="-928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8"/>
          <p:cNvSpPr txBox="1"/>
          <p:nvPr/>
        </p:nvSpPr>
        <p:spPr>
          <a:xfrm>
            <a:off x="4375955" y="1317753"/>
            <a:ext cx="9515774" cy="1770100"/>
          </a:xfrm>
          <a:prstGeom prst="rect">
            <a:avLst/>
          </a:prstGeom>
          <a:noFill/>
          <a:ln>
            <a:noFill/>
          </a:ln>
        </p:spPr>
        <p:txBody>
          <a:bodyPr anchorCtr="0" anchor="t" bIns="0" lIns="0" spcFirstLastPara="1" rIns="0" wrap="square" tIns="0">
            <a:spAutoFit/>
          </a:bodyPr>
          <a:lstStyle/>
          <a:p>
            <a:pPr indent="0" lvl="0" marL="0" marR="0" rtl="0" algn="ctr">
              <a:lnSpc>
                <a:spcPct val="137996"/>
              </a:lnSpc>
              <a:spcBef>
                <a:spcPts val="0"/>
              </a:spcBef>
              <a:spcAft>
                <a:spcPts val="0"/>
              </a:spcAft>
              <a:buClr>
                <a:srgbClr val="000000"/>
              </a:buClr>
              <a:buSzPts val="8335"/>
              <a:buFont typeface="Arial"/>
              <a:buNone/>
            </a:pPr>
            <a:r>
              <a:rPr b="1" i="0" lang="en-IN" sz="8335" u="none" cap="none" strike="noStrike">
                <a:solidFill>
                  <a:srgbClr val="FFFFFF"/>
                </a:solidFill>
                <a:latin typeface="Arial Rounded"/>
                <a:ea typeface="Arial Rounded"/>
                <a:cs typeface="Arial Rounded"/>
                <a:sym typeface="Arial Rounded"/>
              </a:rPr>
              <a:t>Backup Slides</a:t>
            </a:r>
            <a:endParaRPr b="0" i="0" sz="1400" u="none" cap="none" strike="noStrike">
              <a:solidFill>
                <a:srgbClr val="000000"/>
              </a:solidFill>
              <a:latin typeface="Arial"/>
              <a:ea typeface="Arial"/>
              <a:cs typeface="Arial"/>
              <a:sym typeface="Arial"/>
            </a:endParaRPr>
          </a:p>
        </p:txBody>
      </p:sp>
      <p:pic>
        <p:nvPicPr>
          <p:cNvPr id="336" name="Google Shape;336;p18"/>
          <p:cNvPicPr preferRelativeResize="0"/>
          <p:nvPr/>
        </p:nvPicPr>
        <p:blipFill rotWithShape="1">
          <a:blip r:embed="rId4">
            <a:alphaModFix/>
          </a:blip>
          <a:srcRect b="0" l="0" r="0" t="0"/>
          <a:stretch/>
        </p:blipFill>
        <p:spPr>
          <a:xfrm>
            <a:off x="4265129" y="4037258"/>
            <a:ext cx="9626600" cy="4470400"/>
          </a:xfrm>
          <a:prstGeom prst="rect">
            <a:avLst/>
          </a:prstGeom>
          <a:noFill/>
          <a:ln>
            <a:noFill/>
          </a:ln>
        </p:spPr>
      </p:pic>
      <p:sp>
        <p:nvSpPr>
          <p:cNvPr id="337" name="Google Shape;337;p18"/>
          <p:cNvSpPr txBox="1"/>
          <p:nvPr/>
        </p:nvSpPr>
        <p:spPr>
          <a:xfrm>
            <a:off x="5795158" y="8752114"/>
            <a:ext cx="577140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FLDID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9"/>
          <p:cNvSpPr txBox="1"/>
          <p:nvPr/>
        </p:nvSpPr>
        <p:spPr>
          <a:xfrm>
            <a:off x="3302817" y="0"/>
            <a:ext cx="9515774" cy="424732"/>
          </a:xfrm>
          <a:prstGeom prst="rect">
            <a:avLst/>
          </a:prstGeom>
          <a:noFill/>
          <a:ln>
            <a:noFill/>
          </a:ln>
        </p:spPr>
        <p:txBody>
          <a:bodyPr anchorCtr="0" anchor="t" bIns="0" lIns="0" spcFirstLastPara="1" rIns="0" wrap="square" tIns="0">
            <a:spAutoFit/>
          </a:bodyPr>
          <a:lstStyle/>
          <a:p>
            <a:pPr indent="0" lvl="0" marL="0" marR="0" rtl="0" algn="ctr">
              <a:lnSpc>
                <a:spcPct val="137996"/>
              </a:lnSpc>
              <a:spcBef>
                <a:spcPts val="0"/>
              </a:spcBef>
              <a:spcAft>
                <a:spcPts val="0"/>
              </a:spcAft>
              <a:buClr>
                <a:srgbClr val="000000"/>
              </a:buClr>
              <a:buSzPts val="2000"/>
              <a:buFont typeface="Arial"/>
              <a:buNone/>
            </a:pPr>
            <a:r>
              <a:rPr b="1" i="0" lang="en-IN" sz="2000" u="none" cap="none" strike="noStrike">
                <a:solidFill>
                  <a:schemeClr val="dk1"/>
                </a:solidFill>
                <a:latin typeface="Arial Rounded"/>
                <a:ea typeface="Arial Rounded"/>
                <a:cs typeface="Arial Rounded"/>
                <a:sym typeface="Arial Rounded"/>
              </a:rPr>
              <a:t>Additional Literature</a:t>
            </a:r>
            <a:endParaRPr b="0" i="0" sz="100" u="none" cap="none" strike="noStrike">
              <a:solidFill>
                <a:schemeClr val="dk1"/>
              </a:solidFill>
              <a:latin typeface="Arial"/>
              <a:ea typeface="Arial"/>
              <a:cs typeface="Arial"/>
              <a:sym typeface="Arial"/>
            </a:endParaRPr>
          </a:p>
        </p:txBody>
      </p:sp>
      <p:graphicFrame>
        <p:nvGraphicFramePr>
          <p:cNvPr id="344" name="Google Shape;344;p19"/>
          <p:cNvGraphicFramePr/>
          <p:nvPr/>
        </p:nvGraphicFramePr>
        <p:xfrm>
          <a:off x="89647" y="344050"/>
          <a:ext cx="3000000" cy="3000000"/>
        </p:xfrm>
        <a:graphic>
          <a:graphicData uri="http://schemas.openxmlformats.org/drawingml/2006/table">
            <a:tbl>
              <a:tblPr firstRow="1">
                <a:noFill/>
                <a:tableStyleId>{FD62060C-A9E3-43FF-8695-09CB6F05CB28}</a:tableStyleId>
              </a:tblPr>
              <a:tblGrid>
                <a:gridCol w="3825400"/>
                <a:gridCol w="14372950"/>
              </a:tblGrid>
              <a:tr h="145900">
                <a:tc>
                  <a:txBody>
                    <a:bodyPr/>
                    <a:lstStyle/>
                    <a:p>
                      <a:pPr indent="0" lvl="0" marL="0" marR="0" rtl="0" algn="ctr">
                        <a:lnSpc>
                          <a:spcPct val="100000"/>
                        </a:lnSpc>
                        <a:spcBef>
                          <a:spcPts val="0"/>
                        </a:spcBef>
                        <a:spcAft>
                          <a:spcPts val="0"/>
                        </a:spcAft>
                        <a:buClr>
                          <a:srgbClr val="000000"/>
                        </a:buClr>
                        <a:buSzPts val="1000"/>
                        <a:buFont typeface="Arial"/>
                        <a:buNone/>
                      </a:pPr>
                      <a:r>
                        <a:rPr b="1" lang="en-IN" sz="1000" u="none" cap="none" strike="noStrike"/>
                        <a:t>title</a:t>
                      </a:r>
                      <a:endParaRPr sz="1400" u="none" cap="none" strike="noStrike"/>
                    </a:p>
                  </a:txBody>
                  <a:tcPr marT="0" marB="0" marR="2350" marL="2350">
                    <a:no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IN" sz="1000" u="none" cap="none" strike="noStrike"/>
                        <a:t>Insights</a:t>
                      </a:r>
                      <a:endParaRPr sz="1400" u="none" cap="none" strike="noStrike"/>
                    </a:p>
                  </a:txBody>
                  <a:tcPr marT="0" marB="0" marR="2350" marL="2350">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Enhancing the Security of Industrial Cyber-Physical Systems using AI Algorithms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enhancing the security of industrial cyber-physical systems using AI algorithms, specifically highlighting improvements in threat detection accuracy, false positive and negative rates, response time, and resource efficiency. The proposed method utilizes RNNs, K-means, and Q-learning to effectively identify and respond to threats, outperforming traditional security approaches in key performance areas.</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AI-driven threat intelligence for real-time cybersecurity: Frameworks, tools, and future directions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specifically address comparative analysis of different mitigation frameworks for AI-driven threats in smart manufacturing systems or specialized attacks powered by artificial intelligence. It focuses on AI-driven threat intelligence in cybersecurity, discussing frameworks, tools, and techniques for real-time threat detection and response. While it highlights the importance of evolving frameworks and ethics in AI implementation, it does not provide detailed comparisons of mitigation strategies for specific sectors like smart manufacturing.</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A Reactive Security Framework for Protecting AI Models from Adversarial Attacks: An Autoencoder-Based Approach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a reactive security framework that enhances AI model resilience against adversarial attacks through runtime monitoring, anomaly detection using autoencoders, and adversarial training for model retraining. The framework aims to dynamically adapt to evolving threats rather than comparing various mitigation strategies. Thus, it does not specifically address specialized attacks in smart manufacturing contexts.</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AI-Powered Advanced Threat Protection: A Novel Framework for Next-Generation Malware Defense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specifically conduct a comparative analysis of different mitigation frameworks for AI-driven threats in smart manufacturing systems. However, it introduces a novel AI-powered framework for advanced threat protection that addresses challenges like obfuscated malware and zero-day vulnerabilities, which could be relevant to specialized attacks in such environments. The framework emphasizes real-time threat intelligence, predictive anomaly detection, and adaptive remediation strategies, which may be applicable in mitigating AI-driven threats in smart manufacturing contexts.</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Next-Gen Threat Detection: Leveraging AI and Cyber Twin Technologies for IoT Security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an advanced threat detection model leveraging AI and Cyber Twin Technologies specifically for IoT security. The proposed framework enhances anomaly detection and threat classification accuracy through a hybrid deep learning approach, demonstrating significant improvements in detection accuracy and resilience against cyber threats, but it does not address specialized attacks in smart manufacturing systems.</a:t>
                      </a:r>
                      <a:endParaRPr sz="1400" u="none" cap="none" strike="noStrike"/>
                    </a:p>
                  </a:txBody>
                  <a:tcPr marT="0" marB="0" marR="2350" marL="2350" anchor="b">
                    <a:noFill/>
                  </a:tcPr>
                </a:tc>
              </a:tr>
              <a:tr h="29180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Use of artificial intelligence methods and models for improving expert systems of intrusion detection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paper's title matches your query, but it doesn't address your specific question.</a:t>
                      </a:r>
                      <a:endParaRPr sz="1400" u="none" cap="none" strike="noStrike"/>
                    </a:p>
                  </a:txBody>
                  <a:tcPr marT="0" marB="0" marR="2350" marL="2350" anchor="b">
                    <a:noFill/>
                  </a:tcPr>
                </a:tc>
              </a:tr>
              <a:tr h="43770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Fortifying AI Against Cyber Threats Advancing Resilient Systems to Combat Adversarial Attacks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specifically address a comparative analysis of different mitigation frameworks for AI-driven threats in smart manufacturing systems. Instead, it focuses on using AI to develop robust systems against adversarial attacks through adaptive defense mechanisms utilizing reinforcement learning and ensemble methods. The study emphasizes the effectiveness of these approaches in managing dynamic threats and improving anomaly detection, but it does not delve into specialized attacks in smart manufacturing contexts.</a:t>
                      </a:r>
                      <a:endParaRPr sz="1400" u="none" cap="none" strike="noStrike"/>
                    </a:p>
                  </a:txBody>
                  <a:tcPr marT="0" marB="0" marR="2350" marL="2350" anchor="b">
                    <a:noFill/>
                  </a:tcPr>
                </a:tc>
              </a:tr>
              <a:tr h="43770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Using Decision Support to Fortify Industrial Control System Against Cyberattacks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a cybersecurity solution for Industrial Control Systems (ICS) that integrates a Network-based Intrusion Detection System (NIDS) with a Decision Support System (DSS) to detect anomalies and mitigate cyberattacks. While it highlights challenges and future improvements, it does not specifically address AI-powered attacks or compare various mitigation frameworks.</a:t>
                      </a:r>
                      <a:endParaRPr sz="1400" u="none" cap="none" strike="noStrike"/>
                    </a:p>
                  </a:txBody>
                  <a:tcPr marT="0" marB="0" marR="2350" marL="2350" anchor="b">
                    <a:noFill/>
                  </a:tcPr>
                </a:tc>
              </a:tr>
              <a:tr h="43770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Internet of things for smart manufacturing based on advanced encryption standard (AES) algorithm with chaotic system (2023)</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a Smart Reviving Authorization Model using the Advanced Encryption Standard (SRAM-AES) to address security issues in chaotic systems. The model emphasizes preventing unauthorized access and reducing controller downtime through IoT elements and deep recurrent learning algorithms, but it does not specifically analyze various frameworks for AI-powered attacks.</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Explainable Adversarial Mitigation Framework for Zero-Trust Cyber Warfare (2023)</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an explainable adversarial mitigation approach tailored for zero-trust cyber warfare scenarios, emphasizing the effectiveness of Intrusion Detection Systems (IDS) in military operations. The proposed framework aims to enhance resilience against adversarial attacks, achieving a high F1-score of 94% and a detection time of 0.34s, but does not specifically address smart manufacturing systems or specialized AI-powered attacks.</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Autonomous Attack Mitigation for Industrial Control Systems (2022)</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primarily focuses on autonomous response and recovery in industrial control systems (ICS) against advanced persistent threats (APTs) using deep reinforcement learning. It compares an automated cyber security orchestrator (ACSO) with traditional playbook methods, demonstrating that the ACSO outperforms in mitigating AI-driven threats by taking less disruptive actions and defending more nodes. However, it does not provide a comparative analysis of different mitigation frameworks specifically for AI-driven threats in smart manufacturing systems beyond its proposed approach.</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AI-Assisted Trustworthy Architecture for Industrial IoT Based on Dynamic Heterogeneous Redundancy (2023)</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an AI-assisted trustworthy architecture utilizing dynamic heterogeneous redundancy (DHR) and a deep reinforcement learning-based intelligent arbitration (DRLIA) algorithm to enhance security in industrial IoT. The study emphasizes the effectiveness of DRLIA in distinguishing reliable IIoT messages and conducting arbitration tasks, rather than addressing specialized attacks powered by artificial intelligence in smart manufacturing systems.</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AI-Assisted Trustworthy Architecture for Industrial IoT Based on Dynamic Heterogeneous Redundancy (2023)</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an AI-assisted trustworthy architecture utilizing dynamic heterogeneous redundancy (DHR) and a deep reinforcement learning-based intelligent arbitration (DRLIA) algorithm to enhance security in industrial IoT. The study emphasizes the effectiveness of DRLIA in distinguishing reliable IIoT messages and conducting arbitration tasks, rather than addressing specialized attacks powered by artificial intelligence in smart manufacturing systems.</a:t>
                      </a:r>
                      <a:endParaRPr sz="1400" u="none" cap="none" strike="noStrike"/>
                    </a:p>
                  </a:txBody>
                  <a:tcPr marT="0" marB="0" marR="2350" marL="2350" anchor="b">
                    <a:noFill/>
                  </a:tcPr>
                </a:tc>
              </a:tr>
              <a:tr h="43770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Elevating Smart Industry Security: An Advanced IoT-Integrated Framework for Detecting Suspicious Activities using ELM and LSTM Networks (2022)</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primarily focuses on an advanced IoT-integrated framework combining ELM and LSTM networks for detecting suspicious activities in smart industries. While it emphasizes enhancing security against evolving cyber threats, it does not provide a comparative analysis of different mitigation frameworks for AI-driven threats or specialized attacks powered by artificial intelligence. The research highlights the inadequacies of existing methods but does not delve into specific comparative evaluations of various frameworks.</a:t>
                      </a:r>
                      <a:endParaRPr sz="1400" u="none" cap="none" strike="noStrike"/>
                    </a:p>
                  </a:txBody>
                  <a:tcPr marT="0" marB="0" marR="2350" marL="2350" anchor="b">
                    <a:noFill/>
                  </a:tcPr>
                </a:tc>
              </a:tr>
              <a:tr h="43770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An Explainable Intelligent Framework for Anomaly Mitigation in Cyber-Physical Inverter-based Systems (2022)</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an explainable intelligent framework specifically designed for cyber anomaly mitigation in cyber-physical inverter-based systems, utilizing an artificial neural network to address false data injection attacks. The framework aims to maintain normal operation in microgrids despite cyber anomalies, but it does not cover specialized attacks in smart manufacturing contexts.</a:t>
                      </a:r>
                      <a:endParaRPr sz="1400" u="none" cap="none" strike="noStrike"/>
                    </a:p>
                  </a:txBody>
                  <a:tcPr marT="0" marB="0" marR="2350" marL="2350" anchor="b">
                    <a:noFill/>
                  </a:tcPr>
                </a:tc>
              </a:tr>
              <a:tr h="43770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Digital clones and digital immunity: adversarial training handles both (2022)</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the use of adversarial training to enhance digital clones and digital immunity against adversarial attacks. The study emphasizes the development of algorithms for generating adversarial samples that improve the personalization of decision models and ensure robustness in autonomous decision-making, rather than comparing various mitigation strategies.</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Defending Industrial Production Using AI Process Control (2020)</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conduct a comparative analysis of different mitigation frameworks for AI-driven threats in smart manufacturing systems. Instead, it proposes a novel approach using deep reinforcement learning to address modern cyberattacks by treating malicious behavior as process variation. This method enhances traditional statistical process control, providing whole-system protection in complex environments like additive manufacturing. The focus is on improving resilience against sophisticated, systemic cyberattacks rather than comparing various frameworks.</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DeSVig: Decentralized Swift Vigilance Against Adversarial Attacks in Industrial Artificial Intelligence Systems (2020)</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presents DeSVig, a decentralized framework specifically designed to identify and mitigate adversarial attacks in industrial artificial intelligence systems. It emphasizes the importance of rapid response to adversarial examples, leveraging mobile edge computing and generative adversarial networks to enhance robustness and efficiency. While it does not provide a comparative analysis of various frameworks, it demonstrates superior performance against state-of-the-art defenses, highlighting its scalability and effectiveness in safety-critical, delay-sensitive environments within smart manufacturing systems.</a:t>
                      </a:r>
                      <a:endParaRPr sz="1400" u="none" cap="none" strike="noStrike"/>
                    </a:p>
                  </a:txBody>
                  <a:tcPr marT="0" marB="0" marR="2350" marL="2350" anchor="b">
                    <a:noFill/>
                  </a:tcPr>
                </a:tc>
              </a:tr>
              <a:tr h="43770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(Gen)AI Versus (Gen)AI in Industrial Control Cybersecurity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how (Gen)AI impacts industrial control systems (ICSs) security through the Cyber Kill Chain (CKC) framework, detailing how (Gen)AI can automate attacks and enhance defenses. It discusses advanced techniques like AI-powered firewalls and anomaly detection but does not specifically compare various mitigation frameworks for specialized AI-powered attacks in smart manufacturing.</a:t>
                      </a:r>
                      <a:endParaRPr sz="1400" u="none" cap="none" strike="noStrike"/>
                    </a:p>
                  </a:txBody>
                  <a:tcPr marT="0" marB="0" marR="2350" marL="2350" anchor="b">
                    <a:noFill/>
                  </a:tcPr>
                </a:tc>
              </a:tr>
              <a:tr h="516150">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Generative AI and Cognitive Computing-Driven Intrusion Detection System in Industrial CPS (2024)</a:t>
                      </a:r>
                      <a:endParaRPr sz="1400" u="none" cap="none" strike="noStrike"/>
                    </a:p>
                  </a:txBody>
                  <a:tcPr marT="0" marB="0" marR="2350" marL="2350" anchor="b">
                    <a:noFill/>
                  </a:tcPr>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t>The paper does not provide a comparative analysis of different mitigation frameworks for AI-driven threats in smart manufacturing systems. Instead, it focuses on developing an intrusion detection system (IDS) for Industrial Cyber-Physical Systems (ICPSs) using Generative AI and cognitive computing. The proposed IDS aims to enhance interpretability and reduce false positives through techniques like LSTM-SVAE and BiRNN-HAID, but it does not specifically address specialized attacks powered by artificial intelligence in smart manufacturing contexts.</a:t>
                      </a:r>
                      <a:endParaRPr sz="1400" u="none" cap="none" strike="noStrike"/>
                    </a:p>
                  </a:txBody>
                  <a:tcPr marT="0" marB="0" marR="2350" marL="2350" anchor="b">
                    <a:no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