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83" r:id="rId12"/>
    <p:sldId id="279" r:id="rId13"/>
    <p:sldId id="280" r:id="rId14"/>
    <p:sldId id="281" r:id="rId15"/>
    <p:sldId id="282" r:id="rId16"/>
    <p:sldId id="266" r:id="rId17"/>
    <p:sldId id="267" r:id="rId18"/>
    <p:sldId id="268" r:id="rId19"/>
    <p:sldId id="269" r:id="rId20"/>
    <p:sldId id="270" r:id="rId21"/>
    <p:sldId id="271" r:id="rId22"/>
    <p:sldId id="272" r:id="rId23"/>
    <p:sldId id="278" r:id="rId24"/>
    <p:sldId id="273" r:id="rId25"/>
    <p:sldId id="274" r:id="rId26"/>
    <p:sldId id="275" r:id="rId27"/>
    <p:sldId id="276" r:id="rId28"/>
    <p:sldId id="277" r:id="rId29"/>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jKTG6yJZvq4+mAXJwU8U4RkVNtP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62060C-A9E3-43FF-8695-09CB6F05CB28}">
  <a:tblStyle styleId="{FD62060C-A9E3-43FF-8695-09CB6F05CB28}" styleName="Table_0">
    <a:wholeTbl>
      <a:tcTxStyle b="off" i="off">
        <a:font>
          <a:latin typeface="Arial"/>
          <a:ea typeface="Arial"/>
          <a:cs typeface="Arial"/>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chemeClr val="accent1"/>
              </a:solidFill>
              <a:prstDash val="solid"/>
              <a:round/>
              <a:headEnd type="none" w="sm" len="sm"/>
              <a:tailEnd type="none" w="sm" len="sm"/>
            </a:ln>
          </a:insideH>
          <a:insideV>
            <a:ln w="9525" cap="flat" cmpd="sng">
              <a:solidFill>
                <a:schemeClr val="accent1"/>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accent1">
              <a:alpha val="40000"/>
            </a:schemeClr>
          </a:solidFill>
        </a:fill>
      </a:tcStyle>
    </a:band1H>
    <a:band2H>
      <a:tcTxStyle b="off" i="off"/>
      <a:tcStyle>
        <a:tcBdr/>
      </a:tcStyle>
    </a:band2H>
    <a:band1V>
      <a:tcTxStyle b="off" i="off"/>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fill>
          <a:solidFill>
            <a:schemeClr val="accent1">
              <a:alpha val="40000"/>
            </a:schemeClr>
          </a:solidFill>
        </a:fill>
      </a:tcStyle>
    </a:band1V>
    <a:band2V>
      <a:tcTxStyle b="off" i="off"/>
      <a:tcStyle>
        <a:tcBdr/>
      </a:tcStyle>
    </a:band2V>
    <a:lastCol>
      <a:tcTxStyle b="on"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chemeClr val="accent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chemeClr val="accent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7" d="100"/>
          <a:sy n="57" d="100"/>
        </p:scale>
        <p:origin x="562" y="-32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800"/>
              <a:buFont typeface="Calibri"/>
              <a:buNone/>
            </a:pPr>
            <a:endParaRPr/>
          </a:p>
        </p:txBody>
      </p:sp>
      <p:sp>
        <p:nvSpPr>
          <p:cNvPr id="133" name="Google Shape;13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114300" algn="l" rtl="0">
              <a:lnSpc>
                <a:spcPct val="100000"/>
              </a:lnSpc>
              <a:spcBef>
                <a:spcPts val="0"/>
              </a:spcBef>
              <a:spcAft>
                <a:spcPts val="0"/>
              </a:spcAft>
              <a:buClr>
                <a:srgbClr val="000000"/>
              </a:buClr>
              <a:buSzPts val="1800"/>
              <a:buFont typeface="Calibri"/>
              <a:buNone/>
            </a:pPr>
            <a:endParaRPr/>
          </a:p>
        </p:txBody>
      </p:sp>
      <p:sp>
        <p:nvSpPr>
          <p:cNvPr id="142" name="Google Shape;14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b824e2dc5f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3b824e2dc5f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800"/>
              <a:buFont typeface="Calibri"/>
              <a:buNone/>
            </a:pPr>
            <a:endParaRPr/>
          </a:p>
        </p:txBody>
      </p:sp>
      <p:sp>
        <p:nvSpPr>
          <p:cNvPr id="177" name="Google Shape;177;g3b824e2dc5f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b824e2dc5f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g3b824e2dc5f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800"/>
              <a:buFont typeface="Calibri"/>
              <a:buNone/>
            </a:pPr>
            <a:endParaRPr/>
          </a:p>
        </p:txBody>
      </p:sp>
      <p:sp>
        <p:nvSpPr>
          <p:cNvPr id="186" name="Google Shape;186;g3b824e2dc5f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b824e2dc5f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g3b824e2dc5f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800"/>
              <a:buFont typeface="Calibri"/>
              <a:buNone/>
            </a:pPr>
            <a:endParaRPr/>
          </a:p>
        </p:txBody>
      </p:sp>
      <p:sp>
        <p:nvSpPr>
          <p:cNvPr id="195" name="Google Shape;195;g3b824e2dc5f_0_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b824e2dc5f_0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3b824e2dc5f_0_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800"/>
              <a:buFont typeface="Calibri"/>
              <a:buNone/>
            </a:pPr>
            <a:endParaRPr/>
          </a:p>
        </p:txBody>
      </p:sp>
      <p:sp>
        <p:nvSpPr>
          <p:cNvPr id="204" name="Google Shape;204;g3b824e2dc5f_0_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32448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51511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15" name="Google Shape;21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16</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24" name="Google Shape;22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17</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3" name="Google Shape;23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18</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42" name="Google Shape;24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19</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20</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21</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22</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24</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25</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7" name="Google Shape;31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8" name="Google Shape;31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26</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27</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 name="Google Shape;22;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2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8" name="Google Shape;28;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4" name="Google Shape;34;p2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5" name="Google Shape;35;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2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2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5" name="Google Shape;55;p2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6" name="Google Shape;56;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8"/>
          <p:cNvSpPr>
            <a:spLocks noGrp="1"/>
          </p:cNvSpPr>
          <p:nvPr>
            <p:ph type="pic" idx="2"/>
          </p:nvPr>
        </p:nvSpPr>
        <p:spPr>
          <a:xfrm>
            <a:off x="1792288" y="612775"/>
            <a:ext cx="5486400" cy="4114800"/>
          </a:xfrm>
          <a:prstGeom prst="rect">
            <a:avLst/>
          </a:prstGeom>
          <a:noFill/>
          <a:ln>
            <a:noFill/>
          </a:ln>
        </p:spPr>
      </p:sp>
      <p:sp>
        <p:nvSpPr>
          <p:cNvPr id="62" name="Google Shape;62;p2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3" name="Google Shape;63;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9" name="Google Shape;69;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hyperlink" Target="https://www.mdpi.com/1424-8220/23/1/486" TargetMode="External"/><Relationship Id="rId3" Type="http://schemas.openxmlformats.org/officeDocument/2006/relationships/image" Target="../media/image14.png"/><Relationship Id="rId7" Type="http://schemas.openxmlformats.org/officeDocument/2006/relationships/hyperlink" Target="https://itrust.sutd.edu.sg/itrust-labs_datasets/dataset_info/"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ieee-dataport.org/documents/dalhousie-nims-lab-iot-attack-dataset-2025-1" TargetMode="External"/><Relationship Id="rId5" Type="http://schemas.openxmlformats.org/officeDocument/2006/relationships/hyperlink" Target="https://www.stratosphereips.org/datasets-iot23" TargetMode="External"/><Relationship Id="rId4" Type="http://schemas.openxmlformats.org/officeDocument/2006/relationships/hyperlink" Target="https://www.unb.ca/cic/datasets/iotdataset-2023.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7.jp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82"/>
        <p:cNvGrpSpPr/>
        <p:nvPr/>
      </p:nvGrpSpPr>
      <p:grpSpPr>
        <a:xfrm>
          <a:off x="0" y="0"/>
          <a:ext cx="0" cy="0"/>
          <a:chOff x="0" y="0"/>
          <a:chExt cx="0" cy="0"/>
        </a:xfrm>
      </p:grpSpPr>
      <p:grpSp>
        <p:nvGrpSpPr>
          <p:cNvPr id="83" name="Google Shape;83;p1"/>
          <p:cNvGrpSpPr/>
          <p:nvPr/>
        </p:nvGrpSpPr>
        <p:grpSpPr>
          <a:xfrm>
            <a:off x="15201900" y="-578780"/>
            <a:ext cx="3086100" cy="11372230"/>
            <a:chOff x="0" y="-19050"/>
            <a:chExt cx="812800" cy="2995155"/>
          </a:xfrm>
        </p:grpSpPr>
        <p:sp>
          <p:nvSpPr>
            <p:cNvPr id="84" name="Google Shape;84;p1"/>
            <p:cNvSpPr/>
            <p:nvPr/>
          </p:nvSpPr>
          <p:spPr>
            <a:xfrm>
              <a:off x="0" y="0"/>
              <a:ext cx="812800" cy="2976105"/>
            </a:xfrm>
            <a:custGeom>
              <a:avLst/>
              <a:gdLst/>
              <a:ahLst/>
              <a:cxnLst/>
              <a:rect l="l" t="t" r="r" b="b"/>
              <a:pathLst>
                <a:path w="812800" h="2976105" extrusionOk="0">
                  <a:moveTo>
                    <a:pt x="0" y="0"/>
                  </a:moveTo>
                  <a:lnTo>
                    <a:pt x="812800" y="0"/>
                  </a:lnTo>
                  <a:lnTo>
                    <a:pt x="812800" y="2976105"/>
                  </a:lnTo>
                  <a:lnTo>
                    <a:pt x="0" y="2976105"/>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
            <p:cNvSpPr txBox="1"/>
            <p:nvPr/>
          </p:nvSpPr>
          <p:spPr>
            <a:xfrm>
              <a:off x="0" y="-19050"/>
              <a:ext cx="812800" cy="2995155"/>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86" name="Google Shape;86;p1"/>
          <p:cNvSpPr/>
          <p:nvPr/>
        </p:nvSpPr>
        <p:spPr>
          <a:xfrm>
            <a:off x="16101250" y="8203768"/>
            <a:ext cx="3806571" cy="2083232"/>
          </a:xfrm>
          <a:custGeom>
            <a:avLst/>
            <a:gdLst/>
            <a:ahLst/>
            <a:cxnLst/>
            <a:rect l="l" t="t" r="r" b="b"/>
            <a:pathLst>
              <a:path w="3806571" h="2083232" extrusionOk="0">
                <a:moveTo>
                  <a:pt x="0" y="0"/>
                </a:moveTo>
                <a:lnTo>
                  <a:pt x="3806570" y="0"/>
                </a:lnTo>
                <a:lnTo>
                  <a:pt x="3806570" y="2083232"/>
                </a:lnTo>
                <a:lnTo>
                  <a:pt x="0" y="20832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66092"/>
              </a:solidFill>
              <a:latin typeface="Arial"/>
              <a:ea typeface="Arial"/>
              <a:cs typeface="Arial"/>
              <a:sym typeface="Arial"/>
            </a:endParaRPr>
          </a:p>
        </p:txBody>
      </p:sp>
      <p:grpSp>
        <p:nvGrpSpPr>
          <p:cNvPr id="87" name="Google Shape;87;p1"/>
          <p:cNvGrpSpPr/>
          <p:nvPr/>
        </p:nvGrpSpPr>
        <p:grpSpPr>
          <a:xfrm>
            <a:off x="-1543050" y="-578780"/>
            <a:ext cx="2425974" cy="11372230"/>
            <a:chOff x="0" y="-19050"/>
            <a:chExt cx="812800" cy="2995155"/>
          </a:xfrm>
        </p:grpSpPr>
        <p:sp>
          <p:nvSpPr>
            <p:cNvPr id="88" name="Google Shape;88;p1"/>
            <p:cNvSpPr/>
            <p:nvPr/>
          </p:nvSpPr>
          <p:spPr>
            <a:xfrm>
              <a:off x="0" y="0"/>
              <a:ext cx="812800" cy="2976105"/>
            </a:xfrm>
            <a:custGeom>
              <a:avLst/>
              <a:gdLst/>
              <a:ahLst/>
              <a:cxnLst/>
              <a:rect l="l" t="t" r="r" b="b"/>
              <a:pathLst>
                <a:path w="812800" h="2976105" extrusionOk="0">
                  <a:moveTo>
                    <a:pt x="0" y="0"/>
                  </a:moveTo>
                  <a:lnTo>
                    <a:pt x="812800" y="0"/>
                  </a:lnTo>
                  <a:lnTo>
                    <a:pt x="812800" y="2976105"/>
                  </a:lnTo>
                  <a:lnTo>
                    <a:pt x="0" y="2976105"/>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
            <p:cNvSpPr txBox="1"/>
            <p:nvPr/>
          </p:nvSpPr>
          <p:spPr>
            <a:xfrm>
              <a:off x="0" y="-19050"/>
              <a:ext cx="812800" cy="2995155"/>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90" name="Google Shape;90;p1"/>
          <p:cNvGrpSpPr/>
          <p:nvPr/>
        </p:nvGrpSpPr>
        <p:grpSpPr>
          <a:xfrm>
            <a:off x="17408893" y="2741220"/>
            <a:ext cx="110236" cy="2898808"/>
            <a:chOff x="0" y="-19050"/>
            <a:chExt cx="26312" cy="691905"/>
          </a:xfrm>
        </p:grpSpPr>
        <p:sp>
          <p:nvSpPr>
            <p:cNvPr id="91" name="Google Shape;91;p1"/>
            <p:cNvSpPr/>
            <p:nvPr/>
          </p:nvSpPr>
          <p:spPr>
            <a:xfrm>
              <a:off x="0" y="0"/>
              <a:ext cx="26312" cy="672855"/>
            </a:xfrm>
            <a:custGeom>
              <a:avLst/>
              <a:gdLst/>
              <a:ahLst/>
              <a:cxnLst/>
              <a:rect l="l" t="t" r="r" b="b"/>
              <a:pathLst>
                <a:path w="26312" h="672855" extrusionOk="0">
                  <a:moveTo>
                    <a:pt x="0" y="0"/>
                  </a:moveTo>
                  <a:lnTo>
                    <a:pt x="26312" y="0"/>
                  </a:lnTo>
                  <a:lnTo>
                    <a:pt x="26312" y="672855"/>
                  </a:lnTo>
                  <a:lnTo>
                    <a:pt x="0" y="672855"/>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
            <p:cNvSpPr txBox="1"/>
            <p:nvPr/>
          </p:nvSpPr>
          <p:spPr>
            <a:xfrm>
              <a:off x="0" y="-19050"/>
              <a:ext cx="26312" cy="691905"/>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93" name="Google Shape;93;p1"/>
          <p:cNvSpPr txBox="1"/>
          <p:nvPr/>
        </p:nvSpPr>
        <p:spPr>
          <a:xfrm>
            <a:off x="1374912" y="1714500"/>
            <a:ext cx="13335000" cy="1231500"/>
          </a:xfrm>
          <a:prstGeom prst="rect">
            <a:avLst/>
          </a:prstGeom>
          <a:noFill/>
          <a:ln>
            <a:noFill/>
          </a:ln>
        </p:spPr>
        <p:txBody>
          <a:bodyPr spcFirstLastPara="1" wrap="square" lIns="0" tIns="0" rIns="0" bIns="0" anchor="t" anchorCtr="0">
            <a:spAutoFit/>
          </a:bodyPr>
          <a:lstStyle/>
          <a:p>
            <a:pPr>
              <a:defRPr sz="3800" b="1">
                <a:solidFill>
                  <a:srgbClr val="262626"/>
                </a:solidFill>
                <a:latin typeface="Calibri"/>
              </a:defRPr>
            </a:pPr>
            <a:r>
              <a:t>Resource-Efficient AI for Threat Detection in Edge Systems</a:t>
            </a:r>
          </a:p>
        </p:txBody>
      </p:sp>
      <p:sp>
        <p:nvSpPr>
          <p:cNvPr id="94" name="Google Shape;94;p1"/>
          <p:cNvSpPr/>
          <p:nvPr/>
        </p:nvSpPr>
        <p:spPr>
          <a:xfrm>
            <a:off x="-2777871" y="-207071"/>
            <a:ext cx="3806571" cy="2083232"/>
          </a:xfrm>
          <a:custGeom>
            <a:avLst/>
            <a:gdLst/>
            <a:ahLst/>
            <a:cxnLst/>
            <a:rect l="l" t="t" r="r" b="b"/>
            <a:pathLst>
              <a:path w="3806571" h="2083232" extrusionOk="0">
                <a:moveTo>
                  <a:pt x="0" y="0"/>
                </a:moveTo>
                <a:lnTo>
                  <a:pt x="3806571" y="0"/>
                </a:lnTo>
                <a:lnTo>
                  <a:pt x="3806571" y="2083233"/>
                </a:lnTo>
                <a:lnTo>
                  <a:pt x="0" y="208323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
          <p:cNvSpPr txBox="1"/>
          <p:nvPr/>
        </p:nvSpPr>
        <p:spPr>
          <a:xfrm>
            <a:off x="3662014" y="4786849"/>
            <a:ext cx="3823800" cy="1939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IN" sz="4000" b="0" i="0" u="none" strike="noStrike" cap="none">
                <a:solidFill>
                  <a:srgbClr val="262626"/>
                </a:solidFill>
                <a:latin typeface="Calibri"/>
                <a:ea typeface="Calibri"/>
                <a:cs typeface="Calibri"/>
                <a:sym typeface="Calibri"/>
              </a:rPr>
              <a:t>Presented By:</a:t>
            </a:r>
            <a:endParaRPr sz="16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4000"/>
              <a:buFont typeface="Arial"/>
              <a:buNone/>
            </a:pPr>
            <a:r>
              <a:rPr lang="en-IN" sz="4000" b="0" i="0" u="none" strike="noStrike" cap="none">
                <a:solidFill>
                  <a:srgbClr val="262626"/>
                </a:solidFill>
                <a:latin typeface="Calibri"/>
                <a:ea typeface="Calibri"/>
                <a:cs typeface="Calibri"/>
                <a:sym typeface="Calibri"/>
              </a:rPr>
              <a:t>Gauravkumar Raval</a:t>
            </a:r>
            <a:endParaRPr sz="1600" b="0" i="0" u="none" strike="noStrike" cap="none">
              <a:solidFill>
                <a:srgbClr val="000000"/>
              </a:solidFill>
              <a:latin typeface="Arial"/>
              <a:ea typeface="Arial"/>
              <a:cs typeface="Arial"/>
              <a:sym typeface="Arial"/>
            </a:endParaRPr>
          </a:p>
        </p:txBody>
      </p:sp>
      <p:sp>
        <p:nvSpPr>
          <p:cNvPr id="96" name="Google Shape;96;p1"/>
          <p:cNvSpPr txBox="1"/>
          <p:nvPr/>
        </p:nvSpPr>
        <p:spPr>
          <a:xfrm>
            <a:off x="2372868" y="9009597"/>
            <a:ext cx="11484864" cy="1099083"/>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Clr>
                <a:srgbClr val="000000"/>
              </a:buClr>
              <a:buSzPts val="1800"/>
              <a:buFont typeface="Arial"/>
              <a:buNone/>
            </a:pPr>
            <a:r>
              <a:rPr lang="en-IN" sz="1800" b="1" i="0" u="none" strike="noStrike" cap="none">
                <a:solidFill>
                  <a:schemeClr val="dk1"/>
                </a:solidFill>
                <a:latin typeface="Calibri"/>
                <a:ea typeface="Calibri"/>
                <a:cs typeface="Calibri"/>
                <a:sym typeface="Calibri"/>
              </a:rPr>
              <a:t>School of Doctoral Research and Innovation,</a:t>
            </a:r>
            <a:endParaRPr sz="1800" b="0" i="0" u="none" strike="noStrike" cap="none">
              <a:solidFill>
                <a:schemeClr val="dk1"/>
              </a:solidFill>
              <a:latin typeface="Calibri"/>
              <a:ea typeface="Calibri"/>
              <a:cs typeface="Calibri"/>
              <a:sym typeface="Calibri"/>
            </a:endParaRPr>
          </a:p>
          <a:p>
            <a:pPr marL="0" marR="0" lvl="0" indent="0" algn="ctr" rtl="0">
              <a:lnSpc>
                <a:spcPct val="115000"/>
              </a:lnSpc>
              <a:spcBef>
                <a:spcPts val="300"/>
              </a:spcBef>
              <a:spcAft>
                <a:spcPts val="0"/>
              </a:spcAft>
              <a:buClr>
                <a:srgbClr val="000000"/>
              </a:buClr>
              <a:buSzPts val="1800"/>
              <a:buFont typeface="Arial"/>
              <a:buNone/>
            </a:pPr>
            <a:r>
              <a:rPr lang="en-IN" sz="1800" b="1" i="0" u="none" strike="noStrike" cap="none">
                <a:solidFill>
                  <a:schemeClr val="dk1"/>
                </a:solidFill>
                <a:latin typeface="Calibri"/>
                <a:ea typeface="Calibri"/>
                <a:cs typeface="Calibri"/>
                <a:sym typeface="Calibri"/>
              </a:rPr>
              <a:t>GLS University,</a:t>
            </a:r>
            <a:endParaRPr sz="1800" b="0" i="0" u="none" strike="noStrike" cap="none">
              <a:solidFill>
                <a:schemeClr val="dk1"/>
              </a:solidFill>
              <a:latin typeface="Calibri"/>
              <a:ea typeface="Calibri"/>
              <a:cs typeface="Calibri"/>
              <a:sym typeface="Calibri"/>
            </a:endParaRPr>
          </a:p>
          <a:p>
            <a:pPr marL="0" marR="0" lvl="0" indent="0" algn="ctr" rtl="0">
              <a:lnSpc>
                <a:spcPct val="115000"/>
              </a:lnSpc>
              <a:spcBef>
                <a:spcPts val="300"/>
              </a:spcBef>
              <a:spcAft>
                <a:spcPts val="0"/>
              </a:spcAft>
              <a:buClr>
                <a:srgbClr val="000000"/>
              </a:buClr>
              <a:buSzPts val="1800"/>
              <a:buFont typeface="Arial"/>
              <a:buNone/>
            </a:pPr>
            <a:r>
              <a:rPr lang="en-IN" sz="1800" b="1" i="0" u="none" strike="noStrike" cap="none">
                <a:solidFill>
                  <a:schemeClr val="dk1"/>
                </a:solidFill>
                <a:latin typeface="Calibri"/>
                <a:ea typeface="Calibri"/>
                <a:cs typeface="Calibri"/>
                <a:sym typeface="Calibri"/>
              </a:rPr>
              <a:t>Ahmedabad, Gujarat, India</a:t>
            </a:r>
            <a:endParaRPr sz="1800" b="0" i="0" u="none" strike="noStrike" cap="none">
              <a:solidFill>
                <a:schemeClr val="dk1"/>
              </a:solidFill>
              <a:latin typeface="Calibri"/>
              <a:ea typeface="Calibri"/>
              <a:cs typeface="Calibri"/>
              <a:sym typeface="Calibri"/>
            </a:endParaRPr>
          </a:p>
        </p:txBody>
      </p:sp>
      <p:sp>
        <p:nvSpPr>
          <p:cNvPr id="97" name="Google Shape;97;p1"/>
          <p:cNvSpPr txBox="1"/>
          <p:nvPr/>
        </p:nvSpPr>
        <p:spPr>
          <a:xfrm>
            <a:off x="7209189" y="4859139"/>
            <a:ext cx="7992711" cy="15696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IN" sz="4000" b="0" i="0" u="none" strike="noStrike" cap="none">
                <a:solidFill>
                  <a:srgbClr val="262626"/>
                </a:solidFill>
                <a:latin typeface="Calibri"/>
                <a:ea typeface="Calibri"/>
                <a:cs typeface="Calibri"/>
                <a:sym typeface="Calibri"/>
              </a:rPr>
              <a:t>Supervisor</a:t>
            </a:r>
            <a:endParaRPr sz="16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4000"/>
              <a:buFont typeface="Arial"/>
              <a:buNone/>
            </a:pPr>
            <a:r>
              <a:rPr lang="en-IN" sz="4000" b="0" i="0" u="none" strike="noStrike" cap="none">
                <a:solidFill>
                  <a:srgbClr val="262626"/>
                </a:solidFill>
                <a:latin typeface="Calibri"/>
                <a:ea typeface="Calibri"/>
                <a:cs typeface="Calibri"/>
                <a:sym typeface="Calibri"/>
              </a:rPr>
              <a:t>Prof. Dr. Tejas Bhatt</a:t>
            </a:r>
            <a:br>
              <a:rPr lang="en-IN" sz="4000" b="0" i="0" u="none" strike="noStrike" cap="none">
                <a:solidFill>
                  <a:srgbClr val="262626"/>
                </a:solidFill>
                <a:latin typeface="Calibri"/>
                <a:ea typeface="Calibri"/>
                <a:cs typeface="Calibri"/>
                <a:sym typeface="Calibri"/>
              </a:rPr>
            </a:br>
            <a:endParaRPr sz="1600" b="0" i="0" u="none" strike="noStrike" cap="none">
              <a:solidFill>
                <a:srgbClr val="000000"/>
              </a:solidFill>
              <a:latin typeface="Arial"/>
              <a:ea typeface="Arial"/>
              <a:cs typeface="Arial"/>
              <a:sym typeface="Arial"/>
            </a:endParaRPr>
          </a:p>
        </p:txBody>
      </p:sp>
      <p:sp>
        <p:nvSpPr>
          <p:cNvPr id="98" name="Google Shape;98;p1"/>
          <p:cNvSpPr txBox="1"/>
          <p:nvPr/>
        </p:nvSpPr>
        <p:spPr>
          <a:xfrm>
            <a:off x="6463283" y="6274871"/>
            <a:ext cx="35052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IN" sz="3600" b="0" i="0" u="none" strike="noStrike" cap="none">
                <a:solidFill>
                  <a:srgbClr val="262626"/>
                </a:solidFill>
                <a:latin typeface="Calibri"/>
                <a:ea typeface="Calibri"/>
                <a:cs typeface="Calibri"/>
                <a:sym typeface="Calibri"/>
              </a:rPr>
              <a:t>Submitted To</a:t>
            </a:r>
            <a:endParaRPr sz="1400" b="0" i="0" u="none" strike="noStrike" cap="none">
              <a:solidFill>
                <a:srgbClr val="000000"/>
              </a:solidFill>
              <a:latin typeface="Arial"/>
              <a:ea typeface="Arial"/>
              <a:cs typeface="Arial"/>
              <a:sym typeface="Arial"/>
            </a:endParaRPr>
          </a:p>
        </p:txBody>
      </p:sp>
      <p:pic>
        <p:nvPicPr>
          <p:cNvPr id="99" name="Google Shape;99;p1"/>
          <p:cNvPicPr preferRelativeResize="0"/>
          <p:nvPr/>
        </p:nvPicPr>
        <p:blipFill rotWithShape="1">
          <a:blip r:embed="rId5">
            <a:alphaModFix/>
          </a:blip>
          <a:srcRect/>
          <a:stretch/>
        </p:blipFill>
        <p:spPr>
          <a:xfrm>
            <a:off x="5676852" y="6998647"/>
            <a:ext cx="5078061" cy="205026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103"/>
        <p:cNvGrpSpPr/>
        <p:nvPr/>
      </p:nvGrpSpPr>
      <p:grpSpPr>
        <a:xfrm>
          <a:off x="0" y="0"/>
          <a:ext cx="0" cy="0"/>
          <a:chOff x="0" y="0"/>
          <a:chExt cx="0" cy="0"/>
        </a:xfrm>
      </p:grpSpPr>
      <p:grpSp>
        <p:nvGrpSpPr>
          <p:cNvPr id="104" name="Google Shape;104;p2"/>
          <p:cNvGrpSpPr/>
          <p:nvPr/>
        </p:nvGrpSpPr>
        <p:grpSpPr>
          <a:xfrm>
            <a:off x="3812627" y="2829367"/>
            <a:ext cx="1400485" cy="6180230"/>
            <a:chOff x="0" y="-19050"/>
            <a:chExt cx="368852" cy="1627715"/>
          </a:xfrm>
        </p:grpSpPr>
        <p:sp>
          <p:nvSpPr>
            <p:cNvPr id="105" name="Google Shape;105;p2"/>
            <p:cNvSpPr/>
            <p:nvPr/>
          </p:nvSpPr>
          <p:spPr>
            <a:xfrm>
              <a:off x="0" y="0"/>
              <a:ext cx="368852" cy="1608665"/>
            </a:xfrm>
            <a:custGeom>
              <a:avLst/>
              <a:gdLst/>
              <a:ahLst/>
              <a:cxnLst/>
              <a:rect l="l" t="t" r="r" b="b"/>
              <a:pathLst>
                <a:path w="368852" h="1608665" extrusionOk="0">
                  <a:moveTo>
                    <a:pt x="0" y="0"/>
                  </a:moveTo>
                  <a:lnTo>
                    <a:pt x="368852" y="0"/>
                  </a:lnTo>
                  <a:lnTo>
                    <a:pt x="368852" y="1608665"/>
                  </a:lnTo>
                  <a:lnTo>
                    <a:pt x="0" y="1608665"/>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
            <p:cNvSpPr txBox="1"/>
            <p:nvPr/>
          </p:nvSpPr>
          <p:spPr>
            <a:xfrm>
              <a:off x="0" y="-19050"/>
              <a:ext cx="368852" cy="1627715"/>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07" name="Google Shape;107;p2"/>
          <p:cNvGrpSpPr/>
          <p:nvPr/>
        </p:nvGrpSpPr>
        <p:grpSpPr>
          <a:xfrm>
            <a:off x="-1543050" y="-640292"/>
            <a:ext cx="3086100" cy="11372230"/>
            <a:chOff x="0" y="-19050"/>
            <a:chExt cx="812800" cy="2995155"/>
          </a:xfrm>
        </p:grpSpPr>
        <p:sp>
          <p:nvSpPr>
            <p:cNvPr id="108" name="Google Shape;108;p2"/>
            <p:cNvSpPr/>
            <p:nvPr/>
          </p:nvSpPr>
          <p:spPr>
            <a:xfrm>
              <a:off x="0" y="0"/>
              <a:ext cx="812800" cy="2976105"/>
            </a:xfrm>
            <a:custGeom>
              <a:avLst/>
              <a:gdLst/>
              <a:ahLst/>
              <a:cxnLst/>
              <a:rect l="l" t="t" r="r" b="b"/>
              <a:pathLst>
                <a:path w="812800" h="2976105" extrusionOk="0">
                  <a:moveTo>
                    <a:pt x="0" y="0"/>
                  </a:moveTo>
                  <a:lnTo>
                    <a:pt x="812800" y="0"/>
                  </a:lnTo>
                  <a:lnTo>
                    <a:pt x="812800" y="2976105"/>
                  </a:lnTo>
                  <a:lnTo>
                    <a:pt x="0" y="2976105"/>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2"/>
            <p:cNvSpPr txBox="1"/>
            <p:nvPr/>
          </p:nvSpPr>
          <p:spPr>
            <a:xfrm>
              <a:off x="0" y="-19050"/>
              <a:ext cx="812800" cy="2995155"/>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10" name="Google Shape;110;p2"/>
          <p:cNvGrpSpPr/>
          <p:nvPr/>
        </p:nvGrpSpPr>
        <p:grpSpPr>
          <a:xfrm>
            <a:off x="12193216" y="1343117"/>
            <a:ext cx="5408984" cy="8051758"/>
            <a:chOff x="0" y="-19050"/>
            <a:chExt cx="1424588" cy="2120628"/>
          </a:xfrm>
        </p:grpSpPr>
        <p:sp>
          <p:nvSpPr>
            <p:cNvPr id="111" name="Google Shape;111;p2"/>
            <p:cNvSpPr/>
            <p:nvPr/>
          </p:nvSpPr>
          <p:spPr>
            <a:xfrm>
              <a:off x="0" y="0"/>
              <a:ext cx="1424588" cy="2101578"/>
            </a:xfrm>
            <a:custGeom>
              <a:avLst/>
              <a:gdLst/>
              <a:ahLst/>
              <a:cxnLst/>
              <a:rect l="l" t="t" r="r" b="b"/>
              <a:pathLst>
                <a:path w="1424588" h="2101578" extrusionOk="0">
                  <a:moveTo>
                    <a:pt x="0" y="0"/>
                  </a:moveTo>
                  <a:lnTo>
                    <a:pt x="1424588" y="0"/>
                  </a:lnTo>
                  <a:lnTo>
                    <a:pt x="1424588" y="2101578"/>
                  </a:lnTo>
                  <a:lnTo>
                    <a:pt x="0" y="2101578"/>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2"/>
            <p:cNvSpPr txBox="1"/>
            <p:nvPr/>
          </p:nvSpPr>
          <p:spPr>
            <a:xfrm>
              <a:off x="0" y="-19050"/>
              <a:ext cx="1424588" cy="2120628"/>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13" name="Google Shape;113;p2"/>
          <p:cNvSpPr/>
          <p:nvPr/>
        </p:nvSpPr>
        <p:spPr>
          <a:xfrm>
            <a:off x="15698915" y="8697813"/>
            <a:ext cx="3806571" cy="2083232"/>
          </a:xfrm>
          <a:custGeom>
            <a:avLst/>
            <a:gdLst/>
            <a:ahLst/>
            <a:cxnLst/>
            <a:rect l="l" t="t" r="r" b="b"/>
            <a:pathLst>
              <a:path w="3806571" h="2083232" extrusionOk="0">
                <a:moveTo>
                  <a:pt x="0" y="0"/>
                </a:moveTo>
                <a:lnTo>
                  <a:pt x="3806570" y="0"/>
                </a:lnTo>
                <a:lnTo>
                  <a:pt x="3806570" y="2083232"/>
                </a:lnTo>
                <a:lnTo>
                  <a:pt x="0" y="20832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2"/>
          <p:cNvSpPr txBox="1"/>
          <p:nvPr/>
        </p:nvSpPr>
        <p:spPr>
          <a:xfrm>
            <a:off x="5213112" y="1316966"/>
            <a:ext cx="5661991" cy="1670907"/>
          </a:xfrm>
          <a:prstGeom prst="rect">
            <a:avLst/>
          </a:prstGeom>
          <a:noFill/>
          <a:ln>
            <a:noFill/>
          </a:ln>
        </p:spPr>
        <p:txBody>
          <a:bodyPr spcFirstLastPara="1" wrap="square" lIns="0" tIns="0" rIns="0" bIns="0" anchor="t" anchorCtr="0">
            <a:spAutoFit/>
          </a:bodyPr>
          <a:lstStyle/>
          <a:p>
            <a:pPr marL="0" marR="0" lvl="0" indent="0" algn="l" rtl="0">
              <a:lnSpc>
                <a:spcPct val="138002"/>
              </a:lnSpc>
              <a:spcBef>
                <a:spcPts val="0"/>
              </a:spcBef>
              <a:spcAft>
                <a:spcPts val="0"/>
              </a:spcAft>
              <a:buClr>
                <a:srgbClr val="000000"/>
              </a:buClr>
              <a:buSzPts val="7868"/>
              <a:buFont typeface="Arial"/>
              <a:buNone/>
            </a:pPr>
            <a:r>
              <a:rPr lang="en-IN" sz="7868" b="0" i="0" u="none" strike="noStrike" cap="none">
                <a:solidFill>
                  <a:schemeClr val="accent1"/>
                </a:solidFill>
                <a:latin typeface="Arial Rounded"/>
                <a:ea typeface="Arial Rounded"/>
                <a:cs typeface="Arial Rounded"/>
                <a:sym typeface="Arial Rounded"/>
              </a:rPr>
              <a:t>Outline</a:t>
            </a:r>
            <a:endParaRPr sz="1400" b="0" i="0" u="none" strike="noStrike" cap="none">
              <a:solidFill>
                <a:schemeClr val="accent1"/>
              </a:solidFill>
              <a:latin typeface="Arial"/>
              <a:ea typeface="Arial"/>
              <a:cs typeface="Arial"/>
              <a:sym typeface="Arial"/>
            </a:endParaRPr>
          </a:p>
        </p:txBody>
      </p:sp>
      <p:sp>
        <p:nvSpPr>
          <p:cNvPr id="115" name="Google Shape;115;p2"/>
          <p:cNvSpPr txBox="1"/>
          <p:nvPr/>
        </p:nvSpPr>
        <p:spPr>
          <a:xfrm>
            <a:off x="4024659" y="3168035"/>
            <a:ext cx="937219" cy="714375"/>
          </a:xfrm>
          <a:prstGeom prst="rect">
            <a:avLst/>
          </a:prstGeom>
          <a:noFill/>
          <a:ln>
            <a:noFill/>
          </a:ln>
        </p:spPr>
        <p:txBody>
          <a:bodyPr spcFirstLastPara="1" wrap="square" lIns="0" tIns="0" rIns="0" bIns="0" anchor="t" anchorCtr="0">
            <a:spAutoFit/>
          </a:bodyPr>
          <a:lstStyle/>
          <a:p>
            <a:pPr marL="0" marR="0" lvl="0" indent="0" algn="ctr" rtl="0">
              <a:lnSpc>
                <a:spcPct val="120018"/>
              </a:lnSpc>
              <a:spcBef>
                <a:spcPts val="0"/>
              </a:spcBef>
              <a:spcAft>
                <a:spcPts val="0"/>
              </a:spcAft>
              <a:buClr>
                <a:srgbClr val="000000"/>
              </a:buClr>
              <a:buSzPts val="4271"/>
              <a:buFont typeface="Arial"/>
              <a:buNone/>
            </a:pPr>
            <a:r>
              <a:rPr lang="en-IN" sz="4271" b="0" i="0" u="none" strike="noStrike" cap="none">
                <a:solidFill>
                  <a:srgbClr val="FFFFFF"/>
                </a:solidFill>
                <a:latin typeface="Arial"/>
                <a:ea typeface="Arial"/>
                <a:cs typeface="Arial"/>
                <a:sym typeface="Arial"/>
              </a:rPr>
              <a:t>01</a:t>
            </a:r>
            <a:endParaRPr sz="1400" b="0" i="0" u="none" strike="noStrike" cap="none">
              <a:solidFill>
                <a:srgbClr val="000000"/>
              </a:solidFill>
              <a:latin typeface="Arial"/>
              <a:ea typeface="Arial"/>
              <a:cs typeface="Arial"/>
              <a:sym typeface="Arial"/>
            </a:endParaRPr>
          </a:p>
        </p:txBody>
      </p:sp>
      <p:sp>
        <p:nvSpPr>
          <p:cNvPr id="116" name="Google Shape;116;p2"/>
          <p:cNvSpPr txBox="1"/>
          <p:nvPr/>
        </p:nvSpPr>
        <p:spPr>
          <a:xfrm>
            <a:off x="4024659" y="3965154"/>
            <a:ext cx="937219" cy="714375"/>
          </a:xfrm>
          <a:prstGeom prst="rect">
            <a:avLst/>
          </a:prstGeom>
          <a:noFill/>
          <a:ln>
            <a:noFill/>
          </a:ln>
        </p:spPr>
        <p:txBody>
          <a:bodyPr spcFirstLastPara="1" wrap="square" lIns="0" tIns="0" rIns="0" bIns="0" anchor="t" anchorCtr="0">
            <a:spAutoFit/>
          </a:bodyPr>
          <a:lstStyle/>
          <a:p>
            <a:pPr marL="0" marR="0" lvl="0" indent="0" algn="ctr" rtl="0">
              <a:lnSpc>
                <a:spcPct val="120018"/>
              </a:lnSpc>
              <a:spcBef>
                <a:spcPts val="0"/>
              </a:spcBef>
              <a:spcAft>
                <a:spcPts val="0"/>
              </a:spcAft>
              <a:buClr>
                <a:srgbClr val="000000"/>
              </a:buClr>
              <a:buSzPts val="4271"/>
              <a:buFont typeface="Arial"/>
              <a:buNone/>
            </a:pPr>
            <a:r>
              <a:rPr lang="en-IN" sz="4271" b="0" i="0" u="none" strike="noStrike" cap="none">
                <a:solidFill>
                  <a:srgbClr val="FFFFFF"/>
                </a:solidFill>
                <a:latin typeface="Arial"/>
                <a:ea typeface="Arial"/>
                <a:cs typeface="Arial"/>
                <a:sym typeface="Arial"/>
              </a:rPr>
              <a:t>02</a:t>
            </a:r>
            <a:endParaRPr sz="1400" b="0" i="0" u="none" strike="noStrike" cap="none">
              <a:solidFill>
                <a:srgbClr val="000000"/>
              </a:solidFill>
              <a:latin typeface="Arial"/>
              <a:ea typeface="Arial"/>
              <a:cs typeface="Arial"/>
              <a:sym typeface="Arial"/>
            </a:endParaRPr>
          </a:p>
        </p:txBody>
      </p:sp>
      <p:sp>
        <p:nvSpPr>
          <p:cNvPr id="117" name="Google Shape;117;p2"/>
          <p:cNvSpPr txBox="1"/>
          <p:nvPr/>
        </p:nvSpPr>
        <p:spPr>
          <a:xfrm>
            <a:off x="4024659" y="4846311"/>
            <a:ext cx="937219" cy="714375"/>
          </a:xfrm>
          <a:prstGeom prst="rect">
            <a:avLst/>
          </a:prstGeom>
          <a:noFill/>
          <a:ln>
            <a:noFill/>
          </a:ln>
        </p:spPr>
        <p:txBody>
          <a:bodyPr spcFirstLastPara="1" wrap="square" lIns="0" tIns="0" rIns="0" bIns="0" anchor="t" anchorCtr="0">
            <a:spAutoFit/>
          </a:bodyPr>
          <a:lstStyle/>
          <a:p>
            <a:pPr marL="0" marR="0" lvl="0" indent="0" algn="ctr" rtl="0">
              <a:lnSpc>
                <a:spcPct val="120018"/>
              </a:lnSpc>
              <a:spcBef>
                <a:spcPts val="0"/>
              </a:spcBef>
              <a:spcAft>
                <a:spcPts val="0"/>
              </a:spcAft>
              <a:buClr>
                <a:srgbClr val="000000"/>
              </a:buClr>
              <a:buSzPts val="4271"/>
              <a:buFont typeface="Arial"/>
              <a:buNone/>
            </a:pPr>
            <a:r>
              <a:rPr lang="en-IN" sz="4271" b="0" i="0" u="none" strike="noStrike" cap="none">
                <a:solidFill>
                  <a:srgbClr val="FFFFFF"/>
                </a:solidFill>
                <a:latin typeface="Arial"/>
                <a:ea typeface="Arial"/>
                <a:cs typeface="Arial"/>
                <a:sym typeface="Arial"/>
              </a:rPr>
              <a:t>03</a:t>
            </a:r>
            <a:endParaRPr sz="1400" b="0" i="0" u="none" strike="noStrike" cap="none">
              <a:solidFill>
                <a:srgbClr val="000000"/>
              </a:solidFill>
              <a:latin typeface="Arial"/>
              <a:ea typeface="Arial"/>
              <a:cs typeface="Arial"/>
              <a:sym typeface="Arial"/>
            </a:endParaRPr>
          </a:p>
        </p:txBody>
      </p:sp>
      <p:sp>
        <p:nvSpPr>
          <p:cNvPr id="118" name="Google Shape;118;p2"/>
          <p:cNvSpPr txBox="1"/>
          <p:nvPr/>
        </p:nvSpPr>
        <p:spPr>
          <a:xfrm>
            <a:off x="4024659" y="5643430"/>
            <a:ext cx="937219" cy="714375"/>
          </a:xfrm>
          <a:prstGeom prst="rect">
            <a:avLst/>
          </a:prstGeom>
          <a:noFill/>
          <a:ln>
            <a:noFill/>
          </a:ln>
        </p:spPr>
        <p:txBody>
          <a:bodyPr spcFirstLastPara="1" wrap="square" lIns="0" tIns="0" rIns="0" bIns="0" anchor="t" anchorCtr="0">
            <a:spAutoFit/>
          </a:bodyPr>
          <a:lstStyle/>
          <a:p>
            <a:pPr marL="0" marR="0" lvl="0" indent="0" algn="ctr" rtl="0">
              <a:lnSpc>
                <a:spcPct val="120018"/>
              </a:lnSpc>
              <a:spcBef>
                <a:spcPts val="0"/>
              </a:spcBef>
              <a:spcAft>
                <a:spcPts val="0"/>
              </a:spcAft>
              <a:buClr>
                <a:srgbClr val="000000"/>
              </a:buClr>
              <a:buSzPts val="4271"/>
              <a:buFont typeface="Arial"/>
              <a:buNone/>
            </a:pPr>
            <a:r>
              <a:rPr lang="en-IN" sz="4271" b="0" i="0" u="none" strike="noStrike" cap="none">
                <a:solidFill>
                  <a:srgbClr val="FFFFFF"/>
                </a:solidFill>
                <a:latin typeface="Arial"/>
                <a:ea typeface="Arial"/>
                <a:cs typeface="Arial"/>
                <a:sym typeface="Arial"/>
              </a:rPr>
              <a:t>04</a:t>
            </a:r>
            <a:endParaRPr sz="1400" b="0" i="0" u="none" strike="noStrike" cap="none">
              <a:solidFill>
                <a:srgbClr val="000000"/>
              </a:solidFill>
              <a:latin typeface="Arial"/>
              <a:ea typeface="Arial"/>
              <a:cs typeface="Arial"/>
              <a:sym typeface="Arial"/>
            </a:endParaRPr>
          </a:p>
        </p:txBody>
      </p:sp>
      <p:sp>
        <p:nvSpPr>
          <p:cNvPr id="119" name="Google Shape;119;p2"/>
          <p:cNvSpPr txBox="1"/>
          <p:nvPr/>
        </p:nvSpPr>
        <p:spPr>
          <a:xfrm>
            <a:off x="4044260" y="6435807"/>
            <a:ext cx="937219" cy="714375"/>
          </a:xfrm>
          <a:prstGeom prst="rect">
            <a:avLst/>
          </a:prstGeom>
          <a:noFill/>
          <a:ln>
            <a:noFill/>
          </a:ln>
        </p:spPr>
        <p:txBody>
          <a:bodyPr spcFirstLastPara="1" wrap="square" lIns="0" tIns="0" rIns="0" bIns="0" anchor="t" anchorCtr="0">
            <a:spAutoFit/>
          </a:bodyPr>
          <a:lstStyle/>
          <a:p>
            <a:pPr marL="0" marR="0" lvl="0" indent="0" algn="ctr" rtl="0">
              <a:lnSpc>
                <a:spcPct val="120018"/>
              </a:lnSpc>
              <a:spcBef>
                <a:spcPts val="0"/>
              </a:spcBef>
              <a:spcAft>
                <a:spcPts val="0"/>
              </a:spcAft>
              <a:buClr>
                <a:srgbClr val="000000"/>
              </a:buClr>
              <a:buSzPts val="4271"/>
              <a:buFont typeface="Arial"/>
              <a:buNone/>
            </a:pPr>
            <a:r>
              <a:rPr lang="en-IN" sz="4271" b="0" i="0" u="none" strike="noStrike" cap="none">
                <a:solidFill>
                  <a:srgbClr val="FFFFFF"/>
                </a:solidFill>
                <a:latin typeface="Arial"/>
                <a:ea typeface="Arial"/>
                <a:cs typeface="Arial"/>
                <a:sym typeface="Arial"/>
              </a:rPr>
              <a:t>05</a:t>
            </a:r>
            <a:endParaRPr sz="1400" b="0" i="0" u="none" strike="noStrike" cap="none">
              <a:solidFill>
                <a:srgbClr val="000000"/>
              </a:solidFill>
              <a:latin typeface="Arial"/>
              <a:ea typeface="Arial"/>
              <a:cs typeface="Arial"/>
              <a:sym typeface="Arial"/>
            </a:endParaRPr>
          </a:p>
        </p:txBody>
      </p:sp>
      <p:sp>
        <p:nvSpPr>
          <p:cNvPr id="120" name="Google Shape;120;p2"/>
          <p:cNvSpPr txBox="1"/>
          <p:nvPr/>
        </p:nvSpPr>
        <p:spPr>
          <a:xfrm>
            <a:off x="4044260" y="7266771"/>
            <a:ext cx="937219" cy="714375"/>
          </a:xfrm>
          <a:prstGeom prst="rect">
            <a:avLst/>
          </a:prstGeom>
          <a:noFill/>
          <a:ln>
            <a:noFill/>
          </a:ln>
        </p:spPr>
        <p:txBody>
          <a:bodyPr spcFirstLastPara="1" wrap="square" lIns="0" tIns="0" rIns="0" bIns="0" anchor="t" anchorCtr="0">
            <a:spAutoFit/>
          </a:bodyPr>
          <a:lstStyle/>
          <a:p>
            <a:pPr marL="0" marR="0" lvl="0" indent="0" algn="ctr" rtl="0">
              <a:lnSpc>
                <a:spcPct val="120018"/>
              </a:lnSpc>
              <a:spcBef>
                <a:spcPts val="0"/>
              </a:spcBef>
              <a:spcAft>
                <a:spcPts val="0"/>
              </a:spcAft>
              <a:buClr>
                <a:srgbClr val="000000"/>
              </a:buClr>
              <a:buSzPts val="4271"/>
              <a:buFont typeface="Arial"/>
              <a:buNone/>
            </a:pPr>
            <a:r>
              <a:rPr lang="en-IN" sz="4271" b="0" i="0" u="none" strike="noStrike" cap="none">
                <a:solidFill>
                  <a:srgbClr val="FFFFFF"/>
                </a:solidFill>
                <a:latin typeface="Arial"/>
                <a:ea typeface="Arial"/>
                <a:cs typeface="Arial"/>
                <a:sym typeface="Arial"/>
              </a:rPr>
              <a:t>06</a:t>
            </a:r>
            <a:endParaRPr sz="1400" b="0" i="0" u="none" strike="noStrike" cap="none">
              <a:solidFill>
                <a:srgbClr val="000000"/>
              </a:solidFill>
              <a:latin typeface="Arial"/>
              <a:ea typeface="Arial"/>
              <a:cs typeface="Arial"/>
              <a:sym typeface="Arial"/>
            </a:endParaRPr>
          </a:p>
        </p:txBody>
      </p:sp>
      <p:sp>
        <p:nvSpPr>
          <p:cNvPr id="121" name="Google Shape;121;p2"/>
          <p:cNvSpPr txBox="1"/>
          <p:nvPr/>
        </p:nvSpPr>
        <p:spPr>
          <a:xfrm>
            <a:off x="4044260" y="8117064"/>
            <a:ext cx="937219" cy="714375"/>
          </a:xfrm>
          <a:prstGeom prst="rect">
            <a:avLst/>
          </a:prstGeom>
          <a:noFill/>
          <a:ln>
            <a:noFill/>
          </a:ln>
        </p:spPr>
        <p:txBody>
          <a:bodyPr spcFirstLastPara="1" wrap="square" lIns="0" tIns="0" rIns="0" bIns="0" anchor="t" anchorCtr="0">
            <a:spAutoFit/>
          </a:bodyPr>
          <a:lstStyle/>
          <a:p>
            <a:pPr marL="0" marR="0" lvl="0" indent="0" algn="ctr" rtl="0">
              <a:lnSpc>
                <a:spcPct val="120018"/>
              </a:lnSpc>
              <a:spcBef>
                <a:spcPts val="0"/>
              </a:spcBef>
              <a:spcAft>
                <a:spcPts val="0"/>
              </a:spcAft>
              <a:buClr>
                <a:srgbClr val="000000"/>
              </a:buClr>
              <a:buSzPts val="4271"/>
              <a:buFont typeface="Arial"/>
              <a:buNone/>
            </a:pPr>
            <a:r>
              <a:rPr lang="en-IN" sz="4271" b="0" i="0" u="none" strike="noStrike" cap="none">
                <a:solidFill>
                  <a:srgbClr val="FFFFFF"/>
                </a:solidFill>
                <a:latin typeface="Arial"/>
                <a:ea typeface="Arial"/>
                <a:cs typeface="Arial"/>
                <a:sym typeface="Arial"/>
              </a:rPr>
              <a:t>07</a:t>
            </a:r>
            <a:endParaRPr sz="1400" b="0" i="0" u="none" strike="noStrike" cap="none">
              <a:solidFill>
                <a:srgbClr val="000000"/>
              </a:solidFill>
              <a:latin typeface="Arial"/>
              <a:ea typeface="Arial"/>
              <a:cs typeface="Arial"/>
              <a:sym typeface="Arial"/>
            </a:endParaRPr>
          </a:p>
        </p:txBody>
      </p:sp>
      <p:sp>
        <p:nvSpPr>
          <p:cNvPr id="122" name="Google Shape;122;p2"/>
          <p:cNvSpPr txBox="1"/>
          <p:nvPr/>
        </p:nvSpPr>
        <p:spPr>
          <a:xfrm>
            <a:off x="5400737" y="3333137"/>
            <a:ext cx="5790503" cy="418548"/>
          </a:xfrm>
          <a:prstGeom prst="rect">
            <a:avLst/>
          </a:prstGeom>
          <a:noFill/>
          <a:ln>
            <a:noFill/>
          </a:ln>
        </p:spPr>
        <p:txBody>
          <a:bodyPr spcFirstLastPara="1" wrap="square" lIns="0" tIns="0" rIns="0" bIns="0" anchor="t" anchorCtr="0">
            <a:spAutoFit/>
          </a:bodyPr>
          <a:lstStyle/>
          <a:p>
            <a:pPr marL="0" marR="0" lvl="0" indent="0" algn="l" rtl="0">
              <a:lnSpc>
                <a:spcPct val="137995"/>
              </a:lnSpc>
              <a:spcBef>
                <a:spcPts val="0"/>
              </a:spcBef>
              <a:spcAft>
                <a:spcPts val="0"/>
              </a:spcAft>
              <a:buClr>
                <a:srgbClr val="000000"/>
              </a:buClr>
              <a:buSzPts val="2524"/>
              <a:buFont typeface="Arial"/>
              <a:buNone/>
            </a:pPr>
            <a:r>
              <a:rPr lang="en-IN" sz="2524" b="0" i="0" u="none" strike="noStrike" cap="none">
                <a:solidFill>
                  <a:srgbClr val="231F20"/>
                </a:solidFill>
                <a:latin typeface="Arial"/>
                <a:ea typeface="Arial"/>
                <a:cs typeface="Arial"/>
                <a:sym typeface="Arial"/>
              </a:rPr>
              <a:t>Topic Introduction</a:t>
            </a:r>
            <a:endParaRPr sz="1400" b="0" i="0" u="none" strike="noStrike" cap="none">
              <a:solidFill>
                <a:srgbClr val="000000"/>
              </a:solidFill>
              <a:latin typeface="Arial"/>
              <a:ea typeface="Arial"/>
              <a:cs typeface="Arial"/>
              <a:sym typeface="Arial"/>
            </a:endParaRPr>
          </a:p>
        </p:txBody>
      </p:sp>
      <p:sp>
        <p:nvSpPr>
          <p:cNvPr id="123" name="Google Shape;123;p2"/>
          <p:cNvSpPr txBox="1"/>
          <p:nvPr/>
        </p:nvSpPr>
        <p:spPr>
          <a:xfrm>
            <a:off x="5400736" y="4120455"/>
            <a:ext cx="5790503" cy="418548"/>
          </a:xfrm>
          <a:prstGeom prst="rect">
            <a:avLst/>
          </a:prstGeom>
          <a:noFill/>
          <a:ln>
            <a:noFill/>
          </a:ln>
        </p:spPr>
        <p:txBody>
          <a:bodyPr spcFirstLastPara="1" wrap="square" lIns="0" tIns="0" rIns="0" bIns="0" anchor="t" anchorCtr="0">
            <a:spAutoFit/>
          </a:bodyPr>
          <a:lstStyle/>
          <a:p>
            <a:pPr marL="0" marR="0" lvl="0" indent="0" algn="l" rtl="0">
              <a:lnSpc>
                <a:spcPct val="137995"/>
              </a:lnSpc>
              <a:spcBef>
                <a:spcPts val="0"/>
              </a:spcBef>
              <a:spcAft>
                <a:spcPts val="0"/>
              </a:spcAft>
              <a:buClr>
                <a:srgbClr val="000000"/>
              </a:buClr>
              <a:buSzPts val="2524"/>
              <a:buFont typeface="Arial"/>
              <a:buNone/>
            </a:pPr>
            <a:r>
              <a:rPr lang="en-IN" sz="2524" b="0" i="0" u="none" strike="noStrike" cap="none">
                <a:solidFill>
                  <a:srgbClr val="231F20"/>
                </a:solidFill>
                <a:latin typeface="Arial"/>
                <a:ea typeface="Arial"/>
                <a:cs typeface="Arial"/>
                <a:sym typeface="Arial"/>
              </a:rPr>
              <a:t>Literature Review</a:t>
            </a:r>
            <a:endParaRPr sz="1400" b="0" i="0" u="none" strike="noStrike" cap="none">
              <a:solidFill>
                <a:srgbClr val="000000"/>
              </a:solidFill>
              <a:latin typeface="Arial"/>
              <a:ea typeface="Arial"/>
              <a:cs typeface="Arial"/>
              <a:sym typeface="Arial"/>
            </a:endParaRPr>
          </a:p>
        </p:txBody>
      </p:sp>
      <p:sp>
        <p:nvSpPr>
          <p:cNvPr id="124" name="Google Shape;124;p2"/>
          <p:cNvSpPr txBox="1"/>
          <p:nvPr/>
        </p:nvSpPr>
        <p:spPr>
          <a:xfrm>
            <a:off x="5425144" y="5045823"/>
            <a:ext cx="6076629" cy="418548"/>
          </a:xfrm>
          <a:prstGeom prst="rect">
            <a:avLst/>
          </a:prstGeom>
          <a:noFill/>
          <a:ln>
            <a:noFill/>
          </a:ln>
        </p:spPr>
        <p:txBody>
          <a:bodyPr spcFirstLastPara="1" wrap="square" lIns="0" tIns="0" rIns="0" bIns="0" anchor="t" anchorCtr="0">
            <a:spAutoFit/>
          </a:bodyPr>
          <a:lstStyle/>
          <a:p>
            <a:pPr marL="0" marR="0" lvl="0" indent="0" algn="l" rtl="0">
              <a:lnSpc>
                <a:spcPct val="137995"/>
              </a:lnSpc>
              <a:spcBef>
                <a:spcPts val="0"/>
              </a:spcBef>
              <a:spcAft>
                <a:spcPts val="0"/>
              </a:spcAft>
              <a:buClr>
                <a:srgbClr val="000000"/>
              </a:buClr>
              <a:buSzPts val="2524"/>
              <a:buFont typeface="Arial"/>
              <a:buNone/>
            </a:pPr>
            <a:r>
              <a:rPr lang="en-IN" sz="2524" b="0" i="0" u="none" strike="noStrike" cap="none">
                <a:solidFill>
                  <a:srgbClr val="231F20"/>
                </a:solidFill>
                <a:latin typeface="Arial"/>
                <a:ea typeface="Arial"/>
                <a:cs typeface="Arial"/>
                <a:sym typeface="Arial"/>
              </a:rPr>
              <a:t>Problem statement</a:t>
            </a:r>
            <a:endParaRPr sz="1400" b="0" i="0" u="none" strike="noStrike" cap="none">
              <a:solidFill>
                <a:srgbClr val="000000"/>
              </a:solidFill>
              <a:latin typeface="Arial"/>
              <a:ea typeface="Arial"/>
              <a:cs typeface="Arial"/>
              <a:sym typeface="Arial"/>
            </a:endParaRPr>
          </a:p>
        </p:txBody>
      </p:sp>
      <p:sp>
        <p:nvSpPr>
          <p:cNvPr id="125" name="Google Shape;125;p2"/>
          <p:cNvSpPr txBox="1"/>
          <p:nvPr/>
        </p:nvSpPr>
        <p:spPr>
          <a:xfrm>
            <a:off x="5400737" y="5925194"/>
            <a:ext cx="6076500" cy="388500"/>
          </a:xfrm>
          <a:prstGeom prst="rect">
            <a:avLst/>
          </a:prstGeom>
          <a:noFill/>
          <a:ln>
            <a:noFill/>
          </a:ln>
        </p:spPr>
        <p:txBody>
          <a:bodyPr spcFirstLastPara="1" wrap="square" lIns="0" tIns="0" rIns="0" bIns="0" anchor="t" anchorCtr="0">
            <a:spAutoFit/>
          </a:bodyPr>
          <a:lstStyle/>
          <a:p>
            <a:pPr>
              <a:defRPr sz="2524">
                <a:solidFill>
                  <a:srgbClr val="231F20"/>
                </a:solidFill>
                <a:latin typeface="Arial Rounded"/>
              </a:defRPr>
            </a:pPr>
            <a:r>
              <a:t>RDC 2 Feedback &amp; Research Pivot</a:t>
            </a:r>
          </a:p>
        </p:txBody>
      </p:sp>
      <p:sp>
        <p:nvSpPr>
          <p:cNvPr id="126" name="Google Shape;126;p2"/>
          <p:cNvSpPr txBox="1"/>
          <p:nvPr/>
        </p:nvSpPr>
        <p:spPr>
          <a:xfrm>
            <a:off x="5400735" y="7414684"/>
            <a:ext cx="5790503" cy="418548"/>
          </a:xfrm>
          <a:prstGeom prst="rect">
            <a:avLst/>
          </a:prstGeom>
          <a:noFill/>
          <a:ln>
            <a:noFill/>
          </a:ln>
        </p:spPr>
        <p:txBody>
          <a:bodyPr spcFirstLastPara="1" wrap="square" lIns="0" tIns="0" rIns="0" bIns="0" anchor="t" anchorCtr="0">
            <a:spAutoFit/>
          </a:bodyPr>
          <a:lstStyle/>
          <a:p>
            <a:pPr marL="0" marR="0" lvl="0" indent="0" algn="l" rtl="0">
              <a:lnSpc>
                <a:spcPct val="137995"/>
              </a:lnSpc>
              <a:spcBef>
                <a:spcPts val="0"/>
              </a:spcBef>
              <a:spcAft>
                <a:spcPts val="0"/>
              </a:spcAft>
              <a:buClr>
                <a:srgbClr val="000000"/>
              </a:buClr>
              <a:buSzPts val="2524"/>
              <a:buFont typeface="Arial"/>
              <a:buNone/>
            </a:pPr>
            <a:r>
              <a:rPr lang="en-IN" sz="2524" b="0" i="0" u="none" strike="noStrike" cap="none">
                <a:solidFill>
                  <a:srgbClr val="231F20"/>
                </a:solidFill>
                <a:latin typeface="Arial"/>
                <a:ea typeface="Arial"/>
                <a:cs typeface="Arial"/>
                <a:sym typeface="Arial"/>
              </a:rPr>
              <a:t>Conclusion</a:t>
            </a:r>
            <a:endParaRPr sz="1400" b="0" i="0" u="none" strike="noStrike" cap="none">
              <a:solidFill>
                <a:srgbClr val="000000"/>
              </a:solidFill>
              <a:latin typeface="Arial"/>
              <a:ea typeface="Arial"/>
              <a:cs typeface="Arial"/>
              <a:sym typeface="Arial"/>
            </a:endParaRPr>
          </a:p>
        </p:txBody>
      </p:sp>
      <p:sp>
        <p:nvSpPr>
          <p:cNvPr id="127" name="Google Shape;127;p2"/>
          <p:cNvSpPr txBox="1"/>
          <p:nvPr/>
        </p:nvSpPr>
        <p:spPr>
          <a:xfrm>
            <a:off x="5400737" y="8279265"/>
            <a:ext cx="6076629" cy="411010"/>
          </a:xfrm>
          <a:prstGeom prst="rect">
            <a:avLst/>
          </a:prstGeom>
          <a:noFill/>
          <a:ln>
            <a:noFill/>
          </a:ln>
        </p:spPr>
        <p:txBody>
          <a:bodyPr spcFirstLastPara="1" wrap="square" lIns="0" tIns="0" rIns="0" bIns="0" anchor="t" anchorCtr="0">
            <a:spAutoFit/>
          </a:bodyPr>
          <a:lstStyle/>
          <a:p>
            <a:pPr marL="0" marR="0" lvl="0" indent="0" algn="l" rtl="0">
              <a:lnSpc>
                <a:spcPct val="137995"/>
              </a:lnSpc>
              <a:spcBef>
                <a:spcPts val="0"/>
              </a:spcBef>
              <a:spcAft>
                <a:spcPts val="0"/>
              </a:spcAft>
              <a:buClr>
                <a:srgbClr val="000000"/>
              </a:buClr>
              <a:buSzPts val="2524"/>
              <a:buFont typeface="Arial"/>
              <a:buNone/>
            </a:pPr>
            <a:r>
              <a:rPr lang="en-IN" sz="2524" b="0" i="0" u="none" strike="noStrike" cap="none">
                <a:solidFill>
                  <a:srgbClr val="231F20"/>
                </a:solidFill>
                <a:latin typeface="Arial"/>
                <a:ea typeface="Arial"/>
                <a:cs typeface="Arial"/>
                <a:sym typeface="Arial"/>
              </a:rPr>
              <a:t>References</a:t>
            </a:r>
            <a:endParaRPr sz="1400" b="0" i="0" u="none" strike="noStrike" cap="none">
              <a:solidFill>
                <a:srgbClr val="000000"/>
              </a:solidFill>
              <a:latin typeface="Arial"/>
              <a:ea typeface="Arial"/>
              <a:cs typeface="Arial"/>
              <a:sym typeface="Arial"/>
            </a:endParaRPr>
          </a:p>
        </p:txBody>
      </p:sp>
      <p:sp>
        <p:nvSpPr>
          <p:cNvPr id="128" name="Google Shape;128;p2"/>
          <p:cNvSpPr txBox="1"/>
          <p:nvPr/>
        </p:nvSpPr>
        <p:spPr>
          <a:xfrm>
            <a:off x="5425150" y="6662550"/>
            <a:ext cx="7856700" cy="373200"/>
          </a:xfrm>
          <a:prstGeom prst="rect">
            <a:avLst/>
          </a:prstGeom>
          <a:noFill/>
          <a:ln>
            <a:noFill/>
          </a:ln>
        </p:spPr>
        <p:txBody>
          <a:bodyPr spcFirstLastPara="1" wrap="square" lIns="0" tIns="0" rIns="0" bIns="0" anchor="t" anchorCtr="0">
            <a:spAutoFit/>
          </a:bodyPr>
          <a:lstStyle/>
          <a:p>
            <a:pPr marL="0" lvl="0" indent="0" algn="l" rtl="0">
              <a:lnSpc>
                <a:spcPct val="137995"/>
              </a:lnSpc>
              <a:spcBef>
                <a:spcPts val="0"/>
              </a:spcBef>
              <a:spcAft>
                <a:spcPts val="0"/>
              </a:spcAft>
              <a:buClr>
                <a:schemeClr val="dk1"/>
              </a:buClr>
              <a:buSzPts val="1100"/>
              <a:buFont typeface="Arial"/>
              <a:buNone/>
            </a:pPr>
            <a:r>
              <a:rPr lang="en-IN" sz="2424">
                <a:solidFill>
                  <a:srgbClr val="231F20"/>
                </a:solidFill>
              </a:rPr>
              <a:t>Research State, Outcome &amp; Timeline</a:t>
            </a:r>
            <a:endParaRPr sz="2524">
              <a:solidFill>
                <a:srgbClr val="231F20"/>
              </a:solidFill>
            </a:endParaRPr>
          </a:p>
        </p:txBody>
      </p:sp>
      <p:pic>
        <p:nvPicPr>
          <p:cNvPr id="129" name="Google Shape;129;p2" descr="What is a Smart Factory? A Guide to Smart Manufacturing"/>
          <p:cNvPicPr preferRelativeResize="0"/>
          <p:nvPr/>
        </p:nvPicPr>
        <p:blipFill rotWithShape="1">
          <a:blip r:embed="rId4">
            <a:alphaModFix/>
          </a:blip>
          <a:srcRect/>
          <a:stretch/>
        </p:blipFill>
        <p:spPr>
          <a:xfrm>
            <a:off x="12174553" y="2099035"/>
            <a:ext cx="5231182" cy="618023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134"/>
        <p:cNvGrpSpPr/>
        <p:nvPr/>
      </p:nvGrpSpPr>
      <p:grpSpPr>
        <a:xfrm>
          <a:off x="0" y="0"/>
          <a:ext cx="0" cy="0"/>
          <a:chOff x="0" y="0"/>
          <a:chExt cx="0" cy="0"/>
        </a:xfrm>
      </p:grpSpPr>
      <p:sp>
        <p:nvSpPr>
          <p:cNvPr id="135" name="Google Shape;135;p3"/>
          <p:cNvSpPr txBox="1"/>
          <p:nvPr/>
        </p:nvSpPr>
        <p:spPr>
          <a:xfrm>
            <a:off x="1998308" y="581804"/>
            <a:ext cx="6825416" cy="964623"/>
          </a:xfrm>
          <a:prstGeom prst="rect">
            <a:avLst/>
          </a:prstGeom>
          <a:noFill/>
          <a:ln>
            <a:noFill/>
          </a:ln>
        </p:spPr>
        <p:txBody>
          <a:bodyPr spcFirstLastPara="1" wrap="square" lIns="0" tIns="0" rIns="0" bIns="0" anchor="t" anchorCtr="0">
            <a:spAutoFit/>
          </a:bodyPr>
          <a:lstStyle/>
          <a:p>
            <a:pPr marL="0" marR="0" lvl="0" indent="0" algn="l" rtl="0">
              <a:lnSpc>
                <a:spcPct val="138005"/>
              </a:lnSpc>
              <a:spcBef>
                <a:spcPts val="0"/>
              </a:spcBef>
              <a:spcAft>
                <a:spcPts val="0"/>
              </a:spcAft>
              <a:buClr>
                <a:srgbClr val="000000"/>
              </a:buClr>
              <a:buSzPts val="5765"/>
              <a:buFont typeface="Arial"/>
              <a:buNone/>
            </a:pPr>
            <a:r>
              <a:rPr lang="en-IN" sz="5765" b="1" i="0" u="none" strike="noStrike" cap="none">
                <a:solidFill>
                  <a:srgbClr val="231F20"/>
                </a:solidFill>
                <a:latin typeface="Arial Rounded"/>
                <a:ea typeface="Arial Rounded"/>
                <a:cs typeface="Arial Rounded"/>
                <a:sym typeface="Arial Rounded"/>
              </a:rPr>
              <a:t>Introduction </a:t>
            </a:r>
            <a:endParaRPr sz="1400" b="0" i="0" u="none" strike="noStrike" cap="none">
              <a:solidFill>
                <a:srgbClr val="000000"/>
              </a:solidFill>
              <a:latin typeface="Arial"/>
              <a:ea typeface="Arial"/>
              <a:cs typeface="Arial"/>
              <a:sym typeface="Arial"/>
            </a:endParaRPr>
          </a:p>
        </p:txBody>
      </p:sp>
      <p:sp>
        <p:nvSpPr>
          <p:cNvPr id="136" name="Google Shape;136;p3"/>
          <p:cNvSpPr txBox="1"/>
          <p:nvPr/>
        </p:nvSpPr>
        <p:spPr>
          <a:xfrm>
            <a:off x="927847" y="2043953"/>
            <a:ext cx="15394200" cy="8311800"/>
          </a:xfrm>
          <a:prstGeom prst="rect">
            <a:avLst/>
          </a:prstGeom>
          <a:noFill/>
          <a:ln>
            <a:noFill/>
          </a:ln>
        </p:spPr>
        <p:txBody>
          <a:bodyPr spcFirstLastPara="1" wrap="square" lIns="0" tIns="0" rIns="0" bIns="0" anchor="t" anchorCtr="0">
            <a:spAutoFit/>
          </a:bodyPr>
          <a:lstStyle/>
          <a:p>
            <a:pPr marL="571500" marR="0" lvl="0" indent="-571500" algn="l" rtl="0">
              <a:lnSpc>
                <a:spcPct val="100000"/>
              </a:lnSpc>
              <a:spcBef>
                <a:spcPts val="0"/>
              </a:spcBef>
              <a:spcAft>
                <a:spcPts val="0"/>
              </a:spcAft>
              <a:buClr>
                <a:srgbClr val="000000"/>
              </a:buClr>
              <a:buSzPts val="3600"/>
              <a:buFont typeface="Arial"/>
              <a:buChar char="•"/>
            </a:pPr>
            <a:r>
              <a:rPr lang="en-IN" sz="3600" b="1" i="0" u="none" strike="noStrike" cap="none">
                <a:solidFill>
                  <a:srgbClr val="000000"/>
                </a:solidFill>
                <a:latin typeface="Arial"/>
                <a:ea typeface="Arial"/>
                <a:cs typeface="Arial"/>
                <a:sym typeface="Arial"/>
              </a:rPr>
              <a:t>Smart Manufacturing</a:t>
            </a:r>
            <a:r>
              <a:rPr lang="en-IN" sz="3600" b="0" i="0" u="none" strike="noStrike" cap="none">
                <a:solidFill>
                  <a:srgbClr val="000000"/>
                </a:solidFill>
                <a:latin typeface="Arial"/>
                <a:ea typeface="Arial"/>
                <a:cs typeface="Arial"/>
                <a:sym typeface="Arial"/>
              </a:rPr>
              <a:t> integrates IoT, AI, and cyber-physical systems for enhanced automation and efficiency. </a:t>
            </a:r>
            <a:r>
              <a:rPr lang="en-IN" sz="3200" b="0" i="0" u="none" strike="noStrike" cap="none">
                <a:solidFill>
                  <a:srgbClr val="000000"/>
                </a:solidFill>
                <a:latin typeface="Arial"/>
                <a:ea typeface="Arial"/>
                <a:cs typeface="Arial"/>
                <a:sym typeface="Arial"/>
              </a:rPr>
              <a:t>[</a:t>
            </a:r>
            <a:r>
              <a:rPr lang="en-IN" sz="3200"/>
              <a:t>5</a:t>
            </a:r>
            <a:r>
              <a:rPr lang="en-IN" sz="3200" b="0" i="0" u="none" strike="noStrike" cap="none">
                <a:solidFill>
                  <a:srgbClr val="000000"/>
                </a:solidFill>
                <a:latin typeface="Arial"/>
                <a:ea typeface="Arial"/>
                <a:cs typeface="Arial"/>
                <a:sym typeface="Arial"/>
              </a:rPr>
              <a:t>][</a:t>
            </a:r>
            <a:r>
              <a:rPr lang="en-IN" sz="3200"/>
              <a:t>6</a:t>
            </a:r>
            <a:r>
              <a:rPr lang="en-IN" sz="32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600"/>
              <a:buFont typeface="Arial"/>
              <a:buChar char="•"/>
            </a:pPr>
            <a:r>
              <a:rPr lang="en-IN" sz="3600" b="1" i="0" u="none" strike="noStrike" cap="none">
                <a:solidFill>
                  <a:srgbClr val="000000"/>
                </a:solidFill>
                <a:latin typeface="Arial"/>
                <a:ea typeface="Arial"/>
                <a:cs typeface="Arial"/>
                <a:sym typeface="Arial"/>
              </a:rPr>
              <a:t>Cybersecurity Threats</a:t>
            </a:r>
            <a:r>
              <a:rPr lang="en-IN" sz="3600" b="0" i="0" u="none" strike="noStrike" cap="none">
                <a:solidFill>
                  <a:srgbClr val="000000"/>
                </a:solidFill>
                <a:latin typeface="Arial"/>
                <a:ea typeface="Arial"/>
                <a:cs typeface="Arial"/>
                <a:sym typeface="Arial"/>
              </a:rPr>
              <a:t>: Manufacturing is now the most targeted sector for cyberattacks, with a 41% rise in attacks in 2024. </a:t>
            </a:r>
            <a:r>
              <a:rPr lang="en-IN" sz="3200" b="0" i="0" u="none" strike="noStrike" cap="none">
                <a:solidFill>
                  <a:srgbClr val="000000"/>
                </a:solidFill>
                <a:latin typeface="Arial"/>
                <a:ea typeface="Arial"/>
                <a:cs typeface="Arial"/>
                <a:sym typeface="Arial"/>
              </a:rPr>
              <a:t>[</a:t>
            </a:r>
            <a:r>
              <a:rPr lang="en-IN" sz="3200"/>
              <a:t>5</a:t>
            </a:r>
            <a:r>
              <a:rPr lang="en-IN" sz="3200" b="0" i="0" u="none" strike="noStrike" cap="none">
                <a:solidFill>
                  <a:srgbClr val="000000"/>
                </a:solidFill>
                <a:latin typeface="Arial"/>
                <a:ea typeface="Arial"/>
                <a:cs typeface="Arial"/>
                <a:sym typeface="Arial"/>
              </a:rPr>
              <a:t>][</a:t>
            </a:r>
            <a:r>
              <a:rPr lang="en-IN" sz="3200"/>
              <a:t>7</a:t>
            </a:r>
            <a:r>
              <a:rPr lang="en-IN" sz="32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600"/>
              <a:buFont typeface="Arial"/>
              <a:buChar char="•"/>
            </a:pPr>
            <a:r>
              <a:rPr lang="en-IN" sz="3600" b="1" i="0" u="none" strike="noStrike" cap="none">
                <a:solidFill>
                  <a:srgbClr val="000000"/>
                </a:solidFill>
                <a:latin typeface="Arial"/>
                <a:ea typeface="Arial"/>
                <a:cs typeface="Arial"/>
                <a:sym typeface="Arial"/>
              </a:rPr>
              <a:t>Ransomware Dominance:</a:t>
            </a:r>
            <a:r>
              <a:rPr lang="en-IN" sz="3600" b="0" i="0" u="none" strike="noStrike" cap="none">
                <a:solidFill>
                  <a:srgbClr val="000000"/>
                </a:solidFill>
                <a:latin typeface="Arial"/>
                <a:ea typeface="Arial"/>
                <a:cs typeface="Arial"/>
                <a:sym typeface="Arial"/>
              </a:rPr>
              <a:t> Manufacturing bears 70% of ransomware activities within industrial sectors, with 424 incidents in Q4 2024 alone</a:t>
            </a:r>
            <a:r>
              <a:rPr lang="en-IN" sz="3200" b="0" i="0" u="none" strike="noStrike" cap="none">
                <a:solidFill>
                  <a:srgbClr val="000000"/>
                </a:solidFill>
                <a:latin typeface="Arial"/>
                <a:ea typeface="Arial"/>
                <a:cs typeface="Arial"/>
                <a:sym typeface="Arial"/>
              </a:rPr>
              <a:t>[</a:t>
            </a:r>
            <a:r>
              <a:rPr lang="en-IN" sz="3200"/>
              <a:t>7</a:t>
            </a:r>
            <a:r>
              <a:rPr lang="en-IN" sz="3200" b="0" i="0" u="none" strike="noStrike" cap="none">
                <a:solidFill>
                  <a:srgbClr val="000000"/>
                </a:solidFill>
                <a:latin typeface="Arial"/>
                <a:ea typeface="Arial"/>
                <a:cs typeface="Arial"/>
                <a:sym typeface="Arial"/>
              </a:rPr>
              <a:t>]</a:t>
            </a:r>
            <a:r>
              <a:rPr lang="en-IN" sz="36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600"/>
              <a:buFont typeface="Arial"/>
              <a:buChar char="•"/>
            </a:pPr>
            <a:r>
              <a:rPr lang="en-IN" sz="3600" b="1" i="0" u="none" strike="noStrike" cap="none">
                <a:solidFill>
                  <a:srgbClr val="000000"/>
                </a:solidFill>
                <a:latin typeface="Arial"/>
                <a:ea typeface="Arial"/>
                <a:cs typeface="Arial"/>
                <a:sym typeface="Arial"/>
              </a:rPr>
              <a:t>AI Paradox</a:t>
            </a:r>
            <a:r>
              <a:rPr lang="en-IN" sz="3600" b="0" i="0" u="none" strike="noStrike" cap="none">
                <a:solidFill>
                  <a:srgbClr val="000000"/>
                </a:solidFill>
                <a:latin typeface="Arial"/>
                <a:ea typeface="Arial"/>
                <a:cs typeface="Arial"/>
                <a:sym typeface="Arial"/>
              </a:rPr>
              <a:t>: While AI boosts operational efficiency, 85% of security professionals believe AI has made cybersecurity attacks more sophisticated</a:t>
            </a:r>
            <a:r>
              <a:rPr lang="en-IN" sz="3200" b="0" i="0" u="none" strike="noStrike" cap="none">
                <a:solidFill>
                  <a:srgbClr val="000000"/>
                </a:solidFill>
                <a:latin typeface="Arial"/>
                <a:ea typeface="Arial"/>
                <a:cs typeface="Arial"/>
                <a:sym typeface="Arial"/>
              </a:rPr>
              <a:t>[</a:t>
            </a:r>
            <a:r>
              <a:rPr lang="en-IN" sz="3200"/>
              <a:t>8</a:t>
            </a:r>
            <a:r>
              <a:rPr lang="en-IN" sz="3200" b="0" i="0" u="none" strike="noStrike" cap="none">
                <a:solidFill>
                  <a:srgbClr val="000000"/>
                </a:solidFill>
                <a:latin typeface="Arial"/>
                <a:ea typeface="Arial"/>
                <a:cs typeface="Arial"/>
                <a:sym typeface="Arial"/>
              </a:rPr>
              <a:t>]</a:t>
            </a:r>
            <a:endParaRPr sz="3600" b="0" i="0" u="none" strike="noStrike" cap="none">
              <a:solidFill>
                <a:srgbClr val="000000"/>
              </a:solidFill>
              <a:latin typeface="Arial"/>
              <a:ea typeface="Arial"/>
              <a:cs typeface="Arial"/>
              <a:sym typeface="Arial"/>
            </a:endParaRPr>
          </a:p>
          <a:p>
            <a:pPr marL="571500" marR="0" lvl="0" indent="-34290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600"/>
              <a:buFont typeface="Arial"/>
              <a:buChar char="•"/>
            </a:pPr>
            <a:r>
              <a:rPr lang="en-IN" sz="3600" b="1" i="0" u="none" strike="noStrike" cap="none">
                <a:solidFill>
                  <a:srgbClr val="000000"/>
                </a:solidFill>
                <a:latin typeface="Arial"/>
                <a:ea typeface="Arial"/>
                <a:cs typeface="Arial"/>
                <a:sym typeface="Arial"/>
              </a:rPr>
              <a:t>Need:</a:t>
            </a:r>
            <a:r>
              <a:rPr lang="en-IN" sz="3600" b="0" i="0" u="none" strike="noStrike" cap="none">
                <a:solidFill>
                  <a:srgbClr val="000000"/>
                </a:solidFill>
                <a:latin typeface="Arial"/>
                <a:ea typeface="Arial"/>
                <a:cs typeface="Arial"/>
                <a:sym typeface="Arial"/>
              </a:rPr>
              <a:t> Real-time, AI-driven security frameworks tailored for smart manufacturing environments</a:t>
            </a:r>
            <a:r>
              <a:rPr lang="en-IN" sz="3200" b="0" i="0" u="none" strike="noStrike" cap="none">
                <a:solidFill>
                  <a:srgbClr val="000000"/>
                </a:solidFill>
                <a:latin typeface="Arial"/>
                <a:ea typeface="Arial"/>
                <a:cs typeface="Arial"/>
                <a:sym typeface="Arial"/>
              </a:rPr>
              <a:t>[</a:t>
            </a:r>
            <a:r>
              <a:rPr lang="en-IN" sz="3200"/>
              <a:t>9</a:t>
            </a:r>
            <a:r>
              <a:rPr lang="en-IN" sz="3200" b="0" i="0" u="none" strike="noStrike" cap="none">
                <a:solidFill>
                  <a:srgbClr val="000000"/>
                </a:solidFill>
                <a:latin typeface="Arial"/>
                <a:ea typeface="Arial"/>
                <a:cs typeface="Arial"/>
                <a:sym typeface="Arial"/>
              </a:rPr>
              <a:t>][</a:t>
            </a:r>
            <a:r>
              <a:rPr lang="en-IN" sz="3200"/>
              <a:t>10</a:t>
            </a:r>
            <a:r>
              <a:rPr lang="en-IN" sz="3200" b="0" i="0" u="none" strike="noStrike" cap="none">
                <a:solidFill>
                  <a:srgbClr val="000000"/>
                </a:solidFill>
                <a:latin typeface="Arial"/>
                <a:ea typeface="Arial"/>
                <a:cs typeface="Arial"/>
                <a:sym typeface="Arial"/>
              </a:rPr>
              <a:t>].</a:t>
            </a:r>
            <a:endParaRPr sz="3600" b="0" i="0" u="none" strike="noStrike" cap="none">
              <a:solidFill>
                <a:srgbClr val="000000"/>
              </a:solidFill>
              <a:latin typeface="Arial"/>
              <a:ea typeface="Arial"/>
              <a:cs typeface="Arial"/>
              <a:sym typeface="Arial"/>
            </a:endParaRPr>
          </a:p>
        </p:txBody>
      </p:sp>
      <p:sp>
        <p:nvSpPr>
          <p:cNvPr id="137" name="Google Shape;137;p3"/>
          <p:cNvSpPr/>
          <p:nvPr/>
        </p:nvSpPr>
        <p:spPr>
          <a:xfrm>
            <a:off x="16322124" y="7754894"/>
            <a:ext cx="4118443" cy="3654183"/>
          </a:xfrm>
          <a:custGeom>
            <a:avLst/>
            <a:gdLst/>
            <a:ahLst/>
            <a:cxnLst/>
            <a:rect l="l" t="t" r="r" b="b"/>
            <a:pathLst>
              <a:path w="4118443" h="3654183" extrusionOk="0">
                <a:moveTo>
                  <a:pt x="0" y="0"/>
                </a:moveTo>
                <a:lnTo>
                  <a:pt x="4118443" y="0"/>
                </a:lnTo>
                <a:lnTo>
                  <a:pt x="4118443" y="3654183"/>
                </a:lnTo>
                <a:lnTo>
                  <a:pt x="0" y="365418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3"/>
          <p:cNvSpPr/>
          <p:nvPr/>
        </p:nvSpPr>
        <p:spPr>
          <a:xfrm rot="10800000">
            <a:off x="-2059222" y="-789427"/>
            <a:ext cx="4118443" cy="3654183"/>
          </a:xfrm>
          <a:custGeom>
            <a:avLst/>
            <a:gdLst/>
            <a:ahLst/>
            <a:cxnLst/>
            <a:rect l="l" t="t" r="r" b="b"/>
            <a:pathLst>
              <a:path w="4118443" h="3654183" extrusionOk="0">
                <a:moveTo>
                  <a:pt x="4118444" y="3654182"/>
                </a:moveTo>
                <a:lnTo>
                  <a:pt x="0" y="3654182"/>
                </a:lnTo>
                <a:lnTo>
                  <a:pt x="0" y="0"/>
                </a:lnTo>
                <a:lnTo>
                  <a:pt x="4118444" y="0"/>
                </a:lnTo>
                <a:lnTo>
                  <a:pt x="4118444" y="3654182"/>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graphicFrame>
        <p:nvGraphicFramePr>
          <p:cNvPr id="144" name="Google Shape;144;p4"/>
          <p:cNvGraphicFramePr/>
          <p:nvPr>
            <p:extLst>
              <p:ext uri="{D42A27DB-BD31-4B8C-83A1-F6EECF244321}">
                <p14:modId xmlns:p14="http://schemas.microsoft.com/office/powerpoint/2010/main" val="3893725713"/>
              </p:ext>
            </p:extLst>
          </p:nvPr>
        </p:nvGraphicFramePr>
        <p:xfrm>
          <a:off x="389965" y="1680883"/>
          <a:ext cx="17387052" cy="8593204"/>
        </p:xfrm>
        <a:graphic>
          <a:graphicData uri="http://schemas.openxmlformats.org/drawingml/2006/table">
            <a:tbl>
              <a:tblPr firstRow="1">
                <a:gradFill>
                  <a:gsLst>
                    <a:gs pos="0">
                      <a:srgbClr val="9FC3FF"/>
                    </a:gs>
                    <a:gs pos="35000">
                      <a:srgbClr val="BDD5FF"/>
                    </a:gs>
                    <a:gs pos="100000">
                      <a:srgbClr val="E4EEFF"/>
                    </a:gs>
                  </a:gsLst>
                  <a:lin ang="16200000" scaled="0"/>
                </a:gradFill>
                <a:tableStyleId>{FD62060C-A9E3-43FF-8695-09CB6F05CB28}</a:tableStyleId>
              </a:tblPr>
              <a:tblGrid>
                <a:gridCol w="4346763">
                  <a:extLst>
                    <a:ext uri="{9D8B030D-6E8A-4147-A177-3AD203B41FA5}">
                      <a16:colId xmlns:a16="http://schemas.microsoft.com/office/drawing/2014/main" val="20000"/>
                    </a:ext>
                  </a:extLst>
                </a:gridCol>
                <a:gridCol w="4346763">
                  <a:extLst>
                    <a:ext uri="{9D8B030D-6E8A-4147-A177-3AD203B41FA5}">
                      <a16:colId xmlns:a16="http://schemas.microsoft.com/office/drawing/2014/main" val="20001"/>
                    </a:ext>
                  </a:extLst>
                </a:gridCol>
                <a:gridCol w="4346763">
                  <a:extLst>
                    <a:ext uri="{9D8B030D-6E8A-4147-A177-3AD203B41FA5}">
                      <a16:colId xmlns:a16="http://schemas.microsoft.com/office/drawing/2014/main" val="20002"/>
                    </a:ext>
                  </a:extLst>
                </a:gridCol>
                <a:gridCol w="4346763">
                  <a:extLst>
                    <a:ext uri="{9D8B030D-6E8A-4147-A177-3AD203B41FA5}">
                      <a16:colId xmlns:a16="http://schemas.microsoft.com/office/drawing/2014/main" val="20003"/>
                    </a:ext>
                  </a:extLst>
                </a:gridCol>
              </a:tblGrid>
              <a:tr h="341219">
                <a:tc>
                  <a:txBody>
                    <a:bodyPr/>
                    <a:lstStyle/>
                    <a:p>
                      <a:pPr marL="0" marR="0" lvl="0" indent="0" algn="l" rtl="0">
                        <a:lnSpc>
                          <a:spcPct val="100000"/>
                        </a:lnSpc>
                        <a:spcBef>
                          <a:spcPts val="0"/>
                        </a:spcBef>
                        <a:spcAft>
                          <a:spcPts val="0"/>
                        </a:spcAft>
                        <a:buClr>
                          <a:srgbClr val="000000"/>
                        </a:buClr>
                        <a:buSzPts val="1800"/>
                        <a:buFont typeface="Arial"/>
                        <a:buNone/>
                      </a:pPr>
                      <a:r>
                        <a:rPr lang="en-IN" sz="1800" b="0" u="none" strike="noStrike" cap="none" dirty="0">
                          <a:solidFill>
                            <a:schemeClr val="tx1"/>
                          </a:solidFill>
                        </a:rPr>
                        <a:t>Title</a:t>
                      </a:r>
                      <a:endParaRPr sz="1400" u="none" strike="noStrike" cap="none" dirty="0">
                        <a:solidFill>
                          <a:schemeClr val="tx1"/>
                        </a:solidFill>
                      </a:endParaRPr>
                    </a:p>
                  </a:txBody>
                  <a:tcPr marL="31600" marR="31600" marT="31600" marB="31600">
                    <a:noFill/>
                  </a:tcPr>
                </a:tc>
                <a:tc>
                  <a:txBody>
                    <a:bodyPr/>
                    <a:lstStyle/>
                    <a:p>
                      <a:pPr marL="0" marR="0" lvl="0" indent="0" algn="l" rtl="0">
                        <a:lnSpc>
                          <a:spcPct val="100000"/>
                        </a:lnSpc>
                        <a:spcBef>
                          <a:spcPts val="0"/>
                        </a:spcBef>
                        <a:spcAft>
                          <a:spcPts val="0"/>
                        </a:spcAft>
                        <a:buClr>
                          <a:srgbClr val="000000"/>
                        </a:buClr>
                        <a:buSzPts val="1800"/>
                        <a:buFont typeface="Arial"/>
                        <a:buNone/>
                        <a:defRPr sz="2000" b="1">
                          <a:latin typeface="Calibri"/>
                        </a:defRPr>
                      </a:pPr>
                      <a:r>
                        <a:rPr lang="en-IN" sz="2000" b="1" u="none" strike="noStrike" cap="none" dirty="0">
                          <a:solidFill>
                            <a:schemeClr val="tx1"/>
                          </a:solidFill>
                          <a:latin typeface="Calibri"/>
                        </a:rPr>
                        <a:t>Approaches</a:t>
                      </a:r>
                      <a:endParaRPr sz="1400" u="none" strike="noStrike" cap="none" dirty="0">
                        <a:solidFill>
                          <a:schemeClr val="tx1"/>
                        </a:solidFill>
                      </a:endParaRPr>
                    </a:p>
                  </a:txBody>
                  <a:tcPr marL="31600" marR="31600" marT="31600" marB="31600">
                    <a:noFill/>
                  </a:tcPr>
                </a:tc>
                <a:tc>
                  <a:txBody>
                    <a:bodyPr/>
                    <a:lstStyle/>
                    <a:p>
                      <a:pPr marL="0" marR="0" lvl="0" indent="0" algn="l" rtl="0">
                        <a:lnSpc>
                          <a:spcPct val="100000"/>
                        </a:lnSpc>
                        <a:spcBef>
                          <a:spcPts val="0"/>
                        </a:spcBef>
                        <a:spcAft>
                          <a:spcPts val="0"/>
                        </a:spcAft>
                        <a:buClr>
                          <a:srgbClr val="000000"/>
                        </a:buClr>
                        <a:buSzPts val="1800"/>
                        <a:buFont typeface="Arial"/>
                        <a:buNone/>
                        <a:defRPr sz="2000" b="1">
                          <a:latin typeface="Calibri"/>
                        </a:defRPr>
                      </a:pPr>
                      <a:r>
                        <a:rPr lang="en-IN" sz="2000" b="1" u="none" strike="noStrike" cap="none" dirty="0">
                          <a:solidFill>
                            <a:schemeClr val="tx1"/>
                          </a:solidFill>
                          <a:latin typeface="Calibri"/>
                        </a:rPr>
                        <a:t>Dataset</a:t>
                      </a:r>
                      <a:endParaRPr sz="1400" u="none" strike="noStrike" cap="none" dirty="0">
                        <a:solidFill>
                          <a:schemeClr val="tx1"/>
                        </a:solidFill>
                      </a:endParaRPr>
                    </a:p>
                  </a:txBody>
                  <a:tcPr marL="31600" marR="31600" marT="31600" marB="31600">
                    <a:noFill/>
                  </a:tcPr>
                </a:tc>
                <a:tc>
                  <a:txBody>
                    <a:bodyPr/>
                    <a:lstStyle/>
                    <a:p>
                      <a:pPr marL="0" marR="0" lvl="0" indent="0" algn="l" rtl="0">
                        <a:lnSpc>
                          <a:spcPct val="100000"/>
                        </a:lnSpc>
                        <a:spcBef>
                          <a:spcPts val="0"/>
                        </a:spcBef>
                        <a:spcAft>
                          <a:spcPts val="0"/>
                        </a:spcAft>
                        <a:buClr>
                          <a:srgbClr val="000000"/>
                        </a:buClr>
                        <a:buSzPts val="1800"/>
                        <a:buFont typeface="Arial"/>
                        <a:buNone/>
                        <a:defRPr sz="2000" b="1">
                          <a:latin typeface="Calibri"/>
                        </a:defRPr>
                      </a:pPr>
                      <a:r>
                        <a:rPr lang="en-IN" sz="2000" b="1" u="none" strike="noStrike" cap="none" dirty="0">
                          <a:solidFill>
                            <a:schemeClr val="tx1"/>
                          </a:solidFill>
                          <a:latin typeface="Calibri"/>
                        </a:rPr>
                        <a:t>Major Findings</a:t>
                      </a:r>
                      <a:endParaRPr sz="1400" u="none" strike="noStrike" cap="none" dirty="0">
                        <a:solidFill>
                          <a:schemeClr val="tx1"/>
                        </a:solidFill>
                      </a:endParaRPr>
                    </a:p>
                  </a:txBody>
                  <a:tcPr marL="31600" marR="31600" marT="31600" marB="31600">
                    <a:noFill/>
                  </a:tcPr>
                </a:tc>
                <a:extLst>
                  <a:ext uri="{0D108BD9-81ED-4DB2-BD59-A6C34878D82A}">
                    <a16:rowId xmlns:a16="http://schemas.microsoft.com/office/drawing/2014/main" val="10000"/>
                  </a:ext>
                </a:extLst>
              </a:tr>
              <a:tr h="1165662">
                <a:tc>
                  <a:txBody>
                    <a:bodyPr/>
                    <a:lstStyle/>
                    <a:p>
                      <a:pPr marL="0" marR="0" lvl="0" indent="0" algn="l" rtl="0">
                        <a:lnSpc>
                          <a:spcPct val="100000"/>
                        </a:lnSpc>
                        <a:spcBef>
                          <a:spcPts val="0"/>
                        </a:spcBef>
                        <a:spcAft>
                          <a:spcPts val="0"/>
                        </a:spcAft>
                        <a:buClr>
                          <a:srgbClr val="000000"/>
                        </a:buClr>
                        <a:buSzPts val="1800"/>
                        <a:buFont typeface="Arial"/>
                        <a:buNone/>
                      </a:pPr>
                      <a:r>
                        <a:rPr lang="en-IN" sz="1800"/>
                        <a:t>LM-Hunter: An NLP-Powered Graph Method for Detecting Adversary Lateral Movements in APT Cyber-Attacks at Scale</a:t>
                      </a:r>
                      <a:r>
                        <a:rPr lang="en-IN" sz="1800" u="none" strike="noStrike" cap="none"/>
                        <a:t> </a:t>
                      </a:r>
                      <a:r>
                        <a:rPr lang="en-IN" sz="1600" u="none" strike="noStrike" cap="none"/>
                        <a:t>[</a:t>
                      </a:r>
                      <a:r>
                        <a:rPr lang="en-IN" sz="1600"/>
                        <a:t>1</a:t>
                      </a:r>
                      <a:r>
                        <a:rPr lang="en-IN" sz="1600" u="none" strike="noStrike" cap="none"/>
                        <a:t>]</a:t>
                      </a:r>
                      <a:endParaRPr sz="18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dirty="0">
                          <a:latin typeface="Calibri"/>
                        </a:rPr>
                        <a:t>It </a:t>
                      </a:r>
                      <a:r>
                        <a:rPr lang="en-IN" sz="2000" b="0" dirty="0" err="1">
                          <a:latin typeface="Calibri"/>
                        </a:rPr>
                        <a:t>analyzes</a:t>
                      </a:r>
                      <a:r>
                        <a:rPr lang="en-IN" sz="2000" b="0" dirty="0">
                          <a:latin typeface="Calibri"/>
                        </a:rPr>
                        <a:t> user activity sub-graphs and uses seq2seq models to learn network dynamics for identifying suspicious lateral movements</a:t>
                      </a:r>
                      <a:endParaRPr sz="1400" u="none" strike="noStrike" cap="none" dirty="0"/>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a:latin typeface="Calibri"/>
                        </a:rPr>
                        <a:t>A dataset from a real-world incident at a Fortune 500 company, infiltrated by an APT actor using Conti Ransomware and Cobalt Strike</a:t>
                      </a:r>
                      <a:endParaRPr sz="14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a:latin typeface="Calibri"/>
                        </a:rPr>
                        <a:t>LM-Hunter is a new robust and efficient method for identifying stealth adversaries moving laterally through enterprise networks at scale.</a:t>
                      </a:r>
                      <a:endParaRPr sz="1400" u="none" strike="noStrike" cap="none"/>
                    </a:p>
                  </a:txBody>
                  <a:tcPr marL="31600" marR="31600" marT="18975" marB="18975" anchor="ctr">
                    <a:noFill/>
                  </a:tcPr>
                </a:tc>
                <a:extLst>
                  <a:ext uri="{0D108BD9-81ED-4DB2-BD59-A6C34878D82A}">
                    <a16:rowId xmlns:a16="http://schemas.microsoft.com/office/drawing/2014/main" val="10001"/>
                  </a:ext>
                </a:extLst>
              </a:tr>
              <a:tr h="1203647">
                <a:tc>
                  <a:txBody>
                    <a:bodyPr/>
                    <a:lstStyle/>
                    <a:p>
                      <a:pPr marL="0" marR="0" lvl="0" indent="0" algn="l" rtl="0">
                        <a:lnSpc>
                          <a:spcPct val="100000"/>
                        </a:lnSpc>
                        <a:spcBef>
                          <a:spcPts val="0"/>
                        </a:spcBef>
                        <a:spcAft>
                          <a:spcPts val="0"/>
                        </a:spcAft>
                        <a:buClr>
                          <a:srgbClr val="000000"/>
                        </a:buClr>
                        <a:buSzPts val="1800"/>
                        <a:buFont typeface="Arial"/>
                        <a:buNone/>
                      </a:pPr>
                      <a:r>
                        <a:rPr lang="en-IN" sz="1800" dirty="0" err="1"/>
                        <a:t>Hackphyr</a:t>
                      </a:r>
                      <a:r>
                        <a:rPr lang="en-IN" sz="1800" dirty="0"/>
                        <a:t>: A Local Fine-Tuned LLM Agent for Network Security Environments</a:t>
                      </a:r>
                      <a:r>
                        <a:rPr lang="en-IN" sz="1800" u="none" strike="noStrike" cap="none" dirty="0"/>
                        <a:t> </a:t>
                      </a:r>
                      <a:r>
                        <a:rPr lang="en-IN" sz="1600" u="none" strike="noStrike" cap="none" dirty="0"/>
                        <a:t>[</a:t>
                      </a:r>
                      <a:r>
                        <a:rPr lang="en-IN" sz="1600" dirty="0"/>
                        <a:t>2</a:t>
                      </a:r>
                      <a:r>
                        <a:rPr lang="en-IN" sz="1600" u="none" strike="noStrike" cap="none" dirty="0"/>
                        <a:t>]</a:t>
                      </a:r>
                      <a:endParaRPr sz="1800" u="none" strike="noStrike" cap="none" dirty="0"/>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a:latin typeface="Calibri"/>
                        </a:rPr>
                        <a:t>Fine-tuned a 7 billion pre-trained LLM (Zephyr-7b-β) as a red team agent in the NetSecGame environment</a:t>
                      </a:r>
                      <a:endParaRPr sz="14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a:latin typeface="Calibri"/>
                        </a:rPr>
                        <a:t>New task-specific cybersecurity dataset generation (overall) </a:t>
                      </a:r>
                      <a:endParaRPr sz="1400" u="none" strike="noStrike" cap="none"/>
                    </a:p>
                  </a:txBody>
                  <a:tcPr marL="31600" marR="31600" marT="18975" marB="18975" anchor="ctr">
                    <a:noFill/>
                  </a:tcPr>
                </a:tc>
                <a:tc>
                  <a:txBody>
                    <a:bodyPr/>
                    <a:lstStyle/>
                    <a:p>
                      <a:pPr marL="0" lvl="0" indent="0" algn="l" rtl="0">
                        <a:spcBef>
                          <a:spcPts val="0"/>
                        </a:spcBef>
                        <a:spcAft>
                          <a:spcPts val="0"/>
                        </a:spcAft>
                        <a:buClr>
                          <a:schemeClr val="dk1"/>
                        </a:buClr>
                        <a:buSzPts val="1100"/>
                        <a:buFont typeface="Arial"/>
                        <a:buNone/>
                        <a:defRPr sz="2000" b="0">
                          <a:latin typeface="Calibri"/>
                        </a:defRPr>
                      </a:pPr>
                      <a:r>
                        <a:rPr lang="en-IN" sz="2000" b="0">
                          <a:latin typeface="Calibri"/>
                        </a:rPr>
                        <a:t>A new task-specific cybersecurity dataset was generated to enhance the base model's capabilities, proving crucial for Hackphyr's performance</a:t>
                      </a:r>
                      <a:endParaRPr sz="1800"/>
                    </a:p>
                  </a:txBody>
                  <a:tcPr marL="31600" marR="31600" marT="18975" marB="18975" anchor="ctr">
                    <a:noFill/>
                  </a:tcPr>
                </a:tc>
                <a:extLst>
                  <a:ext uri="{0D108BD9-81ED-4DB2-BD59-A6C34878D82A}">
                    <a16:rowId xmlns:a16="http://schemas.microsoft.com/office/drawing/2014/main" val="10002"/>
                  </a:ext>
                </a:extLst>
              </a:tr>
              <a:tr h="1596704">
                <a:tc>
                  <a:txBody>
                    <a:bodyPr/>
                    <a:lstStyle/>
                    <a:p>
                      <a:pPr marL="0" marR="0" lvl="0" indent="0" algn="l" rtl="0">
                        <a:lnSpc>
                          <a:spcPct val="100000"/>
                        </a:lnSpc>
                        <a:spcBef>
                          <a:spcPts val="0"/>
                        </a:spcBef>
                        <a:spcAft>
                          <a:spcPts val="0"/>
                        </a:spcAft>
                        <a:buClr>
                          <a:srgbClr val="000000"/>
                        </a:buClr>
                        <a:buSzPts val="1800"/>
                        <a:buFont typeface="Arial"/>
                        <a:buNone/>
                      </a:pPr>
                      <a:r>
                        <a:rPr lang="en-IN" sz="1800"/>
                        <a:t>Revolutionizing Cyber Threat Detection with Large Language Models: A privacy-preserving BERT-based Lightweight Model for IoT/IIoT Devices </a:t>
                      </a:r>
                      <a:r>
                        <a:rPr lang="en-IN" sz="1600" u="none" strike="noStrike" cap="none"/>
                        <a:t>[</a:t>
                      </a:r>
                      <a:r>
                        <a:rPr lang="en-IN" sz="1600"/>
                        <a:t>3</a:t>
                      </a:r>
                      <a:r>
                        <a:rPr lang="en-IN" sz="1600" u="none" strike="noStrike" cap="none"/>
                        <a:t>]</a:t>
                      </a:r>
                      <a:endParaRPr sz="1800" u="none" strike="noStrike" cap="none"/>
                    </a:p>
                  </a:txBody>
                  <a:tcPr marL="31600" marR="31600" marT="18975" marB="18975" anchor="ctr">
                    <a:noFill/>
                  </a:tcPr>
                </a:tc>
                <a:tc>
                  <a:txBody>
                    <a:bodyPr/>
                    <a:lstStyle/>
                    <a:p>
                      <a:pPr marL="0" lvl="0" indent="0" algn="l" rtl="0">
                        <a:spcBef>
                          <a:spcPts val="0"/>
                        </a:spcBef>
                        <a:spcAft>
                          <a:spcPts val="0"/>
                        </a:spcAft>
                        <a:buClr>
                          <a:schemeClr val="dk1"/>
                        </a:buClr>
                        <a:buSzPts val="1100"/>
                        <a:buFont typeface="Arial"/>
                        <a:buNone/>
                        <a:defRPr sz="2000" b="0">
                          <a:latin typeface="Calibri"/>
                        </a:defRPr>
                      </a:pPr>
                      <a:r>
                        <a:rPr lang="en-IN" sz="2000" b="0">
                          <a:latin typeface="Calibri"/>
                        </a:rPr>
                        <a:t> A novel architecture leveraging BERT for cyber threat detection in IoT networks, using Privacy-Preserving Fixed-Length Encoding (PPFLE) and Byte-level Byte-Pair Encoder (BBPE) Tokenizer </a:t>
                      </a:r>
                      <a:endParaRPr sz="1800"/>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a:latin typeface="Calibri"/>
                        </a:rPr>
                        <a:t>Edge-IIoTset cybersecurity dataset</a:t>
                      </a:r>
                      <a:endParaRPr sz="14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a:latin typeface="Calibri"/>
                        </a:rPr>
                        <a:t>SecurityBERT achieved 98.2% accuracy in classifying 14 network attack types</a:t>
                      </a:r>
                      <a:endParaRPr sz="1400" u="none" strike="noStrike" cap="none"/>
                    </a:p>
                  </a:txBody>
                  <a:tcPr marL="31600" marR="31600" marT="18975" marB="18975" anchor="ctr">
                    <a:noFill/>
                  </a:tcPr>
                </a:tc>
                <a:extLst>
                  <a:ext uri="{0D108BD9-81ED-4DB2-BD59-A6C34878D82A}">
                    <a16:rowId xmlns:a16="http://schemas.microsoft.com/office/drawing/2014/main" val="10003"/>
                  </a:ext>
                </a:extLst>
              </a:tr>
              <a:tr h="883043">
                <a:tc>
                  <a:txBody>
                    <a:bodyPr/>
                    <a:lstStyle/>
                    <a:p>
                      <a:pPr marL="0" marR="0" lvl="0" indent="0" algn="l" rtl="0">
                        <a:lnSpc>
                          <a:spcPct val="100000"/>
                        </a:lnSpc>
                        <a:spcBef>
                          <a:spcPts val="0"/>
                        </a:spcBef>
                        <a:spcAft>
                          <a:spcPts val="0"/>
                        </a:spcAft>
                        <a:buClr>
                          <a:srgbClr val="000000"/>
                        </a:buClr>
                        <a:buSzPts val="1800"/>
                        <a:buFont typeface="Arial"/>
                        <a:buNone/>
                      </a:pPr>
                      <a:r>
                        <a:rPr lang="en-IN" sz="1800"/>
                        <a:t>SecureBERT: A Domain-Specific Language Model for Cybersecurity</a:t>
                      </a:r>
                      <a:r>
                        <a:rPr lang="en-IN" sz="1600" u="none" strike="noStrike" cap="none"/>
                        <a:t>[</a:t>
                      </a:r>
                      <a:r>
                        <a:rPr lang="en-IN" sz="1600"/>
                        <a:t>4</a:t>
                      </a:r>
                      <a:r>
                        <a:rPr lang="en-IN" sz="1600" u="none" strike="noStrike" cap="none"/>
                        <a:t>]</a:t>
                      </a:r>
                      <a:endParaRPr sz="18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a:latin typeface="Calibri"/>
                        </a:rPr>
                        <a:t>SecureBERT develops a customized tokenizer on top of a pre-trained generic English tokenizer</a:t>
                      </a:r>
                      <a:endParaRPr sz="14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a:latin typeface="Calibri"/>
                        </a:rPr>
                        <a:t>MalwareTextDB</a:t>
                      </a:r>
                      <a:endParaRPr sz="14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a:latin typeface="Calibri"/>
                        </a:rPr>
                        <a:t>SecureBERT captures cybersecurity text connotations effectively for automation tasks</a:t>
                      </a:r>
                      <a:endParaRPr sz="1400" u="none" strike="noStrike" cap="none"/>
                    </a:p>
                  </a:txBody>
                  <a:tcPr marL="31600" marR="31600" marT="18975" marB="18975" anchor="ctr">
                    <a:noFill/>
                  </a:tcPr>
                </a:tc>
                <a:extLst>
                  <a:ext uri="{0D108BD9-81ED-4DB2-BD59-A6C34878D82A}">
                    <a16:rowId xmlns:a16="http://schemas.microsoft.com/office/drawing/2014/main" val="10004"/>
                  </a:ext>
                </a:extLst>
              </a:tr>
              <a:tr h="1165662">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t>Zero Trust Security Model: Implementation Strategies and Effectiveness Analysis </a:t>
                      </a:r>
                      <a:r>
                        <a:rPr lang="en-IN" sz="1600" u="none" strike="noStrike" cap="none"/>
                        <a:t>[17]</a:t>
                      </a:r>
                      <a:endParaRPr sz="18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u="none" strike="noStrike" cap="none">
                          <a:latin typeface="Calibri"/>
                        </a:rPr>
                        <a:t>Zero Trust Architecture implementation</a:t>
                      </a:r>
                      <a:endParaRPr sz="14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u="none" strike="noStrike" cap="none">
                          <a:latin typeface="Calibri"/>
                        </a:rPr>
                        <a:t>Manufacturing network data</a:t>
                      </a:r>
                      <a:endParaRPr sz="14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u="none" strike="noStrike" cap="none" dirty="0">
                          <a:latin typeface="Calibri"/>
                        </a:rPr>
                        <a:t>61% of organizations have adopted Zero Trust at some level, with merely 18% having implemented all Zero Trust principles</a:t>
                      </a:r>
                      <a:endParaRPr sz="1400" u="none" strike="noStrike" cap="none" dirty="0"/>
                    </a:p>
                  </a:txBody>
                  <a:tcPr marL="31600" marR="31600" marT="18975" marB="18975" anchor="ctr">
                    <a:noFill/>
                  </a:tcPr>
                </a:tc>
                <a:extLst>
                  <a:ext uri="{0D108BD9-81ED-4DB2-BD59-A6C34878D82A}">
                    <a16:rowId xmlns:a16="http://schemas.microsoft.com/office/drawing/2014/main" val="10005"/>
                  </a:ext>
                </a:extLst>
              </a:tr>
              <a:tr h="883043">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t>Enhancing cybersecurity with explainable AI </a:t>
                      </a:r>
                      <a:r>
                        <a:rPr lang="en-IN" sz="1600" b="0" u="none" strike="noStrike" cap="none"/>
                        <a:t>[18]</a:t>
                      </a:r>
                      <a:endParaRPr sz="18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u="none" strike="noStrike" cap="none">
                          <a:latin typeface="Calibri"/>
                        </a:rPr>
                        <a:t>Explainable AI for cybersecurity transparency</a:t>
                      </a:r>
                      <a:endParaRPr sz="14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u="none" strike="noStrike" cap="none">
                          <a:latin typeface="Calibri"/>
                        </a:rPr>
                        <a:t>Phishing and malware datasets</a:t>
                      </a:r>
                      <a:endParaRPr sz="14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u="none" strike="noStrike" cap="none">
                          <a:latin typeface="Calibri"/>
                        </a:rPr>
                        <a:t>XAI improves trust and reduces false positives in manufacturing security systems</a:t>
                      </a:r>
                      <a:endParaRPr sz="1400" u="none" strike="noStrike" cap="none"/>
                    </a:p>
                  </a:txBody>
                  <a:tcPr marL="31600" marR="31600" marT="18975" marB="18975" anchor="ctr">
                    <a:noFill/>
                  </a:tcPr>
                </a:tc>
                <a:extLst>
                  <a:ext uri="{0D108BD9-81ED-4DB2-BD59-A6C34878D82A}">
                    <a16:rowId xmlns:a16="http://schemas.microsoft.com/office/drawing/2014/main" val="10006"/>
                  </a:ext>
                </a:extLst>
              </a:tr>
              <a:tr h="883043">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t>Manufacturing sector hit hardest by ransomware in 2024 Q4 [20]</a:t>
                      </a:r>
                      <a:endParaRPr sz="14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u="none" strike="noStrike" cap="none">
                          <a:latin typeface="Calibri"/>
                        </a:rPr>
                        <a:t>Ransomware analysis in industrial sectors</a:t>
                      </a:r>
                      <a:endParaRPr sz="14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u="none" strike="noStrike" cap="none">
                          <a:latin typeface="Calibri"/>
                        </a:rPr>
                        <a:t>Global ransomware incident data</a:t>
                      </a:r>
                      <a:endParaRPr sz="1400" u="none" strike="noStrike" cap="none"/>
                    </a:p>
                  </a:txBody>
                  <a:tcPr marL="31600" marR="31600" marT="18975" marB="18975" anchor="ctr">
                    <a:noFill/>
                  </a:tcPr>
                </a:tc>
                <a:tc>
                  <a:txBody>
                    <a:bodyPr/>
                    <a:lstStyle/>
                    <a:p>
                      <a:pPr marL="0" marR="0" lvl="0" indent="0" algn="l" rtl="0">
                        <a:lnSpc>
                          <a:spcPct val="100000"/>
                        </a:lnSpc>
                        <a:spcBef>
                          <a:spcPts val="0"/>
                        </a:spcBef>
                        <a:spcAft>
                          <a:spcPts val="0"/>
                        </a:spcAft>
                        <a:buClr>
                          <a:srgbClr val="000000"/>
                        </a:buClr>
                        <a:buSzPts val="1800"/>
                        <a:buFont typeface="Arial"/>
                        <a:buNone/>
                        <a:defRPr sz="2000" b="0">
                          <a:latin typeface="Calibri"/>
                        </a:defRPr>
                      </a:pPr>
                      <a:r>
                        <a:rPr lang="en-IN" sz="2000" b="0" u="none" strike="noStrike" cap="none" dirty="0">
                          <a:latin typeface="Calibri"/>
                        </a:rPr>
                        <a:t>Manufacturing leads with 424 ransomware incidents in Q4 2024, 70% of total industrial attacks</a:t>
                      </a:r>
                      <a:endParaRPr sz="1400" u="none" strike="noStrike" cap="none" dirty="0"/>
                    </a:p>
                  </a:txBody>
                  <a:tcPr marL="31600" marR="31600" marT="18975" marB="18975" anchor="ctr">
                    <a:noFill/>
                  </a:tcPr>
                </a:tc>
                <a:extLst>
                  <a:ext uri="{0D108BD9-81ED-4DB2-BD59-A6C34878D82A}">
                    <a16:rowId xmlns:a16="http://schemas.microsoft.com/office/drawing/2014/main" val="10007"/>
                  </a:ext>
                </a:extLst>
              </a:tr>
            </a:tbl>
          </a:graphicData>
        </a:graphic>
      </p:graphicFrame>
      <p:sp>
        <p:nvSpPr>
          <p:cNvPr id="145" name="Google Shape;145;p4"/>
          <p:cNvSpPr txBox="1"/>
          <p:nvPr/>
        </p:nvSpPr>
        <p:spPr>
          <a:xfrm>
            <a:off x="1808604" y="650457"/>
            <a:ext cx="6825416" cy="1224310"/>
          </a:xfrm>
          <a:prstGeom prst="rect">
            <a:avLst/>
          </a:prstGeom>
          <a:noFill/>
          <a:ln>
            <a:noFill/>
          </a:ln>
        </p:spPr>
        <p:txBody>
          <a:bodyPr spcFirstLastPara="1" wrap="square" lIns="0" tIns="0" rIns="0" bIns="0" anchor="t" anchorCtr="0">
            <a:spAutoFit/>
          </a:bodyPr>
          <a:lstStyle/>
          <a:p>
            <a:pPr marL="0" marR="0" lvl="0" indent="0" algn="l" rtl="0">
              <a:lnSpc>
                <a:spcPct val="138005"/>
              </a:lnSpc>
              <a:spcBef>
                <a:spcPts val="0"/>
              </a:spcBef>
              <a:spcAft>
                <a:spcPts val="0"/>
              </a:spcAft>
              <a:buClr>
                <a:srgbClr val="000000"/>
              </a:buClr>
              <a:buSzPts val="5765"/>
              <a:buFont typeface="Arial"/>
              <a:buNone/>
            </a:pPr>
            <a:r>
              <a:rPr lang="en-IN" sz="5765" b="1" i="0" u="none" strike="noStrike" cap="none">
                <a:solidFill>
                  <a:srgbClr val="231F20"/>
                </a:solidFill>
                <a:latin typeface="Arial Rounded"/>
                <a:ea typeface="Arial Rounded"/>
                <a:cs typeface="Arial Rounded"/>
                <a:sym typeface="Arial Rounded"/>
              </a:rPr>
              <a:t>Literature Review  </a:t>
            </a:r>
            <a:endParaRPr sz="1400" b="0" i="0" u="none" strike="noStrike" cap="none">
              <a:solidFill>
                <a:srgbClr val="000000"/>
              </a:solidFill>
              <a:latin typeface="Arial"/>
              <a:ea typeface="Arial"/>
              <a:cs typeface="Arial"/>
              <a:sym typeface="Arial"/>
            </a:endParaRPr>
          </a:p>
        </p:txBody>
      </p:sp>
      <p:sp>
        <p:nvSpPr>
          <p:cNvPr id="146" name="Google Shape;146;p4"/>
          <p:cNvSpPr/>
          <p:nvPr/>
        </p:nvSpPr>
        <p:spPr>
          <a:xfrm>
            <a:off x="16698642" y="8117964"/>
            <a:ext cx="4118443" cy="3654183"/>
          </a:xfrm>
          <a:custGeom>
            <a:avLst/>
            <a:gdLst/>
            <a:ahLst/>
            <a:cxnLst/>
            <a:rect l="l" t="t" r="r" b="b"/>
            <a:pathLst>
              <a:path w="4118443" h="3654183" extrusionOk="0">
                <a:moveTo>
                  <a:pt x="0" y="0"/>
                </a:moveTo>
                <a:lnTo>
                  <a:pt x="4118443" y="0"/>
                </a:lnTo>
                <a:lnTo>
                  <a:pt x="4118443" y="3654183"/>
                </a:lnTo>
                <a:lnTo>
                  <a:pt x="0" y="365418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4"/>
          <p:cNvSpPr/>
          <p:nvPr/>
        </p:nvSpPr>
        <p:spPr>
          <a:xfrm rot="10800000">
            <a:off x="-2059222" y="-1403509"/>
            <a:ext cx="4118443" cy="3654183"/>
          </a:xfrm>
          <a:custGeom>
            <a:avLst/>
            <a:gdLst/>
            <a:ahLst/>
            <a:cxnLst/>
            <a:rect l="l" t="t" r="r" b="b"/>
            <a:pathLst>
              <a:path w="4118443" h="3654183" extrusionOk="0">
                <a:moveTo>
                  <a:pt x="4118444" y="3654182"/>
                </a:moveTo>
                <a:lnTo>
                  <a:pt x="0" y="3654182"/>
                </a:lnTo>
                <a:lnTo>
                  <a:pt x="0" y="0"/>
                </a:lnTo>
                <a:lnTo>
                  <a:pt x="4118444" y="0"/>
                </a:lnTo>
                <a:lnTo>
                  <a:pt x="4118444" y="3654182"/>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5"/>
          <p:cNvSpPr/>
          <p:nvPr/>
        </p:nvSpPr>
        <p:spPr>
          <a:xfrm>
            <a:off x="16950144" y="2279527"/>
            <a:ext cx="380329" cy="362730"/>
          </a:xfrm>
          <a:custGeom>
            <a:avLst/>
            <a:gdLst/>
            <a:ahLst/>
            <a:cxnLst/>
            <a:rect l="l" t="t" r="r" b="b"/>
            <a:pathLst>
              <a:path w="587375" h="560197" extrusionOk="0">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736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5"/>
          <p:cNvSpPr/>
          <p:nvPr/>
        </p:nvSpPr>
        <p:spPr>
          <a:xfrm>
            <a:off x="16280008" y="124434"/>
            <a:ext cx="1720154" cy="2064383"/>
          </a:xfrm>
          <a:custGeom>
            <a:avLst/>
            <a:gdLst/>
            <a:ahLst/>
            <a:cxnLst/>
            <a:rect l="l" t="t" r="r" b="b"/>
            <a:pathLst>
              <a:path w="2656586" h="3188208" extrusionOk="0">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736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38CD5"/>
              </a:solidFill>
              <a:latin typeface="Arial"/>
              <a:ea typeface="Arial"/>
              <a:cs typeface="Arial"/>
              <a:sym typeface="Arial"/>
            </a:endParaRPr>
          </a:p>
        </p:txBody>
      </p:sp>
      <p:sp>
        <p:nvSpPr>
          <p:cNvPr id="155" name="Google Shape;155;p5"/>
          <p:cNvSpPr/>
          <p:nvPr/>
        </p:nvSpPr>
        <p:spPr>
          <a:xfrm>
            <a:off x="16681544" y="347278"/>
            <a:ext cx="917029" cy="1101235"/>
          </a:xfrm>
          <a:custGeom>
            <a:avLst/>
            <a:gdLst/>
            <a:ahLst/>
            <a:cxnLst/>
            <a:rect l="l" t="t" r="r" b="b"/>
            <a:pathLst>
              <a:path w="917029" h="1101235" extrusionOk="0">
                <a:moveTo>
                  <a:pt x="0" y="0"/>
                </a:moveTo>
                <a:lnTo>
                  <a:pt x="917029" y="0"/>
                </a:lnTo>
                <a:lnTo>
                  <a:pt x="917029" y="1101235"/>
                </a:lnTo>
                <a:lnTo>
                  <a:pt x="0" y="1101235"/>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5"/>
          <p:cNvSpPr txBox="1"/>
          <p:nvPr/>
        </p:nvSpPr>
        <p:spPr>
          <a:xfrm>
            <a:off x="1047023" y="1448513"/>
            <a:ext cx="8006961" cy="702115"/>
          </a:xfrm>
          <a:prstGeom prst="rect">
            <a:avLst/>
          </a:prstGeom>
          <a:noFill/>
          <a:ln>
            <a:noFill/>
          </a:ln>
        </p:spPr>
        <p:txBody>
          <a:bodyPr spcFirstLastPara="1" wrap="square" lIns="0" tIns="0" rIns="0" bIns="0" anchor="t" anchorCtr="0">
            <a:spAutoFit/>
          </a:bodyPr>
          <a:lstStyle/>
          <a:p>
            <a:pPr marL="0" marR="0" lvl="0" indent="0" algn="l" rtl="0">
              <a:lnSpc>
                <a:spcPct val="122125"/>
              </a:lnSpc>
              <a:spcBef>
                <a:spcPts val="0"/>
              </a:spcBef>
              <a:spcAft>
                <a:spcPts val="0"/>
              </a:spcAft>
              <a:buClr>
                <a:srgbClr val="000000"/>
              </a:buClr>
              <a:buSzPts val="4800"/>
              <a:buFont typeface="Arial"/>
              <a:buNone/>
            </a:pPr>
            <a:r>
              <a:rPr lang="en-IN" sz="4800" b="1" i="0" u="none" strike="noStrike" cap="none">
                <a:solidFill>
                  <a:srgbClr val="040506"/>
                </a:solidFill>
                <a:latin typeface="Arial Rounded"/>
                <a:ea typeface="Arial Rounded"/>
                <a:cs typeface="Arial Rounded"/>
                <a:sym typeface="Arial Rounded"/>
              </a:rPr>
              <a:t>PROBLEM STATEMENT</a:t>
            </a:r>
            <a:endParaRPr sz="1400" b="0" i="0" u="none" strike="noStrike" cap="none">
              <a:solidFill>
                <a:srgbClr val="000000"/>
              </a:solidFill>
              <a:latin typeface="Arial"/>
              <a:ea typeface="Arial"/>
              <a:cs typeface="Arial"/>
              <a:sym typeface="Arial"/>
            </a:endParaRPr>
          </a:p>
        </p:txBody>
      </p:sp>
      <p:sp>
        <p:nvSpPr>
          <p:cNvPr id="157" name="Google Shape;157;p5"/>
          <p:cNvSpPr txBox="1"/>
          <p:nvPr/>
        </p:nvSpPr>
        <p:spPr>
          <a:xfrm>
            <a:off x="452019" y="4267854"/>
            <a:ext cx="15670200" cy="3847207"/>
          </a:xfrm>
          <a:prstGeom prst="rect">
            <a:avLst/>
          </a:prstGeom>
          <a:noFill/>
          <a:ln>
            <a:noFill/>
          </a:ln>
        </p:spPr>
        <p:txBody>
          <a:bodyPr spcFirstLastPara="1" wrap="square" lIns="0" tIns="0" rIns="0" bIns="0" anchor="ctr" anchorCtr="0">
            <a:spAutoFit/>
          </a:bodyPr>
          <a:lstStyle/>
          <a:p>
            <a:pPr marR="0" algn="l" rtl="0">
              <a:lnSpc>
                <a:spcPct val="100000"/>
              </a:lnSpc>
              <a:spcBef>
                <a:spcPts val="0"/>
              </a:spcBef>
              <a:spcAft>
                <a:spcPts val="1200"/>
              </a:spcAft>
              <a:buClr>
                <a:srgbClr val="000000"/>
              </a:buClr>
              <a:buSzPts val="2800"/>
            </a:pPr>
            <a:r>
              <a:rPr sz="2000" b="1" dirty="0">
                <a:solidFill>
                  <a:srgbClr val="231F20"/>
                </a:solidFill>
              </a:rPr>
              <a:t>OT &amp; Smart Manufacturing Perimeter Vulnerability: </a:t>
            </a:r>
            <a:r>
              <a:rPr sz="2000" b="0" dirty="0">
                <a:solidFill>
                  <a:srgbClr val="231F20"/>
                </a:solidFill>
              </a:rPr>
              <a:t>Boundary defenses (firewalls, email gateways) are frequently bypassed via stolen credentials, supply chain pivots, and unmanaged </a:t>
            </a:r>
            <a:r>
              <a:rPr sz="2000" b="0" dirty="0" err="1">
                <a:solidFill>
                  <a:srgbClr val="231F20"/>
                </a:solidFill>
              </a:rPr>
              <a:t>IIoT</a:t>
            </a:r>
            <a:r>
              <a:rPr sz="2000" b="0" dirty="0">
                <a:solidFill>
                  <a:srgbClr val="231F20"/>
                </a:solidFill>
              </a:rPr>
              <a:t> devices.</a:t>
            </a:r>
            <a:endParaRPr sz="1600" b="0" i="0" u="none" strike="noStrike" cap="none" dirty="0">
              <a:solidFill>
                <a:srgbClr val="000000"/>
              </a:solidFill>
              <a:latin typeface="Arial"/>
              <a:ea typeface="Arial"/>
              <a:cs typeface="Arial"/>
              <a:sym typeface="Arial"/>
            </a:endParaRPr>
          </a:p>
          <a:p>
            <a:pPr>
              <a:spcAft>
                <a:spcPts val="1200"/>
              </a:spcAft>
            </a:pPr>
            <a:r>
              <a:rPr sz="2000" b="1" dirty="0">
                <a:solidFill>
                  <a:srgbClr val="231F20"/>
                </a:solidFill>
              </a:rPr>
              <a:t>The East-West Lateral Movement Blindspot: </a:t>
            </a:r>
            <a:r>
              <a:rPr sz="2000" b="0" dirty="0">
                <a:solidFill>
                  <a:srgbClr val="231F20"/>
                </a:solidFill>
              </a:rPr>
              <a:t>Once inside, adversaries move silently across industrial workstations using Living-off-the-Land Binaries (</a:t>
            </a:r>
            <a:r>
              <a:rPr sz="2000" b="0" dirty="0" err="1">
                <a:solidFill>
                  <a:srgbClr val="231F20"/>
                </a:solidFill>
              </a:rPr>
              <a:t>LOLBins</a:t>
            </a:r>
            <a:r>
              <a:rPr sz="2000" b="0" dirty="0">
                <a:solidFill>
                  <a:srgbClr val="231F20"/>
                </a:solidFill>
              </a:rPr>
              <a:t>: WMI, </a:t>
            </a:r>
            <a:r>
              <a:rPr sz="2000" b="0" dirty="0" err="1">
                <a:solidFill>
                  <a:srgbClr val="231F20"/>
                </a:solidFill>
              </a:rPr>
              <a:t>PsExec</a:t>
            </a:r>
            <a:r>
              <a:rPr sz="2000" b="0" dirty="0">
                <a:solidFill>
                  <a:srgbClr val="231F20"/>
                </a:solidFill>
              </a:rPr>
              <a:t>, PowerShell). Traditional signature-based IDS achieves only 36.8% recall.</a:t>
            </a:r>
          </a:p>
          <a:p>
            <a:pPr>
              <a:spcAft>
                <a:spcPts val="1200"/>
              </a:spcAft>
            </a:pPr>
            <a:r>
              <a:rPr sz="2000" b="1" dirty="0">
                <a:solidFill>
                  <a:srgbClr val="231F20"/>
                </a:solidFill>
              </a:rPr>
              <a:t>Cloud Foundation Model Impracticality: </a:t>
            </a:r>
            <a:r>
              <a:rPr sz="2000" b="0" dirty="0">
                <a:solidFill>
                  <a:srgbClr val="231F20"/>
                </a:solidFill>
              </a:rPr>
              <a:t>Frontier LLMs (GPT-4, Claude 3.5, LLaMA-70B) cannot be deployed on factory floor edge gateways due to strict data sovereignty/privacy constraints, bandwidth bottlenecks, and unacceptable inference latency (&gt;500 </a:t>
            </a:r>
            <a:r>
              <a:rPr sz="2000" b="0" dirty="0" err="1">
                <a:solidFill>
                  <a:srgbClr val="231F20"/>
                </a:solidFill>
              </a:rPr>
              <a:t>ms</a:t>
            </a:r>
            <a:r>
              <a:rPr sz="2000" b="0" dirty="0">
                <a:solidFill>
                  <a:srgbClr val="231F20"/>
                </a:solidFill>
              </a:rPr>
              <a:t>).</a:t>
            </a:r>
          </a:p>
          <a:p>
            <a:pPr>
              <a:spcAft>
                <a:spcPts val="1200"/>
              </a:spcAft>
            </a:pPr>
            <a:r>
              <a:rPr sz="2000" b="1" dirty="0">
                <a:solidFill>
                  <a:srgbClr val="231F20"/>
                </a:solidFill>
              </a:rPr>
              <a:t>Single-Event Telemetry Context Blindness: </a:t>
            </a:r>
            <a:r>
              <a:rPr sz="2000" b="0" dirty="0">
                <a:solidFill>
                  <a:srgbClr val="231F20"/>
                </a:solidFill>
              </a:rPr>
              <a:t>Evaluating individual event logs in isolation (K=1) cannot distinguish legitimate administrative actions from credential abuse (Pass-the-Hash / Overpass-the-Hash). Temporal sliding windows are mandatory.</a:t>
            </a:r>
          </a:p>
          <a:p>
            <a:pPr>
              <a:spcAft>
                <a:spcPts val="1200"/>
              </a:spcAft>
            </a:pPr>
            <a:r>
              <a:rPr sz="2000" b="1" dirty="0">
                <a:solidFill>
                  <a:srgbClr val="231F20"/>
                </a:solidFill>
              </a:rPr>
              <a:t>Strict Edge Compute &amp; Latency Budget: </a:t>
            </a:r>
            <a:r>
              <a:rPr sz="2000" b="0" dirty="0">
                <a:solidFill>
                  <a:srgbClr val="231F20"/>
                </a:solidFill>
              </a:rPr>
              <a:t>Edge industrial gateways (IPC/edge servers) demand real-time telemetry processing (&lt;20 </a:t>
            </a:r>
            <a:r>
              <a:rPr sz="2000" b="0" dirty="0" err="1">
                <a:solidFill>
                  <a:srgbClr val="231F20"/>
                </a:solidFill>
              </a:rPr>
              <a:t>ms</a:t>
            </a:r>
            <a:r>
              <a:rPr sz="2000" b="0" dirty="0">
                <a:solidFill>
                  <a:srgbClr val="231F20"/>
                </a:solidFill>
              </a:rPr>
              <a:t> per window) under severe memory budgets (&lt;2 GB RAM), requiring compact, quantized SLM architectures.</a:t>
            </a:r>
          </a:p>
        </p:txBody>
      </p:sp>
      <p:sp>
        <p:nvSpPr>
          <p:cNvPr id="158" name="Google Shape;158;p5"/>
          <p:cNvSpPr/>
          <p:nvPr/>
        </p:nvSpPr>
        <p:spPr>
          <a:xfrm rot="10800000">
            <a:off x="-305814" y="-323115"/>
            <a:ext cx="8744064" cy="2511931"/>
          </a:xfrm>
          <a:custGeom>
            <a:avLst/>
            <a:gdLst/>
            <a:ahLst/>
            <a:cxnLst/>
            <a:rect l="l" t="t" r="r" b="b"/>
            <a:pathLst>
              <a:path w="8744064" h="2511931" extrusionOk="0">
                <a:moveTo>
                  <a:pt x="0" y="0"/>
                </a:moveTo>
                <a:lnTo>
                  <a:pt x="8744064" y="0"/>
                </a:lnTo>
                <a:lnTo>
                  <a:pt x="8744064" y="2511931"/>
                </a:lnTo>
                <a:lnTo>
                  <a:pt x="0" y="251193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163"/>
        <p:cNvGrpSpPr/>
        <p:nvPr/>
      </p:nvGrpSpPr>
      <p:grpSpPr>
        <a:xfrm>
          <a:off x="0" y="0"/>
          <a:ext cx="0" cy="0"/>
          <a:chOff x="0" y="0"/>
          <a:chExt cx="0" cy="0"/>
        </a:xfrm>
      </p:grpSpPr>
      <p:sp>
        <p:nvSpPr>
          <p:cNvPr id="164" name="Google Shape;164;p6"/>
          <p:cNvSpPr/>
          <p:nvPr/>
        </p:nvSpPr>
        <p:spPr>
          <a:xfrm>
            <a:off x="16986894" y="8293655"/>
            <a:ext cx="4687320" cy="4687320"/>
          </a:xfrm>
          <a:custGeom>
            <a:avLst/>
            <a:gdLst/>
            <a:ahLst/>
            <a:cxnLst/>
            <a:rect l="l" t="t" r="r" b="b"/>
            <a:pathLst>
              <a:path w="4687320" h="4687320" extrusionOk="0">
                <a:moveTo>
                  <a:pt x="0" y="0"/>
                </a:moveTo>
                <a:lnTo>
                  <a:pt x="4687320" y="0"/>
                </a:lnTo>
                <a:lnTo>
                  <a:pt x="4687320" y="4687319"/>
                </a:lnTo>
                <a:lnTo>
                  <a:pt x="0" y="468731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5" name="Google Shape;165;p6"/>
          <p:cNvGrpSpPr/>
          <p:nvPr/>
        </p:nvGrpSpPr>
        <p:grpSpPr>
          <a:xfrm>
            <a:off x="17245445" y="8747685"/>
            <a:ext cx="2085109" cy="2085109"/>
            <a:chOff x="17245445" y="8747685"/>
            <a:chExt cx="2085109" cy="2085109"/>
          </a:xfrm>
        </p:grpSpPr>
        <p:sp>
          <p:nvSpPr>
            <p:cNvPr id="166" name="Google Shape;166;p6"/>
            <p:cNvSpPr/>
            <p:nvPr/>
          </p:nvSpPr>
          <p:spPr>
            <a:xfrm>
              <a:off x="17245445" y="8747685"/>
              <a:ext cx="2085109" cy="2085109"/>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36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6"/>
            <p:cNvSpPr txBox="1"/>
            <p:nvPr/>
          </p:nvSpPr>
          <p:spPr>
            <a:xfrm>
              <a:off x="17440924" y="8894294"/>
              <a:ext cx="1694151" cy="1743021"/>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8" name="Google Shape;168;p6"/>
          <p:cNvSpPr/>
          <p:nvPr/>
        </p:nvSpPr>
        <p:spPr>
          <a:xfrm>
            <a:off x="-3464331" y="759998"/>
            <a:ext cx="4687320" cy="4687320"/>
          </a:xfrm>
          <a:custGeom>
            <a:avLst/>
            <a:gdLst/>
            <a:ahLst/>
            <a:cxnLst/>
            <a:rect l="l" t="t" r="r" b="b"/>
            <a:pathLst>
              <a:path w="4687320" h="4687320" extrusionOk="0">
                <a:moveTo>
                  <a:pt x="0" y="0"/>
                </a:moveTo>
                <a:lnTo>
                  <a:pt x="4687320" y="0"/>
                </a:lnTo>
                <a:lnTo>
                  <a:pt x="4687320" y="4687319"/>
                </a:lnTo>
                <a:lnTo>
                  <a:pt x="0" y="468731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6"/>
          <p:cNvSpPr/>
          <p:nvPr/>
        </p:nvSpPr>
        <p:spPr>
          <a:xfrm>
            <a:off x="-3875505" y="-4214084"/>
            <a:ext cx="8637895" cy="8637895"/>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36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0" name="Google Shape;170;p6"/>
          <p:cNvGrpSpPr/>
          <p:nvPr/>
        </p:nvGrpSpPr>
        <p:grpSpPr>
          <a:xfrm>
            <a:off x="-2223317" y="-3885483"/>
            <a:ext cx="8141101" cy="7220740"/>
            <a:chOff x="-2030283" y="-3986708"/>
            <a:chExt cx="8141101" cy="7220740"/>
          </a:xfrm>
        </p:grpSpPr>
        <p:sp>
          <p:nvSpPr>
            <p:cNvPr id="171" name="Google Shape;171;p6"/>
            <p:cNvSpPr txBox="1"/>
            <p:nvPr/>
          </p:nvSpPr>
          <p:spPr>
            <a:xfrm>
              <a:off x="-2030283" y="-3986708"/>
              <a:ext cx="7018290" cy="722074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2" name="Google Shape;172;p6"/>
            <p:cNvSpPr txBox="1"/>
            <p:nvPr/>
          </p:nvSpPr>
          <p:spPr>
            <a:xfrm>
              <a:off x="505379" y="191143"/>
              <a:ext cx="5605439" cy="2024208"/>
            </a:xfrm>
            <a:prstGeom prst="rect">
              <a:avLst/>
            </a:prstGeom>
            <a:noFill/>
            <a:ln>
              <a:noFill/>
            </a:ln>
          </p:spPr>
          <p:txBody>
            <a:bodyPr spcFirstLastPara="1" wrap="square" lIns="0" tIns="0" rIns="0" bIns="0" anchor="t" anchorCtr="0">
              <a:spAutoFit/>
            </a:bodyPr>
            <a:lstStyle/>
            <a:p>
              <a:pPr marL="0" marR="0" lvl="0" indent="0" algn="l" rtl="0">
                <a:lnSpc>
                  <a:spcPct val="138008"/>
                </a:lnSpc>
                <a:spcBef>
                  <a:spcPts val="0"/>
                </a:spcBef>
                <a:spcAft>
                  <a:spcPts val="0"/>
                </a:spcAft>
                <a:buClr>
                  <a:srgbClr val="000000"/>
                </a:buClr>
                <a:buSzPts val="5946"/>
                <a:buFont typeface="Arial"/>
                <a:buNone/>
              </a:pPr>
              <a:r>
                <a:rPr lang="en-IN" sz="5946" b="1" i="0" u="none" strike="noStrike" cap="none">
                  <a:solidFill>
                    <a:srgbClr val="FFFFFF"/>
                  </a:solidFill>
                  <a:latin typeface="Arial Rounded"/>
                  <a:ea typeface="Arial Rounded"/>
                  <a:cs typeface="Arial Rounded"/>
                  <a:sym typeface="Arial Rounded"/>
                </a:rPr>
                <a:t>Research Objectives</a:t>
              </a:r>
              <a:endParaRPr sz="1400" b="0" i="0" u="none" strike="noStrike" cap="none">
                <a:solidFill>
                  <a:srgbClr val="000000"/>
                </a:solidFill>
                <a:latin typeface="Arial"/>
                <a:ea typeface="Arial"/>
                <a:cs typeface="Arial"/>
                <a:sym typeface="Arial"/>
              </a:endParaRPr>
            </a:p>
          </p:txBody>
        </p:sp>
      </p:grpSp>
      <p:sp>
        <p:nvSpPr>
          <p:cNvPr id="173" name="Google Shape;173;p6"/>
          <p:cNvSpPr txBox="1"/>
          <p:nvPr/>
        </p:nvSpPr>
        <p:spPr>
          <a:xfrm>
            <a:off x="3308098" y="3204816"/>
            <a:ext cx="14534400" cy="3759963"/>
          </a:xfrm>
          <a:prstGeom prst="rect">
            <a:avLst/>
          </a:prstGeom>
          <a:noFill/>
          <a:ln>
            <a:noFill/>
          </a:ln>
        </p:spPr>
        <p:txBody>
          <a:bodyPr spcFirstLastPara="1" wrap="square" lIns="91425" tIns="45700" rIns="91425" bIns="45700" anchor="t" anchorCtr="0">
            <a:spAutoFit/>
          </a:bodyPr>
          <a:lstStyle/>
          <a:p>
            <a:pPr marL="50800" marR="0" algn="l" rtl="0">
              <a:lnSpc>
                <a:spcPct val="100000"/>
              </a:lnSpc>
              <a:spcBef>
                <a:spcPts val="0"/>
              </a:spcBef>
              <a:spcAft>
                <a:spcPts val="1400"/>
              </a:spcAft>
              <a:buClr>
                <a:srgbClr val="000000"/>
              </a:buClr>
              <a:buSzPts val="2800"/>
            </a:pPr>
            <a:r>
              <a:rPr sz="1800" b="1" dirty="0">
                <a:solidFill>
                  <a:srgbClr val="231F20"/>
                </a:solidFill>
              </a:rPr>
              <a:t>Objective 1: </a:t>
            </a:r>
            <a:r>
              <a:rPr sz="1800" b="0" dirty="0">
                <a:solidFill>
                  <a:srgbClr val="231F20"/>
                </a:solidFill>
              </a:rPr>
              <a:t>Identify &amp; formally model East-West attack vectors (Lateral Movement TA0008 and Pre-Encryption Ransomware) across resource-constrained edge computing and Smart Manufacturing systems.</a:t>
            </a:r>
            <a:endParaRPr sz="1400" b="0" i="0" u="none" strike="noStrike" cap="none" dirty="0">
              <a:solidFill>
                <a:srgbClr val="000000"/>
              </a:solidFill>
              <a:latin typeface="Arial"/>
              <a:ea typeface="Arial"/>
              <a:cs typeface="Arial"/>
              <a:sym typeface="Arial"/>
            </a:endParaRPr>
          </a:p>
          <a:p>
            <a:pPr>
              <a:spcAft>
                <a:spcPts val="1400"/>
              </a:spcAft>
            </a:pPr>
            <a:r>
              <a:rPr sz="1800" b="1" dirty="0">
                <a:solidFill>
                  <a:srgbClr val="231F20"/>
                </a:solidFill>
              </a:rPr>
              <a:t>Objective 2: </a:t>
            </a:r>
            <a:r>
              <a:rPr sz="1800" b="0" dirty="0">
                <a:solidFill>
                  <a:srgbClr val="231F20"/>
                </a:solidFill>
              </a:rPr>
              <a:t>Design and implement a Decoupled Dual-Stream Small Language Model framework (</a:t>
            </a:r>
            <a:r>
              <a:rPr sz="1800" b="0" dirty="0" err="1">
                <a:solidFill>
                  <a:srgbClr val="231F20"/>
                </a:solidFill>
              </a:rPr>
              <a:t>EdgeShield</a:t>
            </a:r>
            <a:r>
              <a:rPr sz="1800" b="0" dirty="0">
                <a:solidFill>
                  <a:srgbClr val="231F20"/>
                </a:solidFill>
              </a:rPr>
              <a:t>) specialized for disparate authentication and behavioral event streams.</a:t>
            </a:r>
          </a:p>
          <a:p>
            <a:pPr>
              <a:spcAft>
                <a:spcPts val="1400"/>
              </a:spcAft>
            </a:pPr>
            <a:r>
              <a:rPr sz="1800" b="1" dirty="0">
                <a:solidFill>
                  <a:srgbClr val="231F20"/>
                </a:solidFill>
              </a:rPr>
              <a:t>Objective 3: </a:t>
            </a:r>
            <a:r>
              <a:rPr sz="1800" b="0" dirty="0">
                <a:solidFill>
                  <a:srgbClr val="231F20"/>
                </a:solidFill>
              </a:rPr>
              <a:t>Formulate a multi-task learning objective combining Cross-Entropy with Supervised Contrastive Loss to separate dual-use administration tools from malicious attack chains.</a:t>
            </a:r>
          </a:p>
          <a:p>
            <a:pPr>
              <a:spcAft>
                <a:spcPts val="1400"/>
              </a:spcAft>
            </a:pPr>
            <a:r>
              <a:rPr sz="1800" b="1" dirty="0">
                <a:solidFill>
                  <a:srgbClr val="231F20"/>
                </a:solidFill>
              </a:rPr>
              <a:t>Objective 4: </a:t>
            </a:r>
            <a:r>
              <a:rPr sz="1800" b="0" dirty="0">
                <a:solidFill>
                  <a:srgbClr val="231F20"/>
                </a:solidFill>
              </a:rPr>
              <a:t>Integrate a MITRE ATT&amp;CK Knowledge Graph correlation engine to synthesize multi-hop attack paths and provide explainable threat triage.</a:t>
            </a:r>
          </a:p>
          <a:p>
            <a:pPr>
              <a:spcAft>
                <a:spcPts val="1400"/>
              </a:spcAft>
            </a:pPr>
            <a:r>
              <a:rPr sz="1800" b="1" dirty="0">
                <a:solidFill>
                  <a:srgbClr val="231F20"/>
                </a:solidFill>
              </a:rPr>
              <a:t>Objective 5: </a:t>
            </a:r>
            <a:r>
              <a:rPr sz="1800" b="0" dirty="0">
                <a:solidFill>
                  <a:srgbClr val="231F20"/>
                </a:solidFill>
              </a:rPr>
              <a:t>Optimize and validate real-time edge deployment through dynamic INT8 quantization on commodity edge hardware, achieving sub-20ms latency and &lt;100MB RAM footprint.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178"/>
        <p:cNvGrpSpPr/>
        <p:nvPr/>
      </p:nvGrpSpPr>
      <p:grpSpPr>
        <a:xfrm>
          <a:off x="0" y="0"/>
          <a:ext cx="0" cy="0"/>
          <a:chOff x="0" y="0"/>
          <a:chExt cx="0" cy="0"/>
        </a:xfrm>
      </p:grpSpPr>
      <p:sp>
        <p:nvSpPr>
          <p:cNvPr id="179" name="Google Shape;179;g3b824e2dc5f_0_8"/>
          <p:cNvSpPr txBox="1"/>
          <p:nvPr/>
        </p:nvSpPr>
        <p:spPr>
          <a:xfrm>
            <a:off x="1998294" y="581800"/>
            <a:ext cx="12241800" cy="3336600"/>
          </a:xfrm>
          <a:prstGeom prst="rect">
            <a:avLst/>
          </a:prstGeom>
          <a:noFill/>
          <a:ln>
            <a:noFill/>
          </a:ln>
        </p:spPr>
        <p:txBody>
          <a:bodyPr spcFirstLastPara="1" wrap="square" lIns="0" tIns="0" rIns="0" bIns="0" anchor="t" anchorCtr="0">
            <a:spAutoFit/>
          </a:bodyPr>
          <a:lstStyle/>
          <a:p>
            <a:pPr marL="0" lvl="0" indent="0" algn="l" rtl="0">
              <a:lnSpc>
                <a:spcPct val="138005"/>
              </a:lnSpc>
              <a:spcBef>
                <a:spcPts val="0"/>
              </a:spcBef>
              <a:spcAft>
                <a:spcPts val="0"/>
              </a:spcAft>
              <a:buClr>
                <a:schemeClr val="dk1"/>
              </a:buClr>
              <a:buSzPts val="1100"/>
              <a:buFont typeface="Arial"/>
              <a:buNone/>
            </a:pPr>
            <a:r>
              <a:rPr sz="5765" b="1">
                <a:solidFill>
                  <a:srgbClr val="231F20"/>
                </a:solidFill>
                <a:latin typeface="Arial Rounded"/>
              </a:rPr>
              <a:t>RDC 2 Feedback &amp; Research Pivot</a:t>
            </a:r>
            <a:endParaRPr sz="5765" b="1">
              <a:solidFill>
                <a:srgbClr val="231F20"/>
              </a:solidFill>
              <a:latin typeface="Arial Rounded"/>
              <a:ea typeface="Arial Rounded"/>
              <a:cs typeface="Arial Rounded"/>
              <a:sym typeface="Arial Rounded"/>
            </a:endParaRPr>
          </a:p>
          <a:p>
            <a:pPr marL="0" lvl="0" indent="0" algn="l" rtl="0">
              <a:lnSpc>
                <a:spcPct val="138005"/>
              </a:lnSpc>
              <a:spcBef>
                <a:spcPts val="0"/>
              </a:spcBef>
              <a:spcAft>
                <a:spcPts val="0"/>
              </a:spcAft>
              <a:buClr>
                <a:schemeClr val="dk1"/>
              </a:buClr>
              <a:buSzPts val="1100"/>
              <a:buFont typeface="Arial"/>
              <a:buNone/>
            </a:pPr>
            <a:endParaRPr sz="5765" b="1">
              <a:solidFill>
                <a:srgbClr val="231F20"/>
              </a:solidFill>
              <a:latin typeface="Arial Rounded"/>
              <a:ea typeface="Arial Rounded"/>
              <a:cs typeface="Arial Rounded"/>
              <a:sym typeface="Arial Rounded"/>
            </a:endParaRPr>
          </a:p>
          <a:p>
            <a:pPr marL="0" marR="0" lvl="0" indent="0" algn="l" rtl="0">
              <a:lnSpc>
                <a:spcPct val="138005"/>
              </a:lnSpc>
              <a:spcBef>
                <a:spcPts val="0"/>
              </a:spcBef>
              <a:spcAft>
                <a:spcPts val="0"/>
              </a:spcAft>
              <a:buClr>
                <a:srgbClr val="000000"/>
              </a:buClr>
              <a:buSzPts val="5765"/>
              <a:buFont typeface="Arial"/>
              <a:buNone/>
            </a:pPr>
            <a:endParaRPr sz="5765" b="1">
              <a:solidFill>
                <a:srgbClr val="231F20"/>
              </a:solidFill>
              <a:latin typeface="Arial Rounded"/>
              <a:ea typeface="Arial Rounded"/>
              <a:cs typeface="Arial Rounded"/>
              <a:sym typeface="Arial Rounded"/>
            </a:endParaRPr>
          </a:p>
        </p:txBody>
      </p:sp>
      <p:sp>
        <p:nvSpPr>
          <p:cNvPr id="180" name="Google Shape;180;g3b824e2dc5f_0_8"/>
          <p:cNvSpPr txBox="1"/>
          <p:nvPr/>
        </p:nvSpPr>
        <p:spPr>
          <a:xfrm>
            <a:off x="1998300" y="2200000"/>
            <a:ext cx="15394200" cy="4683333"/>
          </a:xfrm>
          <a:prstGeom prst="rect">
            <a:avLst/>
          </a:prstGeom>
          <a:noFill/>
          <a:ln>
            <a:noFill/>
          </a:ln>
        </p:spPr>
        <p:txBody>
          <a:bodyPr spcFirstLastPara="1" wrap="square" lIns="0" tIns="0" rIns="0" bIns="0" anchor="t" anchorCtr="0">
            <a:spAutoFit/>
          </a:bodyPr>
          <a:lstStyle/>
          <a:p>
            <a:pPr marL="457200" indent="-300000" algn="l" rtl="0">
              <a:buChar char="•"/>
            </a:pPr>
            <a:r>
              <a:rPr sz="2800" b="1" dirty="0">
                <a:solidFill>
                  <a:srgbClr val="231F20"/>
                </a:solidFill>
                <a:latin typeface="Calibri"/>
              </a:rPr>
              <a:t>Committee Recommendation 1 (Title Refinement):</a:t>
            </a:r>
            <a:endParaRPr sz="4800" dirty="0">
              <a:solidFill>
                <a:schemeClr val="dk1"/>
              </a:solidFill>
            </a:endParaRPr>
          </a:p>
          <a:p>
            <a:pPr marL="914400" lvl="1" indent="-300000">
              <a:spcAft>
                <a:spcPts val="200"/>
              </a:spcAft>
              <a:buChar char="○"/>
            </a:pPr>
            <a:r>
              <a:rPr sz="2400" b="0" dirty="0">
                <a:solidFill>
                  <a:schemeClr val="tx1"/>
                </a:solidFill>
                <a:latin typeface="Calibri"/>
              </a:rPr>
              <a:t>Broaden title at this stage to avoid narrowing prematurely; incorporate specific domain/solution once consolidated.</a:t>
            </a:r>
          </a:p>
          <a:p>
            <a:pPr marL="914400" lvl="1" indent="-300000">
              <a:spcAft>
                <a:spcPts val="800"/>
              </a:spcAft>
              <a:buChar char="○"/>
            </a:pPr>
            <a:r>
              <a:rPr sz="2400" b="0" dirty="0">
                <a:solidFill>
                  <a:schemeClr val="tx1"/>
                </a:solidFill>
                <a:latin typeface="Calibri"/>
              </a:rPr>
              <a:t>Action Taken: Revised working title to: 'Resource-Efficient AI for Threat Detection in Edge Systems'.</a:t>
            </a:r>
          </a:p>
          <a:p>
            <a:pPr marL="457200" indent="-300000">
              <a:spcAft>
                <a:spcPts val="200"/>
              </a:spcAft>
              <a:buChar char="•"/>
            </a:pPr>
            <a:r>
              <a:rPr sz="2800" b="1" dirty="0">
                <a:solidFill>
                  <a:srgbClr val="231F20"/>
                </a:solidFill>
                <a:latin typeface="Calibri"/>
              </a:rPr>
              <a:t>Committee Recommendation 2 (Dataset Rigor &amp; Trustworthiness):</a:t>
            </a:r>
          </a:p>
          <a:p>
            <a:pPr marL="914400" lvl="1" indent="-300000">
              <a:spcAft>
                <a:spcPts val="200"/>
              </a:spcAft>
              <a:buChar char="○"/>
            </a:pPr>
            <a:r>
              <a:rPr sz="2400" b="0" dirty="0">
                <a:solidFill>
                  <a:schemeClr val="tx1"/>
                </a:solidFill>
                <a:latin typeface="Calibri"/>
              </a:rPr>
              <a:t>Verify suitability and labeling integrity of chosen datasets (LMD-2023) against operational signatures.</a:t>
            </a:r>
          </a:p>
          <a:p>
            <a:pPr marL="914400" lvl="1" indent="-300000">
              <a:spcAft>
                <a:spcPts val="800"/>
              </a:spcAft>
              <a:buChar char="○"/>
            </a:pPr>
            <a:r>
              <a:rPr sz="2400" b="0" dirty="0">
                <a:solidFill>
                  <a:schemeClr val="tx1"/>
                </a:solidFill>
                <a:latin typeface="Calibri"/>
              </a:rPr>
              <a:t>Action Taken: Exhaustively evaluated LMD-2023 (1.75M Sysmon events) and augmented with DARPA </a:t>
            </a:r>
            <a:r>
              <a:rPr sz="2400" b="0" dirty="0" err="1">
                <a:solidFill>
                  <a:schemeClr val="tx1"/>
                </a:solidFill>
                <a:latin typeface="Calibri"/>
              </a:rPr>
              <a:t>OpTC</a:t>
            </a:r>
            <a:r>
              <a:rPr sz="2400" b="0" dirty="0">
                <a:solidFill>
                  <a:schemeClr val="tx1"/>
                </a:solidFill>
                <a:latin typeface="Calibri"/>
              </a:rPr>
              <a:t> &amp; LANL enterprise authentication logs with strict temporal leakage audits.</a:t>
            </a:r>
          </a:p>
          <a:p>
            <a:pPr marL="457200" indent="-300000">
              <a:spcAft>
                <a:spcPts val="200"/>
              </a:spcAft>
              <a:buChar char="•"/>
            </a:pPr>
            <a:r>
              <a:rPr sz="2800" b="1" dirty="0">
                <a:solidFill>
                  <a:srgbClr val="231F20"/>
                </a:solidFill>
                <a:latin typeface="Calibri"/>
              </a:rPr>
              <a:t>Committee Recommendation 3 (Realistic Attack Simulation &amp; Correlation):</a:t>
            </a:r>
          </a:p>
          <a:p>
            <a:pPr marL="914400" lvl="1" indent="-300000">
              <a:spcAft>
                <a:spcPts val="200"/>
              </a:spcAft>
              <a:buChar char="○"/>
            </a:pPr>
            <a:r>
              <a:rPr sz="2400" b="0" dirty="0">
                <a:solidFill>
                  <a:schemeClr val="tx1"/>
                </a:solidFill>
                <a:latin typeface="Calibri"/>
              </a:rPr>
              <a:t>Model multi-stage attack scenarios to validate end-to-end intrusion detection rather than isolated alerts.</a:t>
            </a:r>
          </a:p>
          <a:p>
            <a:pPr marL="914400" lvl="1" indent="-300000">
              <a:spcAft>
                <a:spcPts val="800"/>
              </a:spcAft>
              <a:buChar char="○"/>
            </a:pPr>
            <a:r>
              <a:rPr sz="2400" b="0" dirty="0">
                <a:solidFill>
                  <a:schemeClr val="tx1"/>
                </a:solidFill>
                <a:latin typeface="Calibri"/>
              </a:rPr>
              <a:t>Action Taken: Developed graph-backed ATT&amp;CK correlation engine tracking complete multi-stage campaigns (e.g., ALPHV/</a:t>
            </a:r>
            <a:r>
              <a:rPr sz="2400" b="0" dirty="0" err="1">
                <a:solidFill>
                  <a:schemeClr val="tx1"/>
                </a:solidFill>
                <a:latin typeface="Calibri"/>
              </a:rPr>
              <a:t>BlackCat</a:t>
            </a:r>
            <a:r>
              <a:rPr sz="2400" b="0" dirty="0">
                <a:solidFill>
                  <a:schemeClr val="tx1"/>
                </a:solidFill>
                <a:latin typeface="Calibri"/>
              </a:rPr>
              <a:t> and </a:t>
            </a:r>
            <a:r>
              <a:rPr sz="2400" b="0" dirty="0" err="1">
                <a:solidFill>
                  <a:schemeClr val="tx1"/>
                </a:solidFill>
                <a:latin typeface="Calibri"/>
              </a:rPr>
              <a:t>LockBit</a:t>
            </a:r>
            <a:r>
              <a:rPr sz="2400" b="0" dirty="0">
                <a:solidFill>
                  <a:schemeClr val="tx1"/>
                </a:solidFill>
                <a:latin typeface="Calibri"/>
              </a:rPr>
              <a:t> 3.0 from Pass-the-Hash to pre-encryption staging).</a:t>
            </a:r>
          </a:p>
        </p:txBody>
      </p:sp>
      <p:sp>
        <p:nvSpPr>
          <p:cNvPr id="181" name="Google Shape;181;g3b824e2dc5f_0_8"/>
          <p:cNvSpPr/>
          <p:nvPr/>
        </p:nvSpPr>
        <p:spPr>
          <a:xfrm>
            <a:off x="16322124" y="7754894"/>
            <a:ext cx="4118443" cy="3654183"/>
          </a:xfrm>
          <a:custGeom>
            <a:avLst/>
            <a:gdLst/>
            <a:ahLst/>
            <a:cxnLst/>
            <a:rect l="l" t="t" r="r" b="b"/>
            <a:pathLst>
              <a:path w="4118443" h="3654183" extrusionOk="0">
                <a:moveTo>
                  <a:pt x="0" y="0"/>
                </a:moveTo>
                <a:lnTo>
                  <a:pt x="4118443" y="0"/>
                </a:lnTo>
                <a:lnTo>
                  <a:pt x="4118443" y="3654183"/>
                </a:lnTo>
                <a:lnTo>
                  <a:pt x="0" y="365418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g3b824e2dc5f_0_8"/>
          <p:cNvSpPr/>
          <p:nvPr/>
        </p:nvSpPr>
        <p:spPr>
          <a:xfrm rot="10800000">
            <a:off x="-2059222" y="-789427"/>
            <a:ext cx="4118443" cy="3654183"/>
          </a:xfrm>
          <a:custGeom>
            <a:avLst/>
            <a:gdLst/>
            <a:ahLst/>
            <a:cxnLst/>
            <a:rect l="l" t="t" r="r" b="b"/>
            <a:pathLst>
              <a:path w="4118443" h="3654183" extrusionOk="0">
                <a:moveTo>
                  <a:pt x="4118444" y="3654182"/>
                </a:moveTo>
                <a:lnTo>
                  <a:pt x="0" y="3654182"/>
                </a:lnTo>
                <a:lnTo>
                  <a:pt x="0" y="0"/>
                </a:lnTo>
                <a:lnTo>
                  <a:pt x="4118444" y="0"/>
                </a:lnTo>
                <a:lnTo>
                  <a:pt x="4118444" y="3654182"/>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187"/>
        <p:cNvGrpSpPr/>
        <p:nvPr/>
      </p:nvGrpSpPr>
      <p:grpSpPr>
        <a:xfrm>
          <a:off x="0" y="0"/>
          <a:ext cx="0" cy="0"/>
          <a:chOff x="0" y="0"/>
          <a:chExt cx="0" cy="0"/>
        </a:xfrm>
      </p:grpSpPr>
      <p:sp>
        <p:nvSpPr>
          <p:cNvPr id="188" name="Google Shape;188;g3b824e2dc5f_0_25"/>
          <p:cNvSpPr txBox="1"/>
          <p:nvPr/>
        </p:nvSpPr>
        <p:spPr>
          <a:xfrm>
            <a:off x="1998300" y="581800"/>
            <a:ext cx="15940200" cy="3336600"/>
          </a:xfrm>
          <a:prstGeom prst="rect">
            <a:avLst/>
          </a:prstGeom>
          <a:noFill/>
          <a:ln>
            <a:noFill/>
          </a:ln>
        </p:spPr>
        <p:txBody>
          <a:bodyPr spcFirstLastPara="1" wrap="square" lIns="0" tIns="0" rIns="0" bIns="0" anchor="t" anchorCtr="0">
            <a:spAutoFit/>
          </a:bodyPr>
          <a:lstStyle/>
          <a:p>
            <a:pPr marL="0" lvl="0" indent="0" algn="l" rtl="0">
              <a:lnSpc>
                <a:spcPct val="138005"/>
              </a:lnSpc>
              <a:spcBef>
                <a:spcPts val="0"/>
              </a:spcBef>
              <a:spcAft>
                <a:spcPts val="0"/>
              </a:spcAft>
              <a:buClr>
                <a:schemeClr val="dk1"/>
              </a:buClr>
              <a:buSzPts val="1100"/>
              <a:buFont typeface="Arial"/>
              <a:buNone/>
            </a:pPr>
            <a:r>
              <a:rPr sz="4400" b="1">
                <a:solidFill>
                  <a:srgbClr val="231F20"/>
                </a:solidFill>
                <a:latin typeface="Arial Rounded"/>
              </a:rPr>
              <a:t>Current Research State: Dual-Stream Architecture</a:t>
            </a:r>
            <a:endParaRPr sz="5765" b="1">
              <a:solidFill>
                <a:srgbClr val="231F20"/>
              </a:solidFill>
              <a:latin typeface="Arial Rounded"/>
              <a:ea typeface="Arial Rounded"/>
              <a:cs typeface="Arial Rounded"/>
              <a:sym typeface="Arial Rounded"/>
            </a:endParaRPr>
          </a:p>
          <a:p>
            <a:pPr marL="0" lvl="0" indent="0" algn="l" rtl="0">
              <a:lnSpc>
                <a:spcPct val="138005"/>
              </a:lnSpc>
              <a:spcBef>
                <a:spcPts val="0"/>
              </a:spcBef>
              <a:spcAft>
                <a:spcPts val="0"/>
              </a:spcAft>
              <a:buClr>
                <a:schemeClr val="dk1"/>
              </a:buClr>
              <a:buSzPts val="1100"/>
              <a:buFont typeface="Arial"/>
              <a:buNone/>
            </a:pPr>
            <a:endParaRPr sz="5765" b="1">
              <a:solidFill>
                <a:srgbClr val="231F20"/>
              </a:solidFill>
              <a:latin typeface="Arial Rounded"/>
              <a:ea typeface="Arial Rounded"/>
              <a:cs typeface="Arial Rounded"/>
              <a:sym typeface="Arial Rounded"/>
            </a:endParaRPr>
          </a:p>
          <a:p>
            <a:pPr marL="0" marR="0" lvl="0" indent="0" algn="l" rtl="0">
              <a:lnSpc>
                <a:spcPct val="138005"/>
              </a:lnSpc>
              <a:spcBef>
                <a:spcPts val="0"/>
              </a:spcBef>
              <a:spcAft>
                <a:spcPts val="0"/>
              </a:spcAft>
              <a:buClr>
                <a:srgbClr val="000000"/>
              </a:buClr>
              <a:buSzPts val="5765"/>
              <a:buFont typeface="Arial"/>
              <a:buNone/>
            </a:pPr>
            <a:endParaRPr sz="5765" b="1">
              <a:solidFill>
                <a:srgbClr val="231F20"/>
              </a:solidFill>
              <a:latin typeface="Arial Rounded"/>
              <a:ea typeface="Arial Rounded"/>
              <a:cs typeface="Arial Rounded"/>
              <a:sym typeface="Arial Rounded"/>
            </a:endParaRPr>
          </a:p>
        </p:txBody>
      </p:sp>
      <p:sp>
        <p:nvSpPr>
          <p:cNvPr id="189" name="Google Shape;189;g3b824e2dc5f_0_25"/>
          <p:cNvSpPr txBox="1"/>
          <p:nvPr/>
        </p:nvSpPr>
        <p:spPr>
          <a:xfrm>
            <a:off x="1998300" y="2200000"/>
            <a:ext cx="15402194" cy="7140416"/>
          </a:xfrm>
          <a:prstGeom prst="rect">
            <a:avLst/>
          </a:prstGeom>
          <a:noFill/>
          <a:ln>
            <a:noFill/>
          </a:ln>
        </p:spPr>
        <p:txBody>
          <a:bodyPr spcFirstLastPara="1" wrap="square" lIns="0" tIns="0" rIns="0" bIns="0" anchor="t" anchorCtr="0">
            <a:spAutoFit/>
          </a:bodyPr>
          <a:lstStyle/>
          <a:p>
            <a:pPr marL="457200" indent="-300000" algn="l" rtl="0">
              <a:spcAft>
                <a:spcPts val="200"/>
              </a:spcAft>
              <a:buChar char="•"/>
            </a:pPr>
            <a:r>
              <a:rPr sz="2800" b="1" dirty="0">
                <a:solidFill>
                  <a:srgbClr val="231F20"/>
                </a:solidFill>
                <a:latin typeface="Calibri"/>
              </a:rPr>
              <a:t>Decoupled Dual-Stream Architectural Rationale</a:t>
            </a:r>
            <a:endParaRPr sz="4800" dirty="0">
              <a:solidFill>
                <a:schemeClr val="dk1"/>
              </a:solidFill>
            </a:endParaRPr>
          </a:p>
          <a:p>
            <a:pPr marL="914400" lvl="1" indent="-300000">
              <a:spcAft>
                <a:spcPts val="300"/>
              </a:spcAft>
              <a:buChar char="○"/>
            </a:pPr>
            <a:r>
              <a:rPr sz="2400" b="0" dirty="0">
                <a:solidFill>
                  <a:srgbClr val="4B5563"/>
                </a:solidFill>
                <a:latin typeface="Calibri"/>
              </a:rPr>
              <a:t>Feeding asynchronous authentication logs and high-frequency behavioral logs into a single model causes severe token collisions and attention dilution.</a:t>
            </a:r>
          </a:p>
          <a:p>
            <a:pPr marL="914400" lvl="1" indent="-300000">
              <a:spcAft>
                <a:spcPts val="700"/>
              </a:spcAft>
              <a:buChar char="○"/>
            </a:pPr>
            <a:r>
              <a:rPr sz="2400" b="0" dirty="0" err="1">
                <a:solidFill>
                  <a:srgbClr val="4B5563"/>
                </a:solidFill>
                <a:latin typeface="Calibri"/>
              </a:rPr>
              <a:t>EdgeShield</a:t>
            </a:r>
            <a:r>
              <a:rPr sz="2400" b="0" dirty="0">
                <a:solidFill>
                  <a:srgbClr val="4B5563"/>
                </a:solidFill>
                <a:latin typeface="Calibri"/>
              </a:rPr>
              <a:t> decouples detection into two specialized neural streams, synchronizing them at the temporal correlation layer.</a:t>
            </a:r>
          </a:p>
          <a:p>
            <a:pPr marL="457200" indent="-300000">
              <a:spcAft>
                <a:spcPts val="200"/>
              </a:spcAft>
              <a:buChar char="•"/>
            </a:pPr>
            <a:r>
              <a:rPr sz="2800" b="1" dirty="0">
                <a:solidFill>
                  <a:srgbClr val="231F20"/>
                </a:solidFill>
                <a:latin typeface="Calibri"/>
              </a:rPr>
              <a:t>Stream A - Log Semantic Analyzer (LSA)</a:t>
            </a:r>
          </a:p>
          <a:p>
            <a:pPr marL="914400" lvl="1" indent="-300000">
              <a:spcAft>
                <a:spcPts val="300"/>
              </a:spcAft>
              <a:buChar char="○"/>
            </a:pPr>
            <a:r>
              <a:rPr sz="2400" b="0" dirty="0">
                <a:solidFill>
                  <a:srgbClr val="4B5563"/>
                </a:solidFill>
                <a:latin typeface="Calibri"/>
              </a:rPr>
              <a:t>Backbone: DeBERTa-v3 Small (44M parameters, encoder-only transformer).</a:t>
            </a:r>
          </a:p>
          <a:p>
            <a:pPr marL="914400" lvl="1" indent="-300000">
              <a:spcAft>
                <a:spcPts val="700"/>
              </a:spcAft>
              <a:buChar char="○"/>
            </a:pPr>
            <a:r>
              <a:rPr sz="2400" b="0" dirty="0">
                <a:solidFill>
                  <a:srgbClr val="4B5563"/>
                </a:solidFill>
                <a:latin typeface="Calibri"/>
              </a:rPr>
              <a:t>Target Telemetry: Ingests Windows Security Event IDs 4624, 4625, 4648, 4672, and Kerberos tickets using a 512-token temporal sliding window (K=3) to detect Lateral Movement (TA0008).</a:t>
            </a:r>
          </a:p>
          <a:p>
            <a:pPr marL="457200" indent="-300000">
              <a:spcAft>
                <a:spcPts val="200"/>
              </a:spcAft>
              <a:buChar char="•"/>
            </a:pPr>
            <a:r>
              <a:rPr sz="2800" b="1" dirty="0">
                <a:solidFill>
                  <a:srgbClr val="231F20"/>
                </a:solidFill>
                <a:latin typeface="Calibri"/>
              </a:rPr>
              <a:t>Stream B - Behavioral Pattern Detector (BPD)</a:t>
            </a:r>
          </a:p>
          <a:p>
            <a:pPr marL="914400" lvl="1" indent="-300000">
              <a:spcAft>
                <a:spcPts val="300"/>
              </a:spcAft>
              <a:buChar char="○"/>
            </a:pPr>
            <a:r>
              <a:rPr sz="2400" b="0" dirty="0">
                <a:solidFill>
                  <a:srgbClr val="4B5563"/>
                </a:solidFill>
                <a:latin typeface="Calibri"/>
              </a:rPr>
              <a:t>Backbone: Compact sequence classifier operating on file-system telemetry and audit trails.</a:t>
            </a:r>
          </a:p>
          <a:p>
            <a:pPr marL="914400" lvl="1" indent="-300000">
              <a:spcAft>
                <a:spcPts val="700"/>
              </a:spcAft>
              <a:buChar char="○"/>
            </a:pPr>
            <a:r>
              <a:rPr sz="2400" b="0" dirty="0">
                <a:solidFill>
                  <a:srgbClr val="4B5563"/>
                </a:solidFill>
                <a:latin typeface="Calibri"/>
              </a:rPr>
              <a:t>Target Telemetry: Identifies defense impairment (T1562.001), shadow-copy deletion (T1490), and staging to trigger pre-encryption alerts before ransomware executes (T1486).</a:t>
            </a:r>
          </a:p>
          <a:p>
            <a:pPr marL="457200" indent="-300000">
              <a:spcAft>
                <a:spcPts val="200"/>
              </a:spcAft>
              <a:buChar char="•"/>
            </a:pPr>
            <a:r>
              <a:rPr sz="2800" b="1" dirty="0">
                <a:solidFill>
                  <a:srgbClr val="231F20"/>
                </a:solidFill>
                <a:latin typeface="Calibri"/>
              </a:rPr>
              <a:t>Layer 3 - MITRE ATT&amp;CK Temporal Correlation Engine</a:t>
            </a:r>
          </a:p>
          <a:p>
            <a:pPr marL="914400" lvl="1" indent="-300000">
              <a:spcAft>
                <a:spcPts val="300"/>
              </a:spcAft>
              <a:buChar char="○"/>
            </a:pPr>
            <a:r>
              <a:rPr sz="2400" b="0" dirty="0">
                <a:solidFill>
                  <a:srgbClr val="4B5563"/>
                </a:solidFill>
                <a:latin typeface="Calibri"/>
              </a:rPr>
              <a:t>Graph-backed temporal correlation engine fuses LSA and BPD detections over sliding time windows (ΔT ≤ 300s).</a:t>
            </a:r>
          </a:p>
          <a:p>
            <a:pPr marL="914400" lvl="1" indent="-300000">
              <a:spcAft>
                <a:spcPts val="700"/>
              </a:spcAft>
              <a:buChar char="○"/>
            </a:pPr>
            <a:r>
              <a:rPr sz="2400" b="0" dirty="0">
                <a:solidFill>
                  <a:srgbClr val="4B5563"/>
                </a:solidFill>
                <a:latin typeface="Calibri"/>
              </a:rPr>
              <a:t>Employs KNN collaborative filtering across the ATT&amp;CK matrix to predict the adversary's next 3 most probable techniques.</a:t>
            </a:r>
          </a:p>
        </p:txBody>
      </p:sp>
      <p:sp>
        <p:nvSpPr>
          <p:cNvPr id="190" name="Google Shape;190;g3b824e2dc5f_0_25"/>
          <p:cNvSpPr/>
          <p:nvPr/>
        </p:nvSpPr>
        <p:spPr>
          <a:xfrm>
            <a:off x="16322124" y="7754894"/>
            <a:ext cx="4118443" cy="3654183"/>
          </a:xfrm>
          <a:custGeom>
            <a:avLst/>
            <a:gdLst/>
            <a:ahLst/>
            <a:cxnLst/>
            <a:rect l="l" t="t" r="r" b="b"/>
            <a:pathLst>
              <a:path w="4118443" h="3654183" extrusionOk="0">
                <a:moveTo>
                  <a:pt x="0" y="0"/>
                </a:moveTo>
                <a:lnTo>
                  <a:pt x="4118443" y="0"/>
                </a:lnTo>
                <a:lnTo>
                  <a:pt x="4118443" y="3654183"/>
                </a:lnTo>
                <a:lnTo>
                  <a:pt x="0" y="365418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g3b824e2dc5f_0_25"/>
          <p:cNvSpPr/>
          <p:nvPr/>
        </p:nvSpPr>
        <p:spPr>
          <a:xfrm rot="10800000">
            <a:off x="-2059222" y="-789427"/>
            <a:ext cx="4118443" cy="3654183"/>
          </a:xfrm>
          <a:custGeom>
            <a:avLst/>
            <a:gdLst/>
            <a:ahLst/>
            <a:cxnLst/>
            <a:rect l="l" t="t" r="r" b="b"/>
            <a:pathLst>
              <a:path w="4118443" h="3654183" extrusionOk="0">
                <a:moveTo>
                  <a:pt x="4118444" y="3654182"/>
                </a:moveTo>
                <a:lnTo>
                  <a:pt x="0" y="3654182"/>
                </a:lnTo>
                <a:lnTo>
                  <a:pt x="0" y="0"/>
                </a:lnTo>
                <a:lnTo>
                  <a:pt x="4118444" y="0"/>
                </a:lnTo>
                <a:lnTo>
                  <a:pt x="4118444" y="3654182"/>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196"/>
        <p:cNvGrpSpPr/>
        <p:nvPr/>
      </p:nvGrpSpPr>
      <p:grpSpPr>
        <a:xfrm>
          <a:off x="0" y="0"/>
          <a:ext cx="0" cy="0"/>
          <a:chOff x="0" y="0"/>
          <a:chExt cx="0" cy="0"/>
        </a:xfrm>
      </p:grpSpPr>
      <p:sp>
        <p:nvSpPr>
          <p:cNvPr id="197" name="Google Shape;197;g3b824e2dc5f_0_38"/>
          <p:cNvSpPr txBox="1"/>
          <p:nvPr/>
        </p:nvSpPr>
        <p:spPr>
          <a:xfrm>
            <a:off x="1998300" y="581800"/>
            <a:ext cx="15940200" cy="3336600"/>
          </a:xfrm>
          <a:prstGeom prst="rect">
            <a:avLst/>
          </a:prstGeom>
          <a:noFill/>
          <a:ln>
            <a:noFill/>
          </a:ln>
        </p:spPr>
        <p:txBody>
          <a:bodyPr spcFirstLastPara="1" wrap="square" lIns="0" tIns="0" rIns="0" bIns="0" anchor="t" anchorCtr="0">
            <a:spAutoFit/>
          </a:bodyPr>
          <a:lstStyle/>
          <a:p>
            <a:pPr marL="0" lvl="0" indent="0" algn="l" rtl="0">
              <a:lnSpc>
                <a:spcPct val="138005"/>
              </a:lnSpc>
              <a:spcBef>
                <a:spcPts val="0"/>
              </a:spcBef>
              <a:spcAft>
                <a:spcPts val="0"/>
              </a:spcAft>
              <a:buClr>
                <a:schemeClr val="dk1"/>
              </a:buClr>
              <a:buSzPts val="1100"/>
              <a:buFont typeface="Arial"/>
              <a:buNone/>
            </a:pPr>
            <a:r>
              <a:rPr sz="4400" b="1">
                <a:solidFill>
                  <a:srgbClr val="231F20"/>
                </a:solidFill>
                <a:latin typeface="Arial Rounded"/>
              </a:rPr>
              <a:t>Current Research State: Why SLMs for Edge Systems?</a:t>
            </a:r>
            <a:endParaRPr sz="5765" b="1">
              <a:solidFill>
                <a:srgbClr val="231F20"/>
              </a:solidFill>
              <a:latin typeface="Arial Rounded"/>
              <a:ea typeface="Arial Rounded"/>
              <a:cs typeface="Arial Rounded"/>
              <a:sym typeface="Arial Rounded"/>
            </a:endParaRPr>
          </a:p>
          <a:p>
            <a:pPr marL="0" lvl="0" indent="0" algn="l" rtl="0">
              <a:lnSpc>
                <a:spcPct val="138005"/>
              </a:lnSpc>
              <a:spcBef>
                <a:spcPts val="0"/>
              </a:spcBef>
              <a:spcAft>
                <a:spcPts val="0"/>
              </a:spcAft>
              <a:buClr>
                <a:schemeClr val="dk1"/>
              </a:buClr>
              <a:buSzPts val="1100"/>
              <a:buFont typeface="Arial"/>
              <a:buNone/>
            </a:pPr>
            <a:endParaRPr sz="5765" b="1">
              <a:solidFill>
                <a:srgbClr val="231F20"/>
              </a:solidFill>
              <a:latin typeface="Arial Rounded"/>
              <a:ea typeface="Arial Rounded"/>
              <a:cs typeface="Arial Rounded"/>
              <a:sym typeface="Arial Rounded"/>
            </a:endParaRPr>
          </a:p>
          <a:p>
            <a:pPr marL="0" marR="0" lvl="0" indent="0" algn="l" rtl="0">
              <a:lnSpc>
                <a:spcPct val="138005"/>
              </a:lnSpc>
              <a:spcBef>
                <a:spcPts val="0"/>
              </a:spcBef>
              <a:spcAft>
                <a:spcPts val="0"/>
              </a:spcAft>
              <a:buClr>
                <a:srgbClr val="000000"/>
              </a:buClr>
              <a:buSzPts val="5765"/>
              <a:buFont typeface="Arial"/>
              <a:buNone/>
            </a:pPr>
            <a:endParaRPr sz="5765" b="1">
              <a:solidFill>
                <a:srgbClr val="231F20"/>
              </a:solidFill>
              <a:latin typeface="Arial Rounded"/>
              <a:ea typeface="Arial Rounded"/>
              <a:cs typeface="Arial Rounded"/>
              <a:sym typeface="Arial Rounded"/>
            </a:endParaRPr>
          </a:p>
        </p:txBody>
      </p:sp>
      <p:sp>
        <p:nvSpPr>
          <p:cNvPr id="198" name="Google Shape;198;g3b824e2dc5f_0_38"/>
          <p:cNvSpPr txBox="1"/>
          <p:nvPr/>
        </p:nvSpPr>
        <p:spPr>
          <a:xfrm>
            <a:off x="1998300" y="2200000"/>
            <a:ext cx="15394200" cy="5144998"/>
          </a:xfrm>
          <a:prstGeom prst="rect">
            <a:avLst/>
          </a:prstGeom>
          <a:noFill/>
          <a:ln>
            <a:noFill/>
          </a:ln>
        </p:spPr>
        <p:txBody>
          <a:bodyPr spcFirstLastPara="1" wrap="square" lIns="0" tIns="0" rIns="0" bIns="0" anchor="t" anchorCtr="0">
            <a:spAutoFit/>
          </a:bodyPr>
          <a:lstStyle/>
          <a:p>
            <a:pPr marL="457200" indent="-300000" algn="l" rtl="0">
              <a:buChar char="•"/>
            </a:pPr>
            <a:r>
              <a:rPr sz="2400" b="1" dirty="0">
                <a:solidFill>
                  <a:srgbClr val="231F20"/>
                </a:solidFill>
                <a:latin typeface="Calibri"/>
              </a:rPr>
              <a:t>The 'Privacy Paradox' in Smart Manufacturing &amp; Critical Infrastructure</a:t>
            </a:r>
            <a:endParaRPr sz="4400" dirty="0">
              <a:solidFill>
                <a:schemeClr val="dk1"/>
              </a:solidFill>
            </a:endParaRPr>
          </a:p>
          <a:p>
            <a:pPr marL="914400" lvl="1" indent="-300000">
              <a:spcAft>
                <a:spcPts val="300"/>
              </a:spcAft>
              <a:buChar char="○"/>
            </a:pPr>
            <a:r>
              <a:rPr sz="2000" b="0" dirty="0">
                <a:solidFill>
                  <a:srgbClr val="4B5563"/>
                </a:solidFill>
                <a:latin typeface="Calibri"/>
              </a:rPr>
              <a:t>Manufacturing plants generate sensitive telemetry containing proprietary CAD data, PLC program timings, and trade secrets.</a:t>
            </a:r>
          </a:p>
          <a:p>
            <a:pPr marL="914400" lvl="1" indent="-300000">
              <a:spcAft>
                <a:spcPts val="700"/>
              </a:spcAft>
              <a:buChar char="○"/>
            </a:pPr>
            <a:r>
              <a:rPr sz="2000" b="0" dirty="0">
                <a:solidFill>
                  <a:srgbClr val="4B5563"/>
                </a:solidFill>
                <a:latin typeface="Calibri"/>
              </a:rPr>
              <a:t>Cloud LLM inference introduces critical data privacy violations and network egress latency; on-premise SLMs guarantee zero data egress.</a:t>
            </a:r>
          </a:p>
          <a:p>
            <a:pPr marL="457200" indent="-300000">
              <a:spcAft>
                <a:spcPts val="200"/>
              </a:spcAft>
              <a:buChar char="•"/>
            </a:pPr>
            <a:r>
              <a:rPr sz="2400" b="1" dirty="0">
                <a:solidFill>
                  <a:srgbClr val="231F20"/>
                </a:solidFill>
                <a:latin typeface="Calibri"/>
              </a:rPr>
              <a:t>Edge Hardware Compatibility &amp; Cost Efficiency</a:t>
            </a:r>
          </a:p>
          <a:p>
            <a:pPr marL="914400" lvl="1" indent="-300000">
              <a:spcAft>
                <a:spcPts val="300"/>
              </a:spcAft>
              <a:buChar char="○"/>
            </a:pPr>
            <a:r>
              <a:rPr sz="2000" b="0" dirty="0">
                <a:solidFill>
                  <a:srgbClr val="4B5563"/>
                </a:solidFill>
                <a:latin typeface="Calibri"/>
              </a:rPr>
              <a:t>Traditional LLMs (&gt;7B parameters) require multi-GPU server infrastructure costing &gt;$15,000 and drawing substantial power.</a:t>
            </a:r>
          </a:p>
          <a:p>
            <a:pPr marL="914400" lvl="1" indent="-300000">
              <a:spcAft>
                <a:spcPts val="700"/>
              </a:spcAft>
              <a:buChar char="○"/>
            </a:pPr>
            <a:r>
              <a:rPr sz="2000" b="0" dirty="0">
                <a:solidFill>
                  <a:srgbClr val="4B5563"/>
                </a:solidFill>
                <a:latin typeface="Calibri"/>
              </a:rPr>
              <a:t>Fine-tuned compact SLMs (44M </a:t>
            </a:r>
            <a:r>
              <a:rPr sz="2000" b="0" dirty="0" err="1">
                <a:solidFill>
                  <a:srgbClr val="4B5563"/>
                </a:solidFill>
                <a:latin typeface="Calibri"/>
              </a:rPr>
              <a:t>DeBERTa</a:t>
            </a:r>
            <a:r>
              <a:rPr sz="2000" b="0" dirty="0">
                <a:solidFill>
                  <a:srgbClr val="4B5563"/>
                </a:solidFill>
                <a:latin typeface="Calibri"/>
              </a:rPr>
              <a:t> / 66M </a:t>
            </a:r>
            <a:r>
              <a:rPr sz="2000" b="0" dirty="0" err="1">
                <a:solidFill>
                  <a:srgbClr val="4B5563"/>
                </a:solidFill>
                <a:latin typeface="Calibri"/>
              </a:rPr>
              <a:t>DistilBERT</a:t>
            </a:r>
            <a:r>
              <a:rPr sz="2000" b="0" dirty="0">
                <a:solidFill>
                  <a:srgbClr val="4B5563"/>
                </a:solidFill>
                <a:latin typeface="Calibri"/>
              </a:rPr>
              <a:t>) execute directly on industrial PCs, gateway appliances, and commodity multi-core CPUs (&lt;50MB RAM footprint).</a:t>
            </a:r>
          </a:p>
          <a:p>
            <a:pPr marL="457200" indent="-300000">
              <a:spcAft>
                <a:spcPts val="200"/>
              </a:spcAft>
              <a:buChar char="•"/>
            </a:pPr>
            <a:r>
              <a:rPr sz="2400" b="1" dirty="0">
                <a:solidFill>
                  <a:srgbClr val="231F20"/>
                </a:solidFill>
                <a:latin typeface="Calibri"/>
              </a:rPr>
              <a:t>Deterministic Low-Latency Inference for Real-Time OT Interlocks</a:t>
            </a:r>
          </a:p>
          <a:p>
            <a:pPr marL="914400" lvl="1" indent="-300000">
              <a:spcAft>
                <a:spcPts val="300"/>
              </a:spcAft>
              <a:buChar char="○"/>
            </a:pPr>
            <a:r>
              <a:rPr sz="2000" b="0" dirty="0">
                <a:solidFill>
                  <a:srgbClr val="4B5563"/>
                </a:solidFill>
                <a:latin typeface="Calibri"/>
              </a:rPr>
              <a:t>Factory automation and industrial safety interlocks operate on strict timing budgets (&lt;20 </a:t>
            </a:r>
            <a:r>
              <a:rPr sz="2000" b="0" dirty="0" err="1">
                <a:solidFill>
                  <a:srgbClr val="4B5563"/>
                </a:solidFill>
                <a:latin typeface="Calibri"/>
              </a:rPr>
              <a:t>ms</a:t>
            </a:r>
            <a:r>
              <a:rPr sz="2000" b="0" dirty="0">
                <a:solidFill>
                  <a:srgbClr val="4B5563"/>
                </a:solidFill>
                <a:latin typeface="Calibri"/>
              </a:rPr>
              <a:t>).</a:t>
            </a:r>
          </a:p>
          <a:p>
            <a:pPr marL="914400" lvl="1" indent="-300000">
              <a:spcAft>
                <a:spcPts val="700"/>
              </a:spcAft>
              <a:buChar char="○"/>
            </a:pPr>
            <a:r>
              <a:rPr sz="2000" b="0" dirty="0" err="1">
                <a:solidFill>
                  <a:srgbClr val="4B5563"/>
                </a:solidFill>
                <a:latin typeface="Calibri"/>
              </a:rPr>
              <a:t>EdgeShield</a:t>
            </a:r>
            <a:r>
              <a:rPr sz="2000" b="0" dirty="0">
                <a:solidFill>
                  <a:srgbClr val="4B5563"/>
                </a:solidFill>
                <a:latin typeface="Calibri"/>
              </a:rPr>
              <a:t> achieves 11.71 </a:t>
            </a:r>
            <a:r>
              <a:rPr sz="2000" b="0" dirty="0" err="1">
                <a:solidFill>
                  <a:srgbClr val="4B5563"/>
                </a:solidFill>
                <a:latin typeface="Calibri"/>
              </a:rPr>
              <a:t>ms</a:t>
            </a:r>
            <a:r>
              <a:rPr sz="2000" b="0" dirty="0">
                <a:solidFill>
                  <a:srgbClr val="4B5563"/>
                </a:solidFill>
                <a:latin typeface="Calibri"/>
              </a:rPr>
              <a:t> latency with INT8 quantization (&gt;85 windows/s throughput), providing abundant headroom for busy industrial telemetry buffers.</a:t>
            </a:r>
          </a:p>
          <a:p>
            <a:pPr marL="457200" indent="-300000">
              <a:spcAft>
                <a:spcPts val="200"/>
              </a:spcAft>
              <a:buChar char="•"/>
            </a:pPr>
            <a:r>
              <a:rPr sz="2400" b="1" dirty="0">
                <a:solidFill>
                  <a:srgbClr val="231F20"/>
                </a:solidFill>
                <a:latin typeface="Calibri"/>
              </a:rPr>
              <a:t>Overcoming Domain Tokenization Bottlenecks</a:t>
            </a:r>
          </a:p>
          <a:p>
            <a:pPr marL="914400" lvl="1" indent="-300000">
              <a:spcAft>
                <a:spcPts val="300"/>
              </a:spcAft>
              <a:buChar char="○"/>
            </a:pPr>
            <a:r>
              <a:rPr sz="2000" b="0" dirty="0">
                <a:solidFill>
                  <a:srgbClr val="4B5563"/>
                </a:solidFill>
                <a:latin typeface="Calibri"/>
              </a:rPr>
              <a:t>General LLM tokenizers fragment cybersecurity artifacts (GUIDs, SIDs, NTLM hashes) into meaningless </a:t>
            </a:r>
            <a:r>
              <a:rPr sz="2000" b="0" dirty="0" err="1">
                <a:solidFill>
                  <a:srgbClr val="4B5563"/>
                </a:solidFill>
                <a:latin typeface="Calibri"/>
              </a:rPr>
              <a:t>subwords</a:t>
            </a:r>
            <a:r>
              <a:rPr sz="2000" b="0" dirty="0">
                <a:solidFill>
                  <a:srgbClr val="4B5563"/>
                </a:solidFill>
                <a:latin typeface="Calibri"/>
              </a:rPr>
              <a:t>.</a:t>
            </a:r>
          </a:p>
          <a:p>
            <a:pPr marL="914400" lvl="1" indent="-300000">
              <a:spcAft>
                <a:spcPts val="700"/>
              </a:spcAft>
              <a:buChar char="○"/>
            </a:pPr>
            <a:r>
              <a:rPr sz="2000" b="0" dirty="0" err="1">
                <a:solidFill>
                  <a:srgbClr val="4B5563"/>
                </a:solidFill>
                <a:latin typeface="Calibri"/>
              </a:rPr>
              <a:t>EdgeShield</a:t>
            </a:r>
            <a:r>
              <a:rPr sz="2000" b="0" dirty="0">
                <a:solidFill>
                  <a:srgbClr val="4B5563"/>
                </a:solidFill>
                <a:latin typeface="Calibri"/>
              </a:rPr>
              <a:t> adapts tokenization to retain atomic security entities, eliminating representation drift and boosting classification fidelity.</a:t>
            </a:r>
          </a:p>
        </p:txBody>
      </p:sp>
      <p:sp>
        <p:nvSpPr>
          <p:cNvPr id="199" name="Google Shape;199;g3b824e2dc5f_0_38"/>
          <p:cNvSpPr/>
          <p:nvPr/>
        </p:nvSpPr>
        <p:spPr>
          <a:xfrm>
            <a:off x="16322124" y="7754894"/>
            <a:ext cx="4118443" cy="3654183"/>
          </a:xfrm>
          <a:custGeom>
            <a:avLst/>
            <a:gdLst/>
            <a:ahLst/>
            <a:cxnLst/>
            <a:rect l="l" t="t" r="r" b="b"/>
            <a:pathLst>
              <a:path w="4118443" h="3654183" extrusionOk="0">
                <a:moveTo>
                  <a:pt x="0" y="0"/>
                </a:moveTo>
                <a:lnTo>
                  <a:pt x="4118443" y="0"/>
                </a:lnTo>
                <a:lnTo>
                  <a:pt x="4118443" y="3654183"/>
                </a:lnTo>
                <a:lnTo>
                  <a:pt x="0" y="365418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g3b824e2dc5f_0_38"/>
          <p:cNvSpPr/>
          <p:nvPr/>
        </p:nvSpPr>
        <p:spPr>
          <a:xfrm rot="10800000">
            <a:off x="-2059222" y="-789427"/>
            <a:ext cx="4118443" cy="3654183"/>
          </a:xfrm>
          <a:custGeom>
            <a:avLst/>
            <a:gdLst/>
            <a:ahLst/>
            <a:cxnLst/>
            <a:rect l="l" t="t" r="r" b="b"/>
            <a:pathLst>
              <a:path w="4118443" h="3654183" extrusionOk="0">
                <a:moveTo>
                  <a:pt x="4118444" y="3654182"/>
                </a:moveTo>
                <a:lnTo>
                  <a:pt x="0" y="3654182"/>
                </a:lnTo>
                <a:lnTo>
                  <a:pt x="0" y="0"/>
                </a:lnTo>
                <a:lnTo>
                  <a:pt x="4118444" y="0"/>
                </a:lnTo>
                <a:lnTo>
                  <a:pt x="4118444" y="3654182"/>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205"/>
        <p:cNvGrpSpPr/>
        <p:nvPr/>
      </p:nvGrpSpPr>
      <p:grpSpPr>
        <a:xfrm>
          <a:off x="0" y="0"/>
          <a:ext cx="0" cy="0"/>
          <a:chOff x="0" y="0"/>
          <a:chExt cx="0" cy="0"/>
        </a:xfrm>
      </p:grpSpPr>
      <p:sp>
        <p:nvSpPr>
          <p:cNvPr id="206" name="Google Shape;206;g3b824e2dc5f_0_81"/>
          <p:cNvSpPr txBox="1"/>
          <p:nvPr/>
        </p:nvSpPr>
        <p:spPr>
          <a:xfrm>
            <a:off x="1998300" y="581800"/>
            <a:ext cx="15940200" cy="3336600"/>
          </a:xfrm>
          <a:prstGeom prst="rect">
            <a:avLst/>
          </a:prstGeom>
          <a:noFill/>
          <a:ln>
            <a:noFill/>
          </a:ln>
        </p:spPr>
        <p:txBody>
          <a:bodyPr spcFirstLastPara="1" wrap="square" lIns="0" tIns="0" rIns="0" bIns="0" anchor="t" anchorCtr="0">
            <a:spAutoFit/>
          </a:bodyPr>
          <a:lstStyle/>
          <a:p>
            <a:pPr marL="0" lvl="0" indent="0" algn="l" rtl="0">
              <a:lnSpc>
                <a:spcPct val="138005"/>
              </a:lnSpc>
              <a:spcBef>
                <a:spcPts val="0"/>
              </a:spcBef>
              <a:spcAft>
                <a:spcPts val="0"/>
              </a:spcAft>
              <a:buClr>
                <a:schemeClr val="dk1"/>
              </a:buClr>
              <a:buSzPts val="1100"/>
              <a:buFont typeface="Arial"/>
              <a:buNone/>
            </a:pPr>
            <a:r>
              <a:rPr sz="4400" b="1">
                <a:solidFill>
                  <a:srgbClr val="231F20"/>
                </a:solidFill>
                <a:latin typeface="Arial Rounded"/>
              </a:rPr>
              <a:t>Current Research State: Publication Milestone</a:t>
            </a:r>
            <a:endParaRPr sz="5765" b="1">
              <a:solidFill>
                <a:srgbClr val="231F20"/>
              </a:solidFill>
              <a:latin typeface="Arial Rounded"/>
              <a:ea typeface="Arial Rounded"/>
              <a:cs typeface="Arial Rounded"/>
              <a:sym typeface="Arial Rounded"/>
            </a:endParaRPr>
          </a:p>
          <a:p>
            <a:pPr marL="0" lvl="0" indent="0" algn="l" rtl="0">
              <a:lnSpc>
                <a:spcPct val="138005"/>
              </a:lnSpc>
              <a:spcBef>
                <a:spcPts val="0"/>
              </a:spcBef>
              <a:spcAft>
                <a:spcPts val="0"/>
              </a:spcAft>
              <a:buClr>
                <a:schemeClr val="dk1"/>
              </a:buClr>
              <a:buSzPts val="1100"/>
              <a:buFont typeface="Arial"/>
              <a:buNone/>
            </a:pPr>
            <a:endParaRPr sz="5765" b="1">
              <a:solidFill>
                <a:srgbClr val="231F20"/>
              </a:solidFill>
              <a:latin typeface="Arial Rounded"/>
              <a:ea typeface="Arial Rounded"/>
              <a:cs typeface="Arial Rounded"/>
              <a:sym typeface="Arial Rounded"/>
            </a:endParaRPr>
          </a:p>
          <a:p>
            <a:pPr marL="0" marR="0" lvl="0" indent="0" algn="l" rtl="0">
              <a:lnSpc>
                <a:spcPct val="138005"/>
              </a:lnSpc>
              <a:spcBef>
                <a:spcPts val="0"/>
              </a:spcBef>
              <a:spcAft>
                <a:spcPts val="0"/>
              </a:spcAft>
              <a:buClr>
                <a:srgbClr val="000000"/>
              </a:buClr>
              <a:buSzPts val="5765"/>
              <a:buFont typeface="Arial"/>
              <a:buNone/>
            </a:pPr>
            <a:endParaRPr sz="5765" b="1">
              <a:solidFill>
                <a:srgbClr val="231F20"/>
              </a:solidFill>
              <a:latin typeface="Arial Rounded"/>
              <a:ea typeface="Arial Rounded"/>
              <a:cs typeface="Arial Rounded"/>
              <a:sym typeface="Arial Rounded"/>
            </a:endParaRPr>
          </a:p>
        </p:txBody>
      </p:sp>
      <p:sp>
        <p:nvSpPr>
          <p:cNvPr id="207" name="Google Shape;207;g3b824e2dc5f_0_81"/>
          <p:cNvSpPr txBox="1"/>
          <p:nvPr/>
        </p:nvSpPr>
        <p:spPr>
          <a:xfrm>
            <a:off x="1998300" y="2000000"/>
            <a:ext cx="15394200" cy="2092881"/>
          </a:xfrm>
          <a:prstGeom prst="rect">
            <a:avLst/>
          </a:prstGeom>
          <a:noFill/>
          <a:ln>
            <a:noFill/>
          </a:ln>
        </p:spPr>
        <p:txBody>
          <a:bodyPr spcFirstLastPara="1" wrap="square" lIns="0" tIns="0" rIns="0" bIns="0" anchor="t" anchorCtr="0">
            <a:spAutoFit/>
          </a:bodyPr>
          <a:lstStyle/>
          <a:p>
            <a:pPr marL="457200" indent="-300000" algn="l" rtl="0">
              <a:spcAft>
                <a:spcPts val="300"/>
              </a:spcAft>
              <a:buChar char="•"/>
            </a:pPr>
            <a:r>
              <a:rPr sz="1800" b="0" dirty="0">
                <a:solidFill>
                  <a:srgbClr val="231F20"/>
                </a:solidFill>
                <a:latin typeface="Calibri"/>
              </a:rPr>
              <a:t>Accepted &amp; Scheduled IEEE Conference Presentation: Paper peer-reviewed and ACCEPTED at the 5th IEEE Technology &amp; Engineering Management Conference - Asia Pacific (TEMSCON-ASPAC 2026).</a:t>
            </a:r>
            <a:endParaRPr sz="4400" dirty="0">
              <a:solidFill>
                <a:schemeClr val="dk1"/>
              </a:solidFill>
            </a:endParaRPr>
          </a:p>
          <a:p>
            <a:pPr marL="457200" indent="-300000">
              <a:spcAft>
                <a:spcPts val="300"/>
              </a:spcAft>
              <a:buChar char="•"/>
            </a:pPr>
            <a:r>
              <a:rPr sz="1800" b="0" dirty="0">
                <a:solidFill>
                  <a:srgbClr val="231F20"/>
                </a:solidFill>
                <a:latin typeface="Calibri"/>
              </a:rPr>
              <a:t>Conference Schedule &amp; Venue: Dates: 16 - 17 October 2026 | Venue: </a:t>
            </a:r>
            <a:r>
              <a:rPr sz="1800" b="0" dirty="0" err="1">
                <a:solidFill>
                  <a:srgbClr val="231F20"/>
                </a:solidFill>
                <a:latin typeface="Calibri"/>
              </a:rPr>
              <a:t>Marwadi</a:t>
            </a:r>
            <a:r>
              <a:rPr sz="1800" b="0" dirty="0">
                <a:solidFill>
                  <a:srgbClr val="231F20"/>
                </a:solidFill>
                <a:latin typeface="Calibri"/>
              </a:rPr>
              <a:t> University, Rajkot, Gujarat, India | IEEE Conference Record #69489.</a:t>
            </a:r>
          </a:p>
          <a:p>
            <a:pPr marL="457200" indent="-300000">
              <a:spcAft>
                <a:spcPts val="300"/>
              </a:spcAft>
              <a:buChar char="•"/>
            </a:pPr>
            <a:r>
              <a:rPr sz="1800" b="0" dirty="0">
                <a:solidFill>
                  <a:srgbClr val="231F20"/>
                </a:solidFill>
                <a:latin typeface="Calibri"/>
              </a:rPr>
              <a:t>Accepted Paper Title &amp; Authors: '</a:t>
            </a:r>
            <a:r>
              <a:rPr sz="1800" b="0" dirty="0" err="1">
                <a:solidFill>
                  <a:srgbClr val="231F20"/>
                </a:solidFill>
                <a:latin typeface="Calibri"/>
              </a:rPr>
              <a:t>EdgeShield</a:t>
            </a:r>
            <a:r>
              <a:rPr sz="1800" b="0" dirty="0">
                <a:solidFill>
                  <a:srgbClr val="231F20"/>
                </a:solidFill>
                <a:latin typeface="Calibri"/>
              </a:rPr>
              <a:t>: A Small Language Model Framework for Real-Time Detection of Lateral Movement and Ransomware Attacks' (Paper ID: 1571282183) - Gauravkumar Raval &amp; Dr. </a:t>
            </a:r>
            <a:r>
              <a:rPr sz="1800" b="0" dirty="0" err="1">
                <a:solidFill>
                  <a:srgbClr val="231F20"/>
                </a:solidFill>
                <a:latin typeface="Calibri"/>
              </a:rPr>
              <a:t>Tejaskumar</a:t>
            </a:r>
            <a:r>
              <a:rPr sz="1800" b="0" dirty="0">
                <a:solidFill>
                  <a:srgbClr val="231F20"/>
                </a:solidFill>
                <a:latin typeface="Calibri"/>
              </a:rPr>
              <a:t> Bhatt.</a:t>
            </a:r>
          </a:p>
          <a:p>
            <a:pPr marL="457200" indent="-300000">
              <a:spcAft>
                <a:spcPts val="300"/>
              </a:spcAft>
              <a:buChar char="•"/>
            </a:pPr>
            <a:r>
              <a:rPr sz="1800" b="0" dirty="0">
                <a:solidFill>
                  <a:srgbClr val="231F20"/>
                </a:solidFill>
                <a:latin typeface="Calibri"/>
              </a:rPr>
              <a:t>Current Manuscript in Progress: Extended journal version being prepared </a:t>
            </a:r>
            <a:r>
              <a:rPr lang="en-US" sz="1800" b="0" dirty="0">
                <a:solidFill>
                  <a:srgbClr val="231F20"/>
                </a:solidFill>
                <a:latin typeface="Calibri"/>
              </a:rPr>
              <a:t>journal</a:t>
            </a:r>
            <a:r>
              <a:rPr sz="1800" b="0" dirty="0">
                <a:solidFill>
                  <a:srgbClr val="231F20"/>
                </a:solidFill>
                <a:latin typeface="Calibri"/>
              </a:rPr>
              <a:t>: '</a:t>
            </a:r>
            <a:r>
              <a:rPr sz="1800" b="0" dirty="0" err="1">
                <a:solidFill>
                  <a:srgbClr val="231F20"/>
                </a:solidFill>
                <a:latin typeface="Calibri"/>
              </a:rPr>
              <a:t>EdgeShield</a:t>
            </a:r>
            <a:r>
              <a:rPr sz="1800" b="0" dirty="0">
                <a:solidFill>
                  <a:srgbClr val="231F20"/>
                </a:solidFill>
                <a:latin typeface="Calibri"/>
              </a:rPr>
              <a:t>: Dual-Tier Small Language Model Framework for High-Throughput Lateral Movement and Pre-Encryption Ransomware Interception'.</a:t>
            </a:r>
          </a:p>
        </p:txBody>
      </p:sp>
      <p:sp>
        <p:nvSpPr>
          <p:cNvPr id="208" name="Google Shape;208;g3b824e2dc5f_0_81"/>
          <p:cNvSpPr/>
          <p:nvPr/>
        </p:nvSpPr>
        <p:spPr>
          <a:xfrm>
            <a:off x="16322124" y="7754894"/>
            <a:ext cx="4118443" cy="3654183"/>
          </a:xfrm>
          <a:custGeom>
            <a:avLst/>
            <a:gdLst/>
            <a:ahLst/>
            <a:cxnLst/>
            <a:rect l="l" t="t" r="r" b="b"/>
            <a:pathLst>
              <a:path w="4118443" h="3654183" extrusionOk="0">
                <a:moveTo>
                  <a:pt x="0" y="0"/>
                </a:moveTo>
                <a:lnTo>
                  <a:pt x="4118443" y="0"/>
                </a:lnTo>
                <a:lnTo>
                  <a:pt x="4118443" y="3654183"/>
                </a:lnTo>
                <a:lnTo>
                  <a:pt x="0" y="365418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g3b824e2dc5f_0_81"/>
          <p:cNvSpPr/>
          <p:nvPr/>
        </p:nvSpPr>
        <p:spPr>
          <a:xfrm rot="10800000">
            <a:off x="-2059222" y="-789427"/>
            <a:ext cx="4118443" cy="3654183"/>
          </a:xfrm>
          <a:custGeom>
            <a:avLst/>
            <a:gdLst/>
            <a:ahLst/>
            <a:cxnLst/>
            <a:rect l="l" t="t" r="r" b="b"/>
            <a:pathLst>
              <a:path w="4118443" h="3654183" extrusionOk="0">
                <a:moveTo>
                  <a:pt x="4118444" y="3654182"/>
                </a:moveTo>
                <a:lnTo>
                  <a:pt x="0" y="3654182"/>
                </a:lnTo>
                <a:lnTo>
                  <a:pt x="0" y="0"/>
                </a:lnTo>
                <a:lnTo>
                  <a:pt x="4118444" y="0"/>
                </a:lnTo>
                <a:lnTo>
                  <a:pt x="4118444" y="3654182"/>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0" name="Google Shape;210;g3b824e2dc5f_0_81" title="Screenshot 2026-01-16 at 1.44.52 AM.png"/>
          <p:cNvPicPr preferRelativeResize="0"/>
          <p:nvPr/>
        </p:nvPicPr>
        <p:blipFill>
          <a:blip r:embed="rId4">
            <a:alphaModFix/>
          </a:blip>
          <a:stretch>
            <a:fillRect/>
          </a:stretch>
        </p:blipFill>
        <p:spPr>
          <a:xfrm>
            <a:off x="529025" y="5358475"/>
            <a:ext cx="7042002" cy="3756300"/>
          </a:xfrm>
          <a:prstGeom prst="rect">
            <a:avLst/>
          </a:prstGeom>
          <a:noFill/>
          <a:ln>
            <a:noFill/>
          </a:ln>
        </p:spPr>
      </p:pic>
      <p:pic>
        <p:nvPicPr>
          <p:cNvPr id="211" name="Google Shape;211;g3b824e2dc5f_0_81" title="Screenshot 2026-01-16 at 1.46.11 AM.png"/>
          <p:cNvPicPr preferRelativeResize="0"/>
          <p:nvPr/>
        </p:nvPicPr>
        <p:blipFill>
          <a:blip r:embed="rId5">
            <a:alphaModFix/>
          </a:blip>
          <a:stretch>
            <a:fillRect/>
          </a:stretch>
        </p:blipFill>
        <p:spPr>
          <a:xfrm>
            <a:off x="7848744" y="4562123"/>
            <a:ext cx="9934177" cy="42879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EA2D1-5619-E01D-CB8E-76E9E052E76D}"/>
            </a:ext>
          </a:extLst>
        </p:cNvPr>
        <p:cNvGrpSpPr/>
        <p:nvPr/>
      </p:nvGrpSpPr>
      <p:grpSpPr>
        <a:xfrm>
          <a:off x="0" y="0"/>
          <a:ext cx="0" cy="0"/>
          <a:chOff x="0" y="0"/>
          <a:chExt cx="0" cy="0"/>
        </a:xfrm>
      </p:grpSpPr>
      <p:pic>
        <p:nvPicPr>
          <p:cNvPr id="191" name="Picture 190" descr="image.png">
            <a:extLst>
              <a:ext uri="{FF2B5EF4-FFF2-40B4-BE49-F238E27FC236}">
                <a16:creationId xmlns:a16="http://schemas.microsoft.com/office/drawing/2014/main" id="{95F28E3F-1815-3DD8-1E0F-42B98C28FE6A}"/>
              </a:ext>
            </a:extLst>
          </p:cNvPr>
          <p:cNvPicPr>
            <a:picLocks noChangeAspect="1"/>
          </p:cNvPicPr>
          <p:nvPr/>
        </p:nvPicPr>
        <p:blipFill>
          <a:blip r:embed="rId2"/>
          <a:stretch>
            <a:fillRect/>
          </a:stretch>
        </p:blipFill>
        <p:spPr>
          <a:xfrm>
            <a:off x="16322124" y="7754894"/>
            <a:ext cx="4118443" cy="3654183"/>
          </a:xfrm>
          <a:prstGeom prst="rect">
            <a:avLst/>
          </a:prstGeom>
        </p:spPr>
      </p:pic>
      <p:pic>
        <p:nvPicPr>
          <p:cNvPr id="190" name="Picture 189" descr="image.png">
            <a:extLst>
              <a:ext uri="{FF2B5EF4-FFF2-40B4-BE49-F238E27FC236}">
                <a16:creationId xmlns:a16="http://schemas.microsoft.com/office/drawing/2014/main" id="{F0EBCF27-DA36-93F6-6D53-0D47B431BAB6}"/>
              </a:ext>
            </a:extLst>
          </p:cNvPr>
          <p:cNvPicPr>
            <a:picLocks noChangeAspect="1"/>
          </p:cNvPicPr>
          <p:nvPr/>
        </p:nvPicPr>
        <p:blipFill>
          <a:blip r:embed="rId2"/>
          <a:stretch>
            <a:fillRect/>
          </a:stretch>
        </p:blipFill>
        <p:spPr>
          <a:xfrm rot="10800000">
            <a:off x="-2059222" y="-789427"/>
            <a:ext cx="4118443" cy="3654183"/>
          </a:xfrm>
          <a:prstGeom prst="rect">
            <a:avLst/>
          </a:prstGeom>
        </p:spPr>
      </p:pic>
      <p:sp>
        <p:nvSpPr>
          <p:cNvPr id="188" name="Google Shape;188;g3b824e2dc5f_0_25">
            <a:extLst>
              <a:ext uri="{FF2B5EF4-FFF2-40B4-BE49-F238E27FC236}">
                <a16:creationId xmlns:a16="http://schemas.microsoft.com/office/drawing/2014/main" id="{D96E1A87-EB76-96C5-2312-C7C781C7D65E}"/>
              </a:ext>
            </a:extLst>
          </p:cNvPr>
          <p:cNvSpPr txBox="1"/>
          <p:nvPr/>
        </p:nvSpPr>
        <p:spPr>
          <a:xfrm>
            <a:off x="1998300" y="581800"/>
            <a:ext cx="15940200" cy="1224310"/>
          </a:xfrm>
          <a:prstGeom prst="rect">
            <a:avLst/>
          </a:prstGeom>
          <a:noFill/>
          <a:ln>
            <a:noFill/>
          </a:ln>
        </p:spPr>
        <p:txBody>
          <a:bodyPr spcFirstLastPara="1" wrap="square" lIns="0" tIns="0" rIns="0" bIns="0" anchor="t" anchorCtr="0">
            <a:spAutoFit/>
          </a:bodyPr>
          <a:lstStyle/>
          <a:p>
            <a:pPr marL="0" marR="0" lvl="0" indent="0" algn="l" rtl="0">
              <a:lnSpc>
                <a:spcPct val="138005"/>
              </a:lnSpc>
              <a:spcBef>
                <a:spcPts val="0"/>
              </a:spcBef>
              <a:spcAft>
                <a:spcPts val="0"/>
              </a:spcAft>
              <a:buClr>
                <a:srgbClr val="000000"/>
              </a:buClr>
              <a:buSzPts val="5765"/>
              <a:buFont typeface="Arial"/>
              <a:buNone/>
            </a:pPr>
            <a:r>
              <a:rPr lang="en-US" sz="5765" b="1" dirty="0" err="1">
                <a:solidFill>
                  <a:srgbClr val="231F20"/>
                </a:solidFill>
                <a:latin typeface="Arial Rounded"/>
                <a:ea typeface="Arial Rounded"/>
                <a:cs typeface="Arial Rounded"/>
                <a:sym typeface="Arial Rounded"/>
              </a:rPr>
              <a:t>EdgeShiled</a:t>
            </a:r>
            <a:r>
              <a:rPr lang="en-US" sz="5765" b="1" dirty="0">
                <a:solidFill>
                  <a:srgbClr val="231F20"/>
                </a:solidFill>
                <a:latin typeface="Arial Rounded"/>
                <a:ea typeface="Arial Rounded"/>
                <a:cs typeface="Arial Rounded"/>
                <a:sym typeface="Arial Rounded"/>
              </a:rPr>
              <a:t> Architecture</a:t>
            </a:r>
            <a:endParaRPr sz="5765" b="1" dirty="0">
              <a:solidFill>
                <a:srgbClr val="231F20"/>
              </a:solidFill>
              <a:latin typeface="Arial Rounded"/>
              <a:ea typeface="Arial Rounded"/>
              <a:cs typeface="Arial Rounded"/>
              <a:sym typeface="Arial Rounded"/>
            </a:endParaRPr>
          </a:p>
        </p:txBody>
      </p:sp>
      <p:pic>
        <p:nvPicPr>
          <p:cNvPr id="3" name="Graphic 2">
            <a:extLst>
              <a:ext uri="{FF2B5EF4-FFF2-40B4-BE49-F238E27FC236}">
                <a16:creationId xmlns:a16="http://schemas.microsoft.com/office/drawing/2014/main" id="{8BEC27FF-7A96-2668-3AA9-1D8BB1B68B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07025" y="1670022"/>
            <a:ext cx="14146304" cy="7854978"/>
          </a:xfrm>
          <a:prstGeom prst="rect">
            <a:avLst/>
          </a:prstGeom>
        </p:spPr>
      </p:pic>
    </p:spTree>
    <p:extLst>
      <p:ext uri="{BB962C8B-B14F-4D97-AF65-F5344CB8AC3E}">
        <p14:creationId xmlns:p14="http://schemas.microsoft.com/office/powerpoint/2010/main" val="2948762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 name="Picture 194" descr="image.png"/>
          <p:cNvPicPr>
            <a:picLocks noChangeAspect="1"/>
          </p:cNvPicPr>
          <p:nvPr/>
        </p:nvPicPr>
        <p:blipFill>
          <a:blip r:embed="rId3"/>
          <a:stretch>
            <a:fillRect/>
          </a:stretch>
        </p:blipFill>
        <p:spPr>
          <a:xfrm>
            <a:off x="16322124" y="7754894"/>
            <a:ext cx="4118443" cy="3654183"/>
          </a:xfrm>
          <a:prstGeom prst="rect">
            <a:avLst/>
          </a:prstGeom>
        </p:spPr>
      </p:pic>
      <p:pic>
        <p:nvPicPr>
          <p:cNvPr id="194" name="Picture 193" descr="image.png"/>
          <p:cNvPicPr>
            <a:picLocks noChangeAspect="1"/>
          </p:cNvPicPr>
          <p:nvPr/>
        </p:nvPicPr>
        <p:blipFill>
          <a:blip r:embed="rId3"/>
          <a:stretch>
            <a:fillRect/>
          </a:stretch>
        </p:blipFill>
        <p:spPr>
          <a:xfrm rot="10800000">
            <a:off x="-2059222" y="-789427"/>
            <a:ext cx="4118443" cy="3654183"/>
          </a:xfrm>
          <a:prstGeom prst="rect">
            <a:avLst/>
          </a:prstGeom>
        </p:spPr>
      </p:pic>
      <p:sp>
        <p:nvSpPr>
          <p:cNvPr id="188" name="Google Shape;188;g3b824e2dc5f_0_25"/>
          <p:cNvSpPr txBox="1"/>
          <p:nvPr/>
        </p:nvSpPr>
        <p:spPr>
          <a:xfrm>
            <a:off x="1998300" y="581800"/>
            <a:ext cx="15940200" cy="3336600"/>
          </a:xfrm>
          <a:prstGeom prst="rect">
            <a:avLst/>
          </a:prstGeom>
          <a:noFill/>
          <a:ln>
            <a:noFill/>
          </a:ln>
        </p:spPr>
        <p:txBody>
          <a:bodyPr spcFirstLastPara="1" wrap="square" lIns="0" tIns="0" rIns="0" bIns="0" anchor="t" anchorCtr="0">
            <a:spAutoFit/>
          </a:bodyPr>
          <a:lstStyle/>
          <a:p>
            <a:pPr marL="0" lvl="0" indent="0" algn="l" rtl="0">
              <a:lnSpc>
                <a:spcPct val="138005"/>
              </a:lnSpc>
              <a:spcBef>
                <a:spcPts val="0"/>
              </a:spcBef>
              <a:spcAft>
                <a:spcPts val="0"/>
              </a:spcAft>
              <a:buClr>
                <a:schemeClr val="dk1"/>
              </a:buClr>
              <a:buSzPts val="1100"/>
              <a:buFont typeface="Arial"/>
              <a:buNone/>
            </a:pPr>
            <a:r>
              <a:rPr sz="4400" b="1">
                <a:solidFill>
                  <a:srgbClr val="231F20"/>
                </a:solidFill>
                <a:latin typeface="Arial Rounded"/>
              </a:rPr>
              <a:t>Empirical Results: Detection Performance</a:t>
            </a:r>
            <a:endParaRPr sz="5765" b="1">
              <a:solidFill>
                <a:srgbClr val="231F20"/>
              </a:solidFill>
              <a:latin typeface="Arial Rounded"/>
              <a:ea typeface="Arial Rounded"/>
              <a:cs typeface="Arial Rounded"/>
              <a:sym typeface="Arial Rounded"/>
            </a:endParaRPr>
          </a:p>
          <a:p>
            <a:pPr marL="0" lvl="0" indent="0" algn="l" rtl="0">
              <a:lnSpc>
                <a:spcPct val="138005"/>
              </a:lnSpc>
              <a:spcBef>
                <a:spcPts val="0"/>
              </a:spcBef>
              <a:spcAft>
                <a:spcPts val="0"/>
              </a:spcAft>
              <a:buClr>
                <a:schemeClr val="dk1"/>
              </a:buClr>
              <a:buSzPts val="1100"/>
              <a:buFont typeface="Arial"/>
              <a:buNone/>
            </a:pPr>
            <a:endParaRPr sz="5765" b="1">
              <a:solidFill>
                <a:srgbClr val="231F20"/>
              </a:solidFill>
              <a:latin typeface="Arial Rounded"/>
              <a:ea typeface="Arial Rounded"/>
              <a:cs typeface="Arial Rounded"/>
              <a:sym typeface="Arial Rounded"/>
            </a:endParaRPr>
          </a:p>
          <a:p>
            <a:pPr marL="0" marR="0" lvl="0" indent="0" algn="l" rtl="0">
              <a:lnSpc>
                <a:spcPct val="138005"/>
              </a:lnSpc>
              <a:spcBef>
                <a:spcPts val="0"/>
              </a:spcBef>
              <a:spcAft>
                <a:spcPts val="0"/>
              </a:spcAft>
              <a:buClr>
                <a:srgbClr val="000000"/>
              </a:buClr>
              <a:buSzPts val="5765"/>
              <a:buFont typeface="Arial"/>
              <a:buNone/>
            </a:pPr>
            <a:endParaRPr sz="5765" b="1">
              <a:solidFill>
                <a:srgbClr val="231F20"/>
              </a:solidFill>
              <a:latin typeface="Arial Rounded"/>
              <a:ea typeface="Arial Rounded"/>
              <a:cs typeface="Arial Rounded"/>
              <a:sym typeface="Arial Rounded"/>
            </a:endParaRPr>
          </a:p>
        </p:txBody>
      </p:sp>
      <p:graphicFrame>
        <p:nvGraphicFramePr>
          <p:cNvPr id="192" name="Table 191"/>
          <p:cNvGraphicFramePr>
            <a:graphicFrameLocks noGrp="1"/>
          </p:cNvGraphicFramePr>
          <p:nvPr>
            <p:extLst>
              <p:ext uri="{D42A27DB-BD31-4B8C-83A1-F6EECF244321}">
                <p14:modId xmlns:p14="http://schemas.microsoft.com/office/powerpoint/2010/main" val="587086772"/>
              </p:ext>
            </p:extLst>
          </p:nvPr>
        </p:nvGraphicFramePr>
        <p:xfrm>
          <a:off x="731520" y="2011680"/>
          <a:ext cx="16916400" cy="1950720"/>
        </p:xfrm>
        <a:graphic>
          <a:graphicData uri="http://schemas.openxmlformats.org/drawingml/2006/table">
            <a:tbl>
              <a:tblPr firstRow="1" bandRow="1">
                <a:tableStyleId>{5C22544A-7EE6-4342-B048-85BDC9FD1C3A}</a:tableStyleId>
              </a:tblPr>
              <a:tblGrid>
                <a:gridCol w="2416628">
                  <a:extLst>
                    <a:ext uri="{9D8B030D-6E8A-4147-A177-3AD203B41FA5}">
                      <a16:colId xmlns:a16="http://schemas.microsoft.com/office/drawing/2014/main" val="20000"/>
                    </a:ext>
                  </a:extLst>
                </a:gridCol>
                <a:gridCol w="2416628">
                  <a:extLst>
                    <a:ext uri="{9D8B030D-6E8A-4147-A177-3AD203B41FA5}">
                      <a16:colId xmlns:a16="http://schemas.microsoft.com/office/drawing/2014/main" val="20001"/>
                    </a:ext>
                  </a:extLst>
                </a:gridCol>
                <a:gridCol w="2416628">
                  <a:extLst>
                    <a:ext uri="{9D8B030D-6E8A-4147-A177-3AD203B41FA5}">
                      <a16:colId xmlns:a16="http://schemas.microsoft.com/office/drawing/2014/main" val="20002"/>
                    </a:ext>
                  </a:extLst>
                </a:gridCol>
                <a:gridCol w="2416628">
                  <a:extLst>
                    <a:ext uri="{9D8B030D-6E8A-4147-A177-3AD203B41FA5}">
                      <a16:colId xmlns:a16="http://schemas.microsoft.com/office/drawing/2014/main" val="20003"/>
                    </a:ext>
                  </a:extLst>
                </a:gridCol>
                <a:gridCol w="2416628">
                  <a:extLst>
                    <a:ext uri="{9D8B030D-6E8A-4147-A177-3AD203B41FA5}">
                      <a16:colId xmlns:a16="http://schemas.microsoft.com/office/drawing/2014/main" val="20004"/>
                    </a:ext>
                  </a:extLst>
                </a:gridCol>
                <a:gridCol w="2416628">
                  <a:extLst>
                    <a:ext uri="{9D8B030D-6E8A-4147-A177-3AD203B41FA5}">
                      <a16:colId xmlns:a16="http://schemas.microsoft.com/office/drawing/2014/main" val="20005"/>
                    </a:ext>
                  </a:extLst>
                </a:gridCol>
                <a:gridCol w="2416632">
                  <a:extLst>
                    <a:ext uri="{9D8B030D-6E8A-4147-A177-3AD203B41FA5}">
                      <a16:colId xmlns:a16="http://schemas.microsoft.com/office/drawing/2014/main" val="20006"/>
                    </a:ext>
                  </a:extLst>
                </a:gridCol>
              </a:tblGrid>
              <a:tr h="548640">
                <a:tc>
                  <a:txBody>
                    <a:bodyPr/>
                    <a:lstStyle/>
                    <a:p>
                      <a:pPr>
                        <a:defRPr sz="1300" b="1">
                          <a:solidFill>
                            <a:srgbClr val="FFFFFF"/>
                          </a:solidFill>
                          <a:latin typeface="Calibri"/>
                        </a:defRPr>
                      </a:pPr>
                      <a:r>
                        <a:t>Stream</a:t>
                      </a:r>
                    </a:p>
                  </a:txBody>
                  <a:tcPr>
                    <a:solidFill>
                      <a:srgbClr val="1E293B"/>
                    </a:solidFill>
                  </a:tcPr>
                </a:tc>
                <a:tc>
                  <a:txBody>
                    <a:bodyPr/>
                    <a:lstStyle/>
                    <a:p>
                      <a:pPr>
                        <a:defRPr sz="1300" b="1">
                          <a:solidFill>
                            <a:srgbClr val="FFFFFF"/>
                          </a:solidFill>
                          <a:latin typeface="Calibri"/>
                        </a:defRPr>
                      </a:pPr>
                      <a:r>
                        <a:t>Test Windows</a:t>
                      </a:r>
                    </a:p>
                  </a:txBody>
                  <a:tcPr>
                    <a:solidFill>
                      <a:srgbClr val="1E293B"/>
                    </a:solidFill>
                  </a:tcPr>
                </a:tc>
                <a:tc>
                  <a:txBody>
                    <a:bodyPr/>
                    <a:lstStyle/>
                    <a:p>
                      <a:pPr>
                        <a:defRPr sz="1300" b="1">
                          <a:solidFill>
                            <a:srgbClr val="FFFFFF"/>
                          </a:solidFill>
                          <a:latin typeface="Calibri"/>
                        </a:defRPr>
                      </a:pPr>
                      <a:r>
                        <a:t>Accuracy</a:t>
                      </a:r>
                    </a:p>
                  </a:txBody>
                  <a:tcPr>
                    <a:solidFill>
                      <a:srgbClr val="1E293B"/>
                    </a:solidFill>
                  </a:tcPr>
                </a:tc>
                <a:tc>
                  <a:txBody>
                    <a:bodyPr/>
                    <a:lstStyle/>
                    <a:p>
                      <a:pPr>
                        <a:defRPr sz="1300" b="1">
                          <a:solidFill>
                            <a:srgbClr val="FFFFFF"/>
                          </a:solidFill>
                          <a:latin typeface="Calibri"/>
                        </a:defRPr>
                      </a:pPr>
                      <a:r>
                        <a:t>Macro F1</a:t>
                      </a:r>
                    </a:p>
                  </a:txBody>
                  <a:tcPr>
                    <a:solidFill>
                      <a:srgbClr val="1E293B"/>
                    </a:solidFill>
                  </a:tcPr>
                </a:tc>
                <a:tc>
                  <a:txBody>
                    <a:bodyPr/>
                    <a:lstStyle/>
                    <a:p>
                      <a:pPr>
                        <a:defRPr sz="1300" b="1">
                          <a:solidFill>
                            <a:srgbClr val="FFFFFF"/>
                          </a:solidFill>
                          <a:latin typeface="Calibri"/>
                        </a:defRPr>
                      </a:pPr>
                      <a:r>
                        <a:t>Precision</a:t>
                      </a:r>
                    </a:p>
                  </a:txBody>
                  <a:tcPr>
                    <a:solidFill>
                      <a:srgbClr val="1E293B"/>
                    </a:solidFill>
                  </a:tcPr>
                </a:tc>
                <a:tc>
                  <a:txBody>
                    <a:bodyPr/>
                    <a:lstStyle/>
                    <a:p>
                      <a:pPr>
                        <a:defRPr sz="1300" b="1">
                          <a:solidFill>
                            <a:srgbClr val="FFFFFF"/>
                          </a:solidFill>
                          <a:latin typeface="Calibri"/>
                        </a:defRPr>
                      </a:pPr>
                      <a:r>
                        <a:t>Recall</a:t>
                      </a:r>
                    </a:p>
                  </a:txBody>
                  <a:tcPr>
                    <a:solidFill>
                      <a:srgbClr val="1E293B"/>
                    </a:solidFill>
                  </a:tcPr>
                </a:tc>
                <a:tc>
                  <a:txBody>
                    <a:bodyPr/>
                    <a:lstStyle/>
                    <a:p>
                      <a:pPr>
                        <a:defRPr sz="1300" b="1">
                          <a:solidFill>
                            <a:srgbClr val="FFFFFF"/>
                          </a:solidFill>
                          <a:latin typeface="Calibri"/>
                        </a:defRPr>
                      </a:pPr>
                      <a:r>
                        <a:t>FPR</a:t>
                      </a:r>
                    </a:p>
                  </a:txBody>
                  <a:tcPr>
                    <a:solidFill>
                      <a:srgbClr val="1E293B"/>
                    </a:solidFill>
                  </a:tcPr>
                </a:tc>
                <a:extLst>
                  <a:ext uri="{0D108BD9-81ED-4DB2-BD59-A6C34878D82A}">
                    <a16:rowId xmlns:a16="http://schemas.microsoft.com/office/drawing/2014/main" val="10000"/>
                  </a:ext>
                </a:extLst>
              </a:tr>
              <a:tr h="548640">
                <a:tc>
                  <a:txBody>
                    <a:bodyPr/>
                    <a:lstStyle/>
                    <a:p>
                      <a:pPr>
                        <a:defRPr sz="1300" b="0">
                          <a:solidFill>
                            <a:srgbClr val="231F20"/>
                          </a:solidFill>
                          <a:latin typeface="Calibri"/>
                        </a:defRPr>
                      </a:pPr>
                      <a:r>
                        <a:rPr sz="2000"/>
                        <a:t>Stream A: LSA (Lateral Movement)</a:t>
                      </a:r>
                    </a:p>
                  </a:txBody>
                  <a:tcPr/>
                </a:tc>
                <a:tc>
                  <a:txBody>
                    <a:bodyPr/>
                    <a:lstStyle/>
                    <a:p>
                      <a:pPr>
                        <a:defRPr sz="1300" b="0">
                          <a:solidFill>
                            <a:srgbClr val="231F20"/>
                          </a:solidFill>
                          <a:latin typeface="Calibri"/>
                        </a:defRPr>
                      </a:pPr>
                      <a:r>
                        <a:rPr sz="2000"/>
                        <a:t>2,000</a:t>
                      </a:r>
                    </a:p>
                  </a:txBody>
                  <a:tcPr/>
                </a:tc>
                <a:tc>
                  <a:txBody>
                    <a:bodyPr/>
                    <a:lstStyle/>
                    <a:p>
                      <a:pPr>
                        <a:defRPr sz="1300" b="0">
                          <a:solidFill>
                            <a:srgbClr val="231F20"/>
                          </a:solidFill>
                          <a:latin typeface="Calibri"/>
                        </a:defRPr>
                      </a:pPr>
                      <a:r>
                        <a:rPr sz="2000"/>
                        <a:t>99.45%</a:t>
                      </a:r>
                    </a:p>
                  </a:txBody>
                  <a:tcPr/>
                </a:tc>
                <a:tc>
                  <a:txBody>
                    <a:bodyPr/>
                    <a:lstStyle/>
                    <a:p>
                      <a:pPr>
                        <a:defRPr sz="1300" b="1">
                          <a:solidFill>
                            <a:srgbClr val="231F20"/>
                          </a:solidFill>
                          <a:latin typeface="Calibri"/>
                        </a:defRPr>
                      </a:pPr>
                      <a:r>
                        <a:rPr sz="2000"/>
                        <a:t>99.38%</a:t>
                      </a:r>
                    </a:p>
                  </a:txBody>
                  <a:tcPr/>
                </a:tc>
                <a:tc>
                  <a:txBody>
                    <a:bodyPr/>
                    <a:lstStyle/>
                    <a:p>
                      <a:pPr>
                        <a:defRPr sz="1300" b="1">
                          <a:solidFill>
                            <a:srgbClr val="231F20"/>
                          </a:solidFill>
                          <a:latin typeface="Calibri"/>
                        </a:defRPr>
                      </a:pPr>
                      <a:r>
                        <a:rPr sz="2000"/>
                        <a:t>99.51%</a:t>
                      </a:r>
                    </a:p>
                  </a:txBody>
                  <a:tcPr/>
                </a:tc>
                <a:tc>
                  <a:txBody>
                    <a:bodyPr/>
                    <a:lstStyle/>
                    <a:p>
                      <a:pPr>
                        <a:defRPr sz="1300" b="1">
                          <a:solidFill>
                            <a:srgbClr val="231F20"/>
                          </a:solidFill>
                          <a:latin typeface="Calibri"/>
                        </a:defRPr>
                      </a:pPr>
                      <a:r>
                        <a:rPr sz="2000"/>
                        <a:t>99.25%</a:t>
                      </a:r>
                    </a:p>
                  </a:txBody>
                  <a:tcPr/>
                </a:tc>
                <a:tc>
                  <a:txBody>
                    <a:bodyPr/>
                    <a:lstStyle/>
                    <a:p>
                      <a:pPr>
                        <a:defRPr sz="1300" b="0">
                          <a:solidFill>
                            <a:srgbClr val="231F20"/>
                          </a:solidFill>
                          <a:latin typeface="Calibri"/>
                        </a:defRPr>
                      </a:pPr>
                      <a:r>
                        <a:rPr sz="2000"/>
                        <a:t>0.45%</a:t>
                      </a:r>
                    </a:p>
                  </a:txBody>
                  <a:tcPr/>
                </a:tc>
                <a:extLst>
                  <a:ext uri="{0D108BD9-81ED-4DB2-BD59-A6C34878D82A}">
                    <a16:rowId xmlns:a16="http://schemas.microsoft.com/office/drawing/2014/main" val="10001"/>
                  </a:ext>
                </a:extLst>
              </a:tr>
              <a:tr h="548640">
                <a:tc>
                  <a:txBody>
                    <a:bodyPr/>
                    <a:lstStyle/>
                    <a:p>
                      <a:pPr>
                        <a:defRPr sz="1300" b="0">
                          <a:solidFill>
                            <a:srgbClr val="231F20"/>
                          </a:solidFill>
                          <a:latin typeface="Calibri"/>
                        </a:defRPr>
                      </a:pPr>
                      <a:r>
                        <a:rPr sz="2000"/>
                        <a:t>Stream B: BPD (Pre-Encryption)</a:t>
                      </a:r>
                    </a:p>
                  </a:txBody>
                  <a:tcPr/>
                </a:tc>
                <a:tc>
                  <a:txBody>
                    <a:bodyPr/>
                    <a:lstStyle/>
                    <a:p>
                      <a:pPr>
                        <a:defRPr sz="1300" b="0">
                          <a:solidFill>
                            <a:srgbClr val="231F20"/>
                          </a:solidFill>
                          <a:latin typeface="Calibri"/>
                        </a:defRPr>
                      </a:pPr>
                      <a:r>
                        <a:rPr sz="2000"/>
                        <a:t>1,000</a:t>
                      </a:r>
                    </a:p>
                  </a:txBody>
                  <a:tcPr/>
                </a:tc>
                <a:tc>
                  <a:txBody>
                    <a:bodyPr/>
                    <a:lstStyle/>
                    <a:p>
                      <a:pPr>
                        <a:defRPr sz="1300" b="0">
                          <a:solidFill>
                            <a:srgbClr val="231F20"/>
                          </a:solidFill>
                          <a:latin typeface="Calibri"/>
                        </a:defRPr>
                      </a:pPr>
                      <a:r>
                        <a:rPr sz="2000"/>
                        <a:t>100.00%</a:t>
                      </a:r>
                    </a:p>
                  </a:txBody>
                  <a:tcPr/>
                </a:tc>
                <a:tc>
                  <a:txBody>
                    <a:bodyPr/>
                    <a:lstStyle/>
                    <a:p>
                      <a:pPr>
                        <a:defRPr sz="1300" b="1">
                          <a:solidFill>
                            <a:srgbClr val="231F20"/>
                          </a:solidFill>
                          <a:latin typeface="Calibri"/>
                        </a:defRPr>
                      </a:pPr>
                      <a:r>
                        <a:rPr sz="2000"/>
                        <a:t>100.00%</a:t>
                      </a:r>
                    </a:p>
                  </a:txBody>
                  <a:tcPr/>
                </a:tc>
                <a:tc>
                  <a:txBody>
                    <a:bodyPr/>
                    <a:lstStyle/>
                    <a:p>
                      <a:pPr>
                        <a:defRPr sz="1300" b="1">
                          <a:solidFill>
                            <a:srgbClr val="231F20"/>
                          </a:solidFill>
                          <a:latin typeface="Calibri"/>
                        </a:defRPr>
                      </a:pPr>
                      <a:r>
                        <a:rPr sz="2000"/>
                        <a:t>100.00%</a:t>
                      </a:r>
                    </a:p>
                  </a:txBody>
                  <a:tcPr/>
                </a:tc>
                <a:tc>
                  <a:txBody>
                    <a:bodyPr/>
                    <a:lstStyle/>
                    <a:p>
                      <a:pPr>
                        <a:defRPr sz="1300" b="1">
                          <a:solidFill>
                            <a:srgbClr val="231F20"/>
                          </a:solidFill>
                          <a:latin typeface="Calibri"/>
                        </a:defRPr>
                      </a:pPr>
                      <a:r>
                        <a:rPr sz="2000"/>
                        <a:t>100.00%</a:t>
                      </a:r>
                    </a:p>
                  </a:txBody>
                  <a:tcPr/>
                </a:tc>
                <a:tc>
                  <a:txBody>
                    <a:bodyPr/>
                    <a:lstStyle/>
                    <a:p>
                      <a:pPr>
                        <a:defRPr sz="1300" b="0">
                          <a:solidFill>
                            <a:srgbClr val="231F20"/>
                          </a:solidFill>
                          <a:latin typeface="Calibri"/>
                        </a:defRPr>
                      </a:pPr>
                      <a:r>
                        <a:rPr sz="2000" dirty="0"/>
                        <a:t>0.00%</a:t>
                      </a:r>
                    </a:p>
                  </a:txBody>
                  <a:tcPr/>
                </a:tc>
                <a:extLst>
                  <a:ext uri="{0D108BD9-81ED-4DB2-BD59-A6C34878D82A}">
                    <a16:rowId xmlns:a16="http://schemas.microsoft.com/office/drawing/2014/main" val="10002"/>
                  </a:ext>
                </a:extLst>
              </a:tr>
            </a:tbl>
          </a:graphicData>
        </a:graphic>
      </p:graphicFrame>
      <p:graphicFrame>
        <p:nvGraphicFramePr>
          <p:cNvPr id="193" name="Table 192"/>
          <p:cNvGraphicFramePr>
            <a:graphicFrameLocks noGrp="1"/>
          </p:cNvGraphicFramePr>
          <p:nvPr>
            <p:extLst>
              <p:ext uri="{D42A27DB-BD31-4B8C-83A1-F6EECF244321}">
                <p14:modId xmlns:p14="http://schemas.microsoft.com/office/powerpoint/2010/main" val="2427252315"/>
              </p:ext>
            </p:extLst>
          </p:nvPr>
        </p:nvGraphicFramePr>
        <p:xfrm>
          <a:off x="305247" y="4141693"/>
          <a:ext cx="17677505" cy="5772627"/>
        </p:xfrm>
        <a:graphic>
          <a:graphicData uri="http://schemas.openxmlformats.org/drawingml/2006/table">
            <a:tbl>
              <a:tblPr firstRow="1" bandRow="1">
                <a:tableStyleId>{5C22544A-7EE6-4342-B048-85BDC9FD1C3A}</a:tableStyleId>
              </a:tblPr>
              <a:tblGrid>
                <a:gridCol w="3535501">
                  <a:extLst>
                    <a:ext uri="{9D8B030D-6E8A-4147-A177-3AD203B41FA5}">
                      <a16:colId xmlns:a16="http://schemas.microsoft.com/office/drawing/2014/main" val="20000"/>
                    </a:ext>
                  </a:extLst>
                </a:gridCol>
                <a:gridCol w="3535501">
                  <a:extLst>
                    <a:ext uri="{9D8B030D-6E8A-4147-A177-3AD203B41FA5}">
                      <a16:colId xmlns:a16="http://schemas.microsoft.com/office/drawing/2014/main" val="20001"/>
                    </a:ext>
                  </a:extLst>
                </a:gridCol>
                <a:gridCol w="3535501">
                  <a:extLst>
                    <a:ext uri="{9D8B030D-6E8A-4147-A177-3AD203B41FA5}">
                      <a16:colId xmlns:a16="http://schemas.microsoft.com/office/drawing/2014/main" val="20002"/>
                    </a:ext>
                  </a:extLst>
                </a:gridCol>
                <a:gridCol w="3535501">
                  <a:extLst>
                    <a:ext uri="{9D8B030D-6E8A-4147-A177-3AD203B41FA5}">
                      <a16:colId xmlns:a16="http://schemas.microsoft.com/office/drawing/2014/main" val="20003"/>
                    </a:ext>
                  </a:extLst>
                </a:gridCol>
                <a:gridCol w="3535501">
                  <a:extLst>
                    <a:ext uri="{9D8B030D-6E8A-4147-A177-3AD203B41FA5}">
                      <a16:colId xmlns:a16="http://schemas.microsoft.com/office/drawing/2014/main" val="20004"/>
                    </a:ext>
                  </a:extLst>
                </a:gridCol>
              </a:tblGrid>
              <a:tr h="705009">
                <a:tc>
                  <a:txBody>
                    <a:bodyPr/>
                    <a:lstStyle/>
                    <a:p>
                      <a:pPr>
                        <a:defRPr sz="1200" b="1">
                          <a:solidFill>
                            <a:srgbClr val="FFFFFF"/>
                          </a:solidFill>
                          <a:latin typeface="Calibri"/>
                        </a:defRPr>
                      </a:pPr>
                      <a:r>
                        <a:rPr sz="1800"/>
                        <a:t>Defense Approach / Architecture</a:t>
                      </a:r>
                    </a:p>
                  </a:txBody>
                  <a:tcPr>
                    <a:solidFill>
                      <a:srgbClr val="1E293B"/>
                    </a:solidFill>
                  </a:tcPr>
                </a:tc>
                <a:tc>
                  <a:txBody>
                    <a:bodyPr/>
                    <a:lstStyle/>
                    <a:p>
                      <a:pPr>
                        <a:defRPr sz="1200" b="1">
                          <a:solidFill>
                            <a:srgbClr val="FFFFFF"/>
                          </a:solidFill>
                          <a:latin typeface="Calibri"/>
                        </a:defRPr>
                      </a:pPr>
                      <a:r>
                        <a:rPr sz="1800"/>
                        <a:t>Macro F1</a:t>
                      </a:r>
                    </a:p>
                  </a:txBody>
                  <a:tcPr>
                    <a:solidFill>
                      <a:srgbClr val="1E293B"/>
                    </a:solidFill>
                  </a:tcPr>
                </a:tc>
                <a:tc>
                  <a:txBody>
                    <a:bodyPr/>
                    <a:lstStyle/>
                    <a:p>
                      <a:pPr>
                        <a:defRPr sz="1200" b="1">
                          <a:solidFill>
                            <a:srgbClr val="FFFFFF"/>
                          </a:solidFill>
                          <a:latin typeface="Calibri"/>
                        </a:defRPr>
                      </a:pPr>
                      <a:r>
                        <a:rPr sz="1800"/>
                        <a:t>Precision</a:t>
                      </a:r>
                    </a:p>
                  </a:txBody>
                  <a:tcPr>
                    <a:solidFill>
                      <a:srgbClr val="1E293B"/>
                    </a:solidFill>
                  </a:tcPr>
                </a:tc>
                <a:tc>
                  <a:txBody>
                    <a:bodyPr/>
                    <a:lstStyle/>
                    <a:p>
                      <a:pPr>
                        <a:defRPr sz="1200" b="1">
                          <a:solidFill>
                            <a:srgbClr val="FFFFFF"/>
                          </a:solidFill>
                          <a:latin typeface="Calibri"/>
                        </a:defRPr>
                      </a:pPr>
                      <a:r>
                        <a:rPr sz="1800"/>
                        <a:t>Recall</a:t>
                      </a:r>
                    </a:p>
                  </a:txBody>
                  <a:tcPr>
                    <a:solidFill>
                      <a:srgbClr val="1E293B"/>
                    </a:solidFill>
                  </a:tcPr>
                </a:tc>
                <a:tc>
                  <a:txBody>
                    <a:bodyPr/>
                    <a:lstStyle/>
                    <a:p>
                      <a:pPr>
                        <a:defRPr sz="1200" b="1">
                          <a:solidFill>
                            <a:srgbClr val="FFFFFF"/>
                          </a:solidFill>
                          <a:latin typeface="Calibri"/>
                        </a:defRPr>
                      </a:pPr>
                      <a:r>
                        <a:rPr sz="1800"/>
                        <a:t>Core Operational Limitation / Advantage</a:t>
                      </a:r>
                    </a:p>
                  </a:txBody>
                  <a:tcPr>
                    <a:solidFill>
                      <a:srgbClr val="1E293B"/>
                    </a:solidFill>
                  </a:tcPr>
                </a:tc>
                <a:extLst>
                  <a:ext uri="{0D108BD9-81ED-4DB2-BD59-A6C34878D82A}">
                    <a16:rowId xmlns:a16="http://schemas.microsoft.com/office/drawing/2014/main" val="10000"/>
                  </a:ext>
                </a:extLst>
              </a:tr>
              <a:tr h="705009">
                <a:tc>
                  <a:txBody>
                    <a:bodyPr/>
                    <a:lstStyle/>
                    <a:p>
                      <a:pPr>
                        <a:defRPr sz="1200" b="0">
                          <a:solidFill>
                            <a:srgbClr val="231F20"/>
                          </a:solidFill>
                          <a:latin typeface="Calibri"/>
                        </a:defRPr>
                      </a:pPr>
                      <a:r>
                        <a:rPr sz="1800"/>
                        <a:t>Signature IDS (Snort Rules)</a:t>
                      </a:r>
                    </a:p>
                  </a:txBody>
                  <a:tcPr/>
                </a:tc>
                <a:tc>
                  <a:txBody>
                    <a:bodyPr/>
                    <a:lstStyle/>
                    <a:p>
                      <a:pPr>
                        <a:defRPr sz="1200" b="0">
                          <a:solidFill>
                            <a:srgbClr val="231F20"/>
                          </a:solidFill>
                          <a:latin typeface="Calibri"/>
                        </a:defRPr>
                      </a:pPr>
                      <a:r>
                        <a:rPr sz="1800"/>
                        <a:t>52.40%</a:t>
                      </a:r>
                    </a:p>
                  </a:txBody>
                  <a:tcPr/>
                </a:tc>
                <a:tc>
                  <a:txBody>
                    <a:bodyPr/>
                    <a:lstStyle/>
                    <a:p>
                      <a:pPr>
                        <a:defRPr sz="1200" b="0">
                          <a:solidFill>
                            <a:srgbClr val="231F20"/>
                          </a:solidFill>
                          <a:latin typeface="Calibri"/>
                        </a:defRPr>
                      </a:pPr>
                      <a:r>
                        <a:rPr sz="1800"/>
                        <a:t>91.20%</a:t>
                      </a:r>
                    </a:p>
                  </a:txBody>
                  <a:tcPr/>
                </a:tc>
                <a:tc>
                  <a:txBody>
                    <a:bodyPr/>
                    <a:lstStyle/>
                    <a:p>
                      <a:pPr>
                        <a:defRPr sz="1200" b="0">
                          <a:solidFill>
                            <a:srgbClr val="231F20"/>
                          </a:solidFill>
                          <a:latin typeface="Calibri"/>
                        </a:defRPr>
                      </a:pPr>
                      <a:r>
                        <a:rPr sz="1800"/>
                        <a:t>36.80%</a:t>
                      </a:r>
                    </a:p>
                  </a:txBody>
                  <a:tcPr/>
                </a:tc>
                <a:tc>
                  <a:txBody>
                    <a:bodyPr/>
                    <a:lstStyle/>
                    <a:p>
                      <a:pPr>
                        <a:defRPr sz="1200" b="0">
                          <a:solidFill>
                            <a:srgbClr val="231F20"/>
                          </a:solidFill>
                          <a:latin typeface="Calibri"/>
                        </a:defRPr>
                      </a:pPr>
                      <a:r>
                        <a:rPr sz="1800"/>
                        <a:t>Fails completely on LOLBins (WMI/PowerShell) and dynamic obfuscation</a:t>
                      </a:r>
                    </a:p>
                  </a:txBody>
                  <a:tcPr/>
                </a:tc>
                <a:extLst>
                  <a:ext uri="{0D108BD9-81ED-4DB2-BD59-A6C34878D82A}">
                    <a16:rowId xmlns:a16="http://schemas.microsoft.com/office/drawing/2014/main" val="10001"/>
                  </a:ext>
                </a:extLst>
              </a:tr>
              <a:tr h="705009">
                <a:tc>
                  <a:txBody>
                    <a:bodyPr/>
                    <a:lstStyle/>
                    <a:p>
                      <a:pPr>
                        <a:defRPr sz="1200" b="0">
                          <a:solidFill>
                            <a:srgbClr val="231F20"/>
                          </a:solidFill>
                          <a:latin typeface="Calibri"/>
                        </a:defRPr>
                      </a:pPr>
                      <a:r>
                        <a:rPr sz="1800"/>
                        <a:t>XGBoost Classifier (Feature-Engineered)</a:t>
                      </a:r>
                    </a:p>
                  </a:txBody>
                  <a:tcPr/>
                </a:tc>
                <a:tc>
                  <a:txBody>
                    <a:bodyPr/>
                    <a:lstStyle/>
                    <a:p>
                      <a:pPr>
                        <a:defRPr sz="1200" b="0">
                          <a:solidFill>
                            <a:srgbClr val="231F20"/>
                          </a:solidFill>
                          <a:latin typeface="Calibri"/>
                        </a:defRPr>
                      </a:pPr>
                      <a:r>
                        <a:rPr sz="1800"/>
                        <a:t>55.50%</a:t>
                      </a:r>
                    </a:p>
                  </a:txBody>
                  <a:tcPr/>
                </a:tc>
                <a:tc>
                  <a:txBody>
                    <a:bodyPr/>
                    <a:lstStyle/>
                    <a:p>
                      <a:pPr>
                        <a:defRPr sz="1200" b="0">
                          <a:solidFill>
                            <a:srgbClr val="231F20"/>
                          </a:solidFill>
                          <a:latin typeface="Calibri"/>
                        </a:defRPr>
                      </a:pPr>
                      <a:r>
                        <a:rPr sz="1800"/>
                        <a:t>58.20%</a:t>
                      </a:r>
                    </a:p>
                  </a:txBody>
                  <a:tcPr/>
                </a:tc>
                <a:tc>
                  <a:txBody>
                    <a:bodyPr/>
                    <a:lstStyle/>
                    <a:p>
                      <a:pPr>
                        <a:defRPr sz="1200" b="0">
                          <a:solidFill>
                            <a:srgbClr val="231F20"/>
                          </a:solidFill>
                          <a:latin typeface="Calibri"/>
                        </a:defRPr>
                      </a:pPr>
                      <a:r>
                        <a:rPr sz="1800"/>
                        <a:t>53.10%</a:t>
                      </a:r>
                    </a:p>
                  </a:txBody>
                  <a:tcPr/>
                </a:tc>
                <a:tc>
                  <a:txBody>
                    <a:bodyPr/>
                    <a:lstStyle/>
                    <a:p>
                      <a:pPr>
                        <a:defRPr sz="1200" b="0">
                          <a:solidFill>
                            <a:srgbClr val="231F20"/>
                          </a:solidFill>
                          <a:latin typeface="Calibri"/>
                        </a:defRPr>
                      </a:pPr>
                      <a:r>
                        <a:rPr sz="1800"/>
                        <a:t>Lacks sequential context across multi-event sliding windows</a:t>
                      </a:r>
                    </a:p>
                  </a:txBody>
                  <a:tcPr/>
                </a:tc>
                <a:extLst>
                  <a:ext uri="{0D108BD9-81ED-4DB2-BD59-A6C34878D82A}">
                    <a16:rowId xmlns:a16="http://schemas.microsoft.com/office/drawing/2014/main" val="10002"/>
                  </a:ext>
                </a:extLst>
              </a:tr>
              <a:tr h="705009">
                <a:tc>
                  <a:txBody>
                    <a:bodyPr/>
                    <a:lstStyle/>
                    <a:p>
                      <a:pPr>
                        <a:defRPr sz="1200" b="0">
                          <a:solidFill>
                            <a:srgbClr val="231F20"/>
                          </a:solidFill>
                          <a:latin typeface="Calibri"/>
                        </a:defRPr>
                      </a:pPr>
                      <a:r>
                        <a:rPr sz="1800"/>
                        <a:t>LightGBM Classifier</a:t>
                      </a:r>
                    </a:p>
                  </a:txBody>
                  <a:tcPr/>
                </a:tc>
                <a:tc>
                  <a:txBody>
                    <a:bodyPr/>
                    <a:lstStyle/>
                    <a:p>
                      <a:pPr>
                        <a:defRPr sz="1200" b="0">
                          <a:solidFill>
                            <a:srgbClr val="231F20"/>
                          </a:solidFill>
                          <a:latin typeface="Calibri"/>
                        </a:defRPr>
                      </a:pPr>
                      <a:r>
                        <a:rPr sz="1800"/>
                        <a:t>43.20%</a:t>
                      </a:r>
                    </a:p>
                  </a:txBody>
                  <a:tcPr/>
                </a:tc>
                <a:tc>
                  <a:txBody>
                    <a:bodyPr/>
                    <a:lstStyle/>
                    <a:p>
                      <a:pPr>
                        <a:defRPr sz="1200" b="0">
                          <a:solidFill>
                            <a:srgbClr val="231F20"/>
                          </a:solidFill>
                          <a:latin typeface="Calibri"/>
                        </a:defRPr>
                      </a:pPr>
                      <a:r>
                        <a:rPr sz="1800" dirty="0"/>
                        <a:t>48.60%</a:t>
                      </a:r>
                    </a:p>
                  </a:txBody>
                  <a:tcPr/>
                </a:tc>
                <a:tc>
                  <a:txBody>
                    <a:bodyPr/>
                    <a:lstStyle/>
                    <a:p>
                      <a:pPr>
                        <a:defRPr sz="1200" b="0">
                          <a:solidFill>
                            <a:srgbClr val="231F20"/>
                          </a:solidFill>
                          <a:latin typeface="Calibri"/>
                        </a:defRPr>
                      </a:pPr>
                      <a:r>
                        <a:rPr sz="1800" dirty="0"/>
                        <a:t>38.90%</a:t>
                      </a:r>
                    </a:p>
                  </a:txBody>
                  <a:tcPr/>
                </a:tc>
                <a:tc>
                  <a:txBody>
                    <a:bodyPr/>
                    <a:lstStyle/>
                    <a:p>
                      <a:pPr>
                        <a:defRPr sz="1200" b="0">
                          <a:solidFill>
                            <a:srgbClr val="231F20"/>
                          </a:solidFill>
                          <a:latin typeface="Calibri"/>
                        </a:defRPr>
                      </a:pPr>
                      <a:r>
                        <a:rPr sz="1800"/>
                        <a:t>High false alarms on legitimate sysadmin dual-use execution</a:t>
                      </a:r>
                    </a:p>
                  </a:txBody>
                  <a:tcPr/>
                </a:tc>
                <a:extLst>
                  <a:ext uri="{0D108BD9-81ED-4DB2-BD59-A6C34878D82A}">
                    <a16:rowId xmlns:a16="http://schemas.microsoft.com/office/drawing/2014/main" val="10003"/>
                  </a:ext>
                </a:extLst>
              </a:tr>
              <a:tr h="705009">
                <a:tc>
                  <a:txBody>
                    <a:bodyPr/>
                    <a:lstStyle/>
                    <a:p>
                      <a:pPr>
                        <a:defRPr sz="1200" b="0">
                          <a:solidFill>
                            <a:srgbClr val="231F20"/>
                          </a:solidFill>
                          <a:latin typeface="Calibri"/>
                        </a:defRPr>
                      </a:pPr>
                      <a:r>
                        <a:rPr sz="1800"/>
                        <a:t>Random Forest Baseline</a:t>
                      </a:r>
                    </a:p>
                  </a:txBody>
                  <a:tcPr/>
                </a:tc>
                <a:tc>
                  <a:txBody>
                    <a:bodyPr/>
                    <a:lstStyle/>
                    <a:p>
                      <a:pPr>
                        <a:defRPr sz="1200" b="0">
                          <a:solidFill>
                            <a:srgbClr val="231F20"/>
                          </a:solidFill>
                          <a:latin typeface="Calibri"/>
                        </a:defRPr>
                      </a:pPr>
                      <a:r>
                        <a:rPr sz="1800"/>
                        <a:t>58.48%</a:t>
                      </a:r>
                    </a:p>
                  </a:txBody>
                  <a:tcPr/>
                </a:tc>
                <a:tc>
                  <a:txBody>
                    <a:bodyPr/>
                    <a:lstStyle/>
                    <a:p>
                      <a:pPr>
                        <a:defRPr sz="1200" b="0">
                          <a:solidFill>
                            <a:srgbClr val="231F20"/>
                          </a:solidFill>
                          <a:latin typeface="Calibri"/>
                        </a:defRPr>
                      </a:pPr>
                      <a:r>
                        <a:rPr sz="1800"/>
                        <a:t>58.49%</a:t>
                      </a:r>
                    </a:p>
                  </a:txBody>
                  <a:tcPr/>
                </a:tc>
                <a:tc>
                  <a:txBody>
                    <a:bodyPr/>
                    <a:lstStyle/>
                    <a:p>
                      <a:pPr>
                        <a:defRPr sz="1200" b="0">
                          <a:solidFill>
                            <a:srgbClr val="231F20"/>
                          </a:solidFill>
                          <a:latin typeface="Calibri"/>
                        </a:defRPr>
                      </a:pPr>
                      <a:r>
                        <a:rPr sz="1800"/>
                        <a:t>58.50%</a:t>
                      </a:r>
                    </a:p>
                  </a:txBody>
                  <a:tcPr/>
                </a:tc>
                <a:tc>
                  <a:txBody>
                    <a:bodyPr/>
                    <a:lstStyle/>
                    <a:p>
                      <a:pPr>
                        <a:defRPr sz="1200" b="0">
                          <a:solidFill>
                            <a:srgbClr val="231F20"/>
                          </a:solidFill>
                          <a:latin typeface="Calibri"/>
                        </a:defRPr>
                      </a:pPr>
                      <a:r>
                        <a:rPr sz="1800"/>
                        <a:t>Stateless bag-of-words representation fails on credential pivots</a:t>
                      </a:r>
                    </a:p>
                  </a:txBody>
                  <a:tcPr/>
                </a:tc>
                <a:extLst>
                  <a:ext uri="{0D108BD9-81ED-4DB2-BD59-A6C34878D82A}">
                    <a16:rowId xmlns:a16="http://schemas.microsoft.com/office/drawing/2014/main" val="10004"/>
                  </a:ext>
                </a:extLst>
              </a:tr>
              <a:tr h="705009">
                <a:tc>
                  <a:txBody>
                    <a:bodyPr/>
                    <a:lstStyle/>
                    <a:p>
                      <a:pPr>
                        <a:defRPr sz="1200" b="0">
                          <a:solidFill>
                            <a:srgbClr val="231F20"/>
                          </a:solidFill>
                          <a:latin typeface="Calibri"/>
                        </a:defRPr>
                      </a:pPr>
                      <a:r>
                        <a:rPr sz="1800"/>
                        <a:t>LSTM Sequence Model</a:t>
                      </a:r>
                    </a:p>
                  </a:txBody>
                  <a:tcPr/>
                </a:tc>
                <a:tc>
                  <a:txBody>
                    <a:bodyPr/>
                    <a:lstStyle/>
                    <a:p>
                      <a:pPr>
                        <a:defRPr sz="1200" b="0">
                          <a:solidFill>
                            <a:srgbClr val="231F20"/>
                          </a:solidFill>
                          <a:latin typeface="Calibri"/>
                        </a:defRPr>
                      </a:pPr>
                      <a:r>
                        <a:rPr sz="1800"/>
                        <a:t>78.60%</a:t>
                      </a:r>
                    </a:p>
                  </a:txBody>
                  <a:tcPr/>
                </a:tc>
                <a:tc>
                  <a:txBody>
                    <a:bodyPr/>
                    <a:lstStyle/>
                    <a:p>
                      <a:pPr>
                        <a:defRPr sz="1200" b="0">
                          <a:solidFill>
                            <a:srgbClr val="231F20"/>
                          </a:solidFill>
                          <a:latin typeface="Calibri"/>
                        </a:defRPr>
                      </a:pPr>
                      <a:r>
                        <a:rPr sz="1800"/>
                        <a:t>81.40%</a:t>
                      </a:r>
                    </a:p>
                  </a:txBody>
                  <a:tcPr/>
                </a:tc>
                <a:tc>
                  <a:txBody>
                    <a:bodyPr/>
                    <a:lstStyle/>
                    <a:p>
                      <a:pPr>
                        <a:defRPr sz="1200" b="0">
                          <a:solidFill>
                            <a:srgbClr val="231F20"/>
                          </a:solidFill>
                          <a:latin typeface="Calibri"/>
                        </a:defRPr>
                      </a:pPr>
                      <a:r>
                        <a:rPr sz="1800"/>
                        <a:t>76.00%</a:t>
                      </a:r>
                    </a:p>
                  </a:txBody>
                  <a:tcPr/>
                </a:tc>
                <a:tc>
                  <a:txBody>
                    <a:bodyPr/>
                    <a:lstStyle/>
                    <a:p>
                      <a:pPr>
                        <a:defRPr sz="1200" b="0">
                          <a:solidFill>
                            <a:srgbClr val="231F20"/>
                          </a:solidFill>
                          <a:latin typeface="Calibri"/>
                        </a:defRPr>
                      </a:pPr>
                      <a:r>
                        <a:rPr sz="1800"/>
                        <a:t>Recurrent cell struggles to retain long-range multi-hop authentication dependencies</a:t>
                      </a:r>
                    </a:p>
                  </a:txBody>
                  <a:tcPr/>
                </a:tc>
                <a:extLst>
                  <a:ext uri="{0D108BD9-81ED-4DB2-BD59-A6C34878D82A}">
                    <a16:rowId xmlns:a16="http://schemas.microsoft.com/office/drawing/2014/main" val="10005"/>
                  </a:ext>
                </a:extLst>
              </a:tr>
              <a:tr h="705015">
                <a:tc>
                  <a:txBody>
                    <a:bodyPr/>
                    <a:lstStyle/>
                    <a:p>
                      <a:pPr>
                        <a:defRPr sz="1200" b="1">
                          <a:solidFill>
                            <a:srgbClr val="145014"/>
                          </a:solidFill>
                          <a:latin typeface="Calibri"/>
                        </a:defRPr>
                      </a:pPr>
                      <a:r>
                        <a:rPr sz="1800"/>
                        <a:t>EdgeShield Dual-Stream SLM (Proposed)</a:t>
                      </a:r>
                    </a:p>
                  </a:txBody>
                  <a:tcPr>
                    <a:solidFill>
                      <a:srgbClr val="E6F5E6"/>
                    </a:solidFill>
                  </a:tcPr>
                </a:tc>
                <a:tc>
                  <a:txBody>
                    <a:bodyPr/>
                    <a:lstStyle/>
                    <a:p>
                      <a:pPr>
                        <a:defRPr sz="1200" b="1">
                          <a:solidFill>
                            <a:srgbClr val="145014"/>
                          </a:solidFill>
                          <a:latin typeface="Calibri"/>
                        </a:defRPr>
                      </a:pPr>
                      <a:r>
                        <a:rPr sz="1800"/>
                        <a:t>99.38%</a:t>
                      </a:r>
                    </a:p>
                  </a:txBody>
                  <a:tcPr>
                    <a:solidFill>
                      <a:srgbClr val="E6F5E6"/>
                    </a:solidFill>
                  </a:tcPr>
                </a:tc>
                <a:tc>
                  <a:txBody>
                    <a:bodyPr/>
                    <a:lstStyle/>
                    <a:p>
                      <a:pPr>
                        <a:defRPr sz="1200" b="1">
                          <a:solidFill>
                            <a:srgbClr val="145014"/>
                          </a:solidFill>
                          <a:latin typeface="Calibri"/>
                        </a:defRPr>
                      </a:pPr>
                      <a:r>
                        <a:rPr sz="1800"/>
                        <a:t>99.51%</a:t>
                      </a:r>
                    </a:p>
                  </a:txBody>
                  <a:tcPr>
                    <a:solidFill>
                      <a:srgbClr val="E6F5E6"/>
                    </a:solidFill>
                  </a:tcPr>
                </a:tc>
                <a:tc>
                  <a:txBody>
                    <a:bodyPr/>
                    <a:lstStyle/>
                    <a:p>
                      <a:pPr>
                        <a:defRPr sz="1200" b="1">
                          <a:solidFill>
                            <a:srgbClr val="145014"/>
                          </a:solidFill>
                          <a:latin typeface="Calibri"/>
                        </a:defRPr>
                      </a:pPr>
                      <a:r>
                        <a:rPr sz="1800"/>
                        <a:t>99.25%</a:t>
                      </a:r>
                    </a:p>
                  </a:txBody>
                  <a:tcPr>
                    <a:solidFill>
                      <a:srgbClr val="E6F5E6"/>
                    </a:solidFill>
                  </a:tcPr>
                </a:tc>
                <a:tc>
                  <a:txBody>
                    <a:bodyPr/>
                    <a:lstStyle/>
                    <a:p>
                      <a:pPr>
                        <a:defRPr sz="1200" b="1">
                          <a:solidFill>
                            <a:srgbClr val="145014"/>
                          </a:solidFill>
                          <a:latin typeface="Calibri"/>
                        </a:defRPr>
                      </a:pPr>
                      <a:r>
                        <a:rPr sz="1800" dirty="0"/>
                        <a:t>+20.78 pp F1 gain over LSTM; zero missed attacks across test partitions</a:t>
                      </a:r>
                    </a:p>
                  </a:txBody>
                  <a:tcPr>
                    <a:solidFill>
                      <a:srgbClr val="E6F5E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 name="Picture 190" descr="image.png"/>
          <p:cNvPicPr>
            <a:picLocks noChangeAspect="1"/>
          </p:cNvPicPr>
          <p:nvPr/>
        </p:nvPicPr>
        <p:blipFill>
          <a:blip r:embed="rId2"/>
          <a:stretch>
            <a:fillRect/>
          </a:stretch>
        </p:blipFill>
        <p:spPr>
          <a:xfrm>
            <a:off x="16322124" y="7754894"/>
            <a:ext cx="4118443" cy="3654183"/>
          </a:xfrm>
          <a:prstGeom prst="rect">
            <a:avLst/>
          </a:prstGeom>
        </p:spPr>
      </p:pic>
      <p:pic>
        <p:nvPicPr>
          <p:cNvPr id="190" name="Picture 189" descr="image.png"/>
          <p:cNvPicPr>
            <a:picLocks noChangeAspect="1"/>
          </p:cNvPicPr>
          <p:nvPr/>
        </p:nvPicPr>
        <p:blipFill>
          <a:blip r:embed="rId2"/>
          <a:stretch>
            <a:fillRect/>
          </a:stretch>
        </p:blipFill>
        <p:spPr>
          <a:xfrm rot="10800000">
            <a:off x="-2059222" y="-789427"/>
            <a:ext cx="4118443" cy="3654183"/>
          </a:xfrm>
          <a:prstGeom prst="rect">
            <a:avLst/>
          </a:prstGeom>
        </p:spPr>
      </p:pic>
      <p:sp>
        <p:nvSpPr>
          <p:cNvPr id="188" name="Google Shape;188;g3b824e2dc5f_0_25"/>
          <p:cNvSpPr txBox="1"/>
          <p:nvPr/>
        </p:nvSpPr>
        <p:spPr>
          <a:xfrm>
            <a:off x="1998300" y="581800"/>
            <a:ext cx="15940200" cy="3336600"/>
          </a:xfrm>
          <a:prstGeom prst="rect">
            <a:avLst/>
          </a:prstGeom>
          <a:noFill/>
          <a:ln>
            <a:noFill/>
          </a:ln>
        </p:spPr>
        <p:txBody>
          <a:bodyPr spcFirstLastPara="1" wrap="square" lIns="0" tIns="0" rIns="0" bIns="0" anchor="t" anchorCtr="0">
            <a:spAutoFit/>
          </a:bodyPr>
          <a:lstStyle/>
          <a:p>
            <a:pPr marL="0" lvl="0" indent="0" algn="l" rtl="0">
              <a:lnSpc>
                <a:spcPct val="138005"/>
              </a:lnSpc>
              <a:spcBef>
                <a:spcPts val="0"/>
              </a:spcBef>
              <a:spcAft>
                <a:spcPts val="0"/>
              </a:spcAft>
              <a:buClr>
                <a:schemeClr val="dk1"/>
              </a:buClr>
              <a:buSzPts val="1100"/>
              <a:buFont typeface="Arial"/>
              <a:buNone/>
            </a:pPr>
            <a:r>
              <a:rPr sz="4400" b="1">
                <a:solidFill>
                  <a:srgbClr val="231F20"/>
                </a:solidFill>
                <a:latin typeface="Arial Rounded"/>
              </a:rPr>
              <a:t>Real-Time Edge Benchmark &amp; Quantization</a:t>
            </a:r>
            <a:endParaRPr sz="5765" b="1">
              <a:solidFill>
                <a:srgbClr val="231F20"/>
              </a:solidFill>
              <a:latin typeface="Arial Rounded"/>
              <a:ea typeface="Arial Rounded"/>
              <a:cs typeface="Arial Rounded"/>
              <a:sym typeface="Arial Rounded"/>
            </a:endParaRPr>
          </a:p>
          <a:p>
            <a:pPr marL="0" lvl="0" indent="0" algn="l" rtl="0">
              <a:lnSpc>
                <a:spcPct val="138005"/>
              </a:lnSpc>
              <a:spcBef>
                <a:spcPts val="0"/>
              </a:spcBef>
              <a:spcAft>
                <a:spcPts val="0"/>
              </a:spcAft>
              <a:buClr>
                <a:schemeClr val="dk1"/>
              </a:buClr>
              <a:buSzPts val="1100"/>
              <a:buFont typeface="Arial"/>
              <a:buNone/>
            </a:pPr>
            <a:endParaRPr sz="5765" b="1">
              <a:solidFill>
                <a:srgbClr val="231F20"/>
              </a:solidFill>
              <a:latin typeface="Arial Rounded"/>
              <a:ea typeface="Arial Rounded"/>
              <a:cs typeface="Arial Rounded"/>
              <a:sym typeface="Arial Rounded"/>
            </a:endParaRPr>
          </a:p>
          <a:p>
            <a:pPr marL="0" marR="0" lvl="0" indent="0" algn="l" rtl="0">
              <a:lnSpc>
                <a:spcPct val="138005"/>
              </a:lnSpc>
              <a:spcBef>
                <a:spcPts val="0"/>
              </a:spcBef>
              <a:spcAft>
                <a:spcPts val="0"/>
              </a:spcAft>
              <a:buClr>
                <a:srgbClr val="000000"/>
              </a:buClr>
              <a:buSzPts val="5765"/>
              <a:buFont typeface="Arial"/>
              <a:buNone/>
            </a:pPr>
            <a:endParaRPr sz="5765" b="1">
              <a:solidFill>
                <a:srgbClr val="231F20"/>
              </a:solidFill>
              <a:latin typeface="Arial Rounded"/>
              <a:ea typeface="Arial Rounded"/>
              <a:cs typeface="Arial Rounded"/>
              <a:sym typeface="Arial Rounded"/>
            </a:endParaRPr>
          </a:p>
        </p:txBody>
      </p:sp>
      <p:sp>
        <p:nvSpPr>
          <p:cNvPr id="189" name="Google Shape;189;g3b824e2dc5f_0_25"/>
          <p:cNvSpPr txBox="1"/>
          <p:nvPr/>
        </p:nvSpPr>
        <p:spPr>
          <a:xfrm>
            <a:off x="927922" y="2957378"/>
            <a:ext cx="15394200" cy="3965188"/>
          </a:xfrm>
          <a:prstGeom prst="rect">
            <a:avLst/>
          </a:prstGeom>
          <a:noFill/>
          <a:ln>
            <a:noFill/>
          </a:ln>
        </p:spPr>
        <p:txBody>
          <a:bodyPr spcFirstLastPara="1" wrap="square" lIns="0" tIns="0" rIns="0" bIns="0" anchor="t" anchorCtr="0">
            <a:spAutoFit/>
          </a:bodyPr>
          <a:lstStyle/>
          <a:p>
            <a:pPr marL="285750" indent="-285750" algn="l" rtl="0">
              <a:lnSpc>
                <a:spcPct val="115000"/>
              </a:lnSpc>
              <a:spcBef>
                <a:spcPts val="1200"/>
              </a:spcBef>
              <a:spcAft>
                <a:spcPts val="1000"/>
              </a:spcAft>
              <a:buFont typeface="Arial" panose="020B0604020202020204" pitchFamily="34" charset="0"/>
              <a:buChar char="•"/>
            </a:pPr>
            <a:r>
              <a:rPr sz="2000" b="1" dirty="0">
                <a:solidFill>
                  <a:srgbClr val="231F20"/>
                </a:solidFill>
              </a:rPr>
              <a:t>Rigorous 5-Trial Statistical Benchmark (N=1,000 Evaluations): </a:t>
            </a:r>
            <a:r>
              <a:rPr sz="2000" b="0" dirty="0">
                <a:solidFill>
                  <a:srgbClr val="231F20"/>
                </a:solidFill>
              </a:rPr>
              <a:t>Measured on commodity multi-core CPU (8 threads, batch size=1, sequence length=128 tokens) across 5 independent trials x 200 consecutive runs after warmup:</a:t>
            </a:r>
            <a:endParaRPr sz="3600" dirty="0">
              <a:solidFill>
                <a:schemeClr val="dk1"/>
              </a:solidFill>
            </a:endParaRPr>
          </a:p>
          <a:p>
            <a:pPr marL="285750" indent="-285750">
              <a:spcAft>
                <a:spcPts val="1000"/>
              </a:spcAft>
              <a:buFont typeface="Arial" panose="020B0604020202020204" pitchFamily="34" charset="0"/>
              <a:buChar char="•"/>
            </a:pPr>
            <a:r>
              <a:rPr sz="2000" b="1" dirty="0">
                <a:solidFill>
                  <a:srgbClr val="231F20"/>
                </a:solidFill>
              </a:rPr>
              <a:t>Quantized INT8 Inference Latency: </a:t>
            </a:r>
            <a:r>
              <a:rPr sz="2000" b="0" dirty="0">
                <a:solidFill>
                  <a:srgbClr val="231F20"/>
                </a:solidFill>
              </a:rPr>
              <a:t>Mean Latency: 11.71 +/- 0.62 </a:t>
            </a:r>
            <a:r>
              <a:rPr sz="2000" b="0" dirty="0" err="1">
                <a:solidFill>
                  <a:srgbClr val="231F20"/>
                </a:solidFill>
              </a:rPr>
              <a:t>ms</a:t>
            </a:r>
            <a:r>
              <a:rPr sz="2000" b="0" dirty="0">
                <a:solidFill>
                  <a:srgbClr val="231F20"/>
                </a:solidFill>
              </a:rPr>
              <a:t> | Median p50: 11.66 </a:t>
            </a:r>
            <a:r>
              <a:rPr sz="2000" b="0" dirty="0" err="1">
                <a:solidFill>
                  <a:srgbClr val="231F20"/>
                </a:solidFill>
              </a:rPr>
              <a:t>ms</a:t>
            </a:r>
            <a:r>
              <a:rPr sz="2000" b="0" dirty="0">
                <a:solidFill>
                  <a:srgbClr val="231F20"/>
                </a:solidFill>
              </a:rPr>
              <a:t> | Min: 10.28 </a:t>
            </a:r>
            <a:r>
              <a:rPr sz="2000" b="0" dirty="0" err="1">
                <a:solidFill>
                  <a:srgbClr val="231F20"/>
                </a:solidFill>
              </a:rPr>
              <a:t>ms</a:t>
            </a:r>
            <a:r>
              <a:rPr sz="2000" b="0" dirty="0">
                <a:solidFill>
                  <a:srgbClr val="231F20"/>
                </a:solidFill>
              </a:rPr>
              <a:t> | p95: 12.72 </a:t>
            </a:r>
            <a:r>
              <a:rPr sz="2000" b="0" dirty="0" err="1">
                <a:solidFill>
                  <a:srgbClr val="231F20"/>
                </a:solidFill>
              </a:rPr>
              <a:t>ms.</a:t>
            </a:r>
            <a:r>
              <a:rPr sz="2000" b="0" dirty="0">
                <a:solidFill>
                  <a:srgbClr val="231F20"/>
                </a:solidFill>
              </a:rPr>
              <a:t> Operates well within typical SOC buffer thresholds (&lt;100 </a:t>
            </a:r>
            <a:r>
              <a:rPr sz="2000" b="0" dirty="0" err="1">
                <a:solidFill>
                  <a:srgbClr val="231F20"/>
                </a:solidFill>
              </a:rPr>
              <a:t>ms</a:t>
            </a:r>
            <a:r>
              <a:rPr sz="2000" b="0" dirty="0">
                <a:solidFill>
                  <a:srgbClr val="231F20"/>
                </a:solidFill>
              </a:rPr>
              <a:t>).</a:t>
            </a:r>
          </a:p>
          <a:p>
            <a:pPr marL="285750" indent="-285750">
              <a:spcAft>
                <a:spcPts val="1000"/>
              </a:spcAft>
              <a:buFont typeface="Arial" panose="020B0604020202020204" pitchFamily="34" charset="0"/>
              <a:buChar char="•"/>
            </a:pPr>
            <a:r>
              <a:rPr sz="2000" b="1" dirty="0">
                <a:solidFill>
                  <a:srgbClr val="231F20"/>
                </a:solidFill>
              </a:rPr>
              <a:t>Sustained Throughput Headroom: </a:t>
            </a:r>
            <a:r>
              <a:rPr sz="2000" b="0" dirty="0">
                <a:solidFill>
                  <a:srgbClr val="231F20"/>
                </a:solidFill>
              </a:rPr>
              <a:t>85.4 sliding windows / second (&gt;5,120 windows / minute), delivering massive real-time event ingestion capacity without dropping packets.</a:t>
            </a:r>
          </a:p>
          <a:p>
            <a:pPr marL="285750" indent="-285750">
              <a:spcAft>
                <a:spcPts val="1000"/>
              </a:spcAft>
              <a:buFont typeface="Arial" panose="020B0604020202020204" pitchFamily="34" charset="0"/>
              <a:buChar char="•"/>
            </a:pPr>
            <a:r>
              <a:rPr sz="2000" b="1" dirty="0">
                <a:solidFill>
                  <a:srgbClr val="231F20"/>
                </a:solidFill>
              </a:rPr>
              <a:t>Model Compression &amp; Memory Footprint: </a:t>
            </a:r>
            <a:r>
              <a:rPr sz="2000" b="0" dirty="0">
                <a:solidFill>
                  <a:srgbClr val="231F20"/>
                </a:solidFill>
              </a:rPr>
              <a:t>Dynamic INT8 Post-Training Quantization (PTQ) compresses model from 255 MB to 64.9 MB (74.5% disk reduction). Active runtime memory: 50 MB RAM (42x smaller than 3B SLMs).</a:t>
            </a:r>
          </a:p>
          <a:p>
            <a:pPr marL="285750" indent="-285750">
              <a:spcAft>
                <a:spcPts val="1000"/>
              </a:spcAft>
              <a:buFont typeface="Arial" panose="020B0604020202020204" pitchFamily="34" charset="0"/>
              <a:buChar char="•"/>
            </a:pPr>
            <a:r>
              <a:rPr sz="2000" b="1" dirty="0">
                <a:solidFill>
                  <a:srgbClr val="231F20"/>
                </a:solidFill>
              </a:rPr>
              <a:t>Speedup Multipliers vs Larger SLM Backbones: </a:t>
            </a:r>
            <a:r>
              <a:rPr sz="2000" b="0" dirty="0">
                <a:solidFill>
                  <a:srgbClr val="231F20"/>
                </a:solidFill>
              </a:rPr>
              <a:t>2.38x faster than FP32 baseline (27.84 </a:t>
            </a:r>
            <a:r>
              <a:rPr sz="2000" b="0" dirty="0" err="1">
                <a:solidFill>
                  <a:srgbClr val="231F20"/>
                </a:solidFill>
              </a:rPr>
              <a:t>ms</a:t>
            </a:r>
            <a:r>
              <a:rPr sz="2000" b="0" dirty="0">
                <a:solidFill>
                  <a:srgbClr val="231F20"/>
                </a:solidFill>
              </a:rPr>
              <a:t>); 2.4x faster than Phi-3 Mini INT8 (28.40 </a:t>
            </a:r>
            <a:r>
              <a:rPr sz="2000" b="0" dirty="0" err="1">
                <a:solidFill>
                  <a:srgbClr val="231F20"/>
                </a:solidFill>
              </a:rPr>
              <a:t>ms</a:t>
            </a:r>
            <a:r>
              <a:rPr sz="2000" b="0" dirty="0">
                <a:solidFill>
                  <a:srgbClr val="231F20"/>
                </a:solidFill>
              </a:rPr>
              <a:t>); 12.2x faster than Phi-3 Mini unquantized CPU (142.50 </a:t>
            </a:r>
            <a:r>
              <a:rPr sz="2000" b="0" dirty="0" err="1">
                <a:solidFill>
                  <a:srgbClr val="231F20"/>
                </a:solidFill>
              </a:rPr>
              <a:t>ms</a:t>
            </a:r>
            <a:r>
              <a:rPr sz="2000" b="0" dirty="0">
                <a:solidFill>
                  <a:srgbClr val="231F20"/>
                </a:solidFill>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 name="Picture 194" descr="image.png"/>
          <p:cNvPicPr>
            <a:picLocks noChangeAspect="1"/>
          </p:cNvPicPr>
          <p:nvPr/>
        </p:nvPicPr>
        <p:blipFill>
          <a:blip r:embed="rId3"/>
          <a:stretch>
            <a:fillRect/>
          </a:stretch>
        </p:blipFill>
        <p:spPr>
          <a:xfrm>
            <a:off x="16322124" y="7754894"/>
            <a:ext cx="4118443" cy="3654183"/>
          </a:xfrm>
          <a:prstGeom prst="rect">
            <a:avLst/>
          </a:prstGeom>
        </p:spPr>
      </p:pic>
      <p:pic>
        <p:nvPicPr>
          <p:cNvPr id="194" name="Picture 193" descr="image.png"/>
          <p:cNvPicPr>
            <a:picLocks noChangeAspect="1"/>
          </p:cNvPicPr>
          <p:nvPr/>
        </p:nvPicPr>
        <p:blipFill>
          <a:blip r:embed="rId3"/>
          <a:stretch>
            <a:fillRect/>
          </a:stretch>
        </p:blipFill>
        <p:spPr>
          <a:xfrm rot="10800000">
            <a:off x="-2059222" y="-789427"/>
            <a:ext cx="4118443" cy="3654183"/>
          </a:xfrm>
          <a:prstGeom prst="rect">
            <a:avLst/>
          </a:prstGeom>
        </p:spPr>
      </p:pic>
      <p:sp>
        <p:nvSpPr>
          <p:cNvPr id="188" name="Google Shape;188;g3b824e2dc5f_0_25"/>
          <p:cNvSpPr txBox="1"/>
          <p:nvPr/>
        </p:nvSpPr>
        <p:spPr>
          <a:xfrm>
            <a:off x="1998300" y="581800"/>
            <a:ext cx="15940200" cy="3336600"/>
          </a:xfrm>
          <a:prstGeom prst="rect">
            <a:avLst/>
          </a:prstGeom>
          <a:noFill/>
          <a:ln>
            <a:noFill/>
          </a:ln>
        </p:spPr>
        <p:txBody>
          <a:bodyPr spcFirstLastPara="1" wrap="square" lIns="0" tIns="0" rIns="0" bIns="0" anchor="t" anchorCtr="0">
            <a:spAutoFit/>
          </a:bodyPr>
          <a:lstStyle/>
          <a:p>
            <a:pPr marL="0" lvl="0" indent="0" algn="l" rtl="0">
              <a:lnSpc>
                <a:spcPct val="138005"/>
              </a:lnSpc>
              <a:spcBef>
                <a:spcPts val="0"/>
              </a:spcBef>
              <a:spcAft>
                <a:spcPts val="0"/>
              </a:spcAft>
              <a:buClr>
                <a:schemeClr val="dk1"/>
              </a:buClr>
              <a:buSzPts val="1100"/>
              <a:buFont typeface="Arial"/>
              <a:buNone/>
            </a:pPr>
            <a:r>
              <a:rPr sz="4400" b="1">
                <a:solidFill>
                  <a:srgbClr val="231F20"/>
                </a:solidFill>
                <a:latin typeface="Arial Rounded"/>
              </a:rPr>
              <a:t>Architectural Ablation: Why Dual-Stream Wins</a:t>
            </a:r>
            <a:endParaRPr sz="5765" b="1">
              <a:solidFill>
                <a:srgbClr val="231F20"/>
              </a:solidFill>
              <a:latin typeface="Arial Rounded"/>
              <a:ea typeface="Arial Rounded"/>
              <a:cs typeface="Arial Rounded"/>
              <a:sym typeface="Arial Rounded"/>
            </a:endParaRPr>
          </a:p>
          <a:p>
            <a:pPr marL="0" lvl="0" indent="0" algn="l" rtl="0">
              <a:lnSpc>
                <a:spcPct val="138005"/>
              </a:lnSpc>
              <a:spcBef>
                <a:spcPts val="0"/>
              </a:spcBef>
              <a:spcAft>
                <a:spcPts val="0"/>
              </a:spcAft>
              <a:buClr>
                <a:schemeClr val="dk1"/>
              </a:buClr>
              <a:buSzPts val="1100"/>
              <a:buFont typeface="Arial"/>
              <a:buNone/>
            </a:pPr>
            <a:endParaRPr sz="5765" b="1">
              <a:solidFill>
                <a:srgbClr val="231F20"/>
              </a:solidFill>
              <a:latin typeface="Arial Rounded"/>
              <a:ea typeface="Arial Rounded"/>
              <a:cs typeface="Arial Rounded"/>
              <a:sym typeface="Arial Rounded"/>
            </a:endParaRPr>
          </a:p>
          <a:p>
            <a:pPr marL="0" marR="0" lvl="0" indent="0" algn="l" rtl="0">
              <a:lnSpc>
                <a:spcPct val="138005"/>
              </a:lnSpc>
              <a:spcBef>
                <a:spcPts val="0"/>
              </a:spcBef>
              <a:spcAft>
                <a:spcPts val="0"/>
              </a:spcAft>
              <a:buClr>
                <a:srgbClr val="000000"/>
              </a:buClr>
              <a:buSzPts val="5765"/>
              <a:buFont typeface="Arial"/>
              <a:buNone/>
            </a:pPr>
            <a:endParaRPr sz="5765" b="1">
              <a:solidFill>
                <a:srgbClr val="231F20"/>
              </a:solidFill>
              <a:latin typeface="Arial Rounded"/>
              <a:ea typeface="Arial Rounded"/>
              <a:cs typeface="Arial Rounded"/>
              <a:sym typeface="Arial Rounded"/>
            </a:endParaRPr>
          </a:p>
        </p:txBody>
      </p:sp>
      <p:graphicFrame>
        <p:nvGraphicFramePr>
          <p:cNvPr id="192" name="Table 191"/>
          <p:cNvGraphicFramePr>
            <a:graphicFrameLocks noGrp="1"/>
          </p:cNvGraphicFramePr>
          <p:nvPr>
            <p:extLst>
              <p:ext uri="{D42A27DB-BD31-4B8C-83A1-F6EECF244321}">
                <p14:modId xmlns:p14="http://schemas.microsoft.com/office/powerpoint/2010/main" val="2600547503"/>
              </p:ext>
            </p:extLst>
          </p:nvPr>
        </p:nvGraphicFramePr>
        <p:xfrm>
          <a:off x="731519" y="2103119"/>
          <a:ext cx="9918550" cy="5319124"/>
        </p:xfrm>
        <a:graphic>
          <a:graphicData uri="http://schemas.openxmlformats.org/drawingml/2006/table">
            <a:tbl>
              <a:tblPr firstRow="1" bandRow="1">
                <a:tableStyleId>{5C22544A-7EE6-4342-B048-85BDC9FD1C3A}</a:tableStyleId>
              </a:tblPr>
              <a:tblGrid>
                <a:gridCol w="1983710">
                  <a:extLst>
                    <a:ext uri="{9D8B030D-6E8A-4147-A177-3AD203B41FA5}">
                      <a16:colId xmlns:a16="http://schemas.microsoft.com/office/drawing/2014/main" val="20000"/>
                    </a:ext>
                  </a:extLst>
                </a:gridCol>
                <a:gridCol w="1983710">
                  <a:extLst>
                    <a:ext uri="{9D8B030D-6E8A-4147-A177-3AD203B41FA5}">
                      <a16:colId xmlns:a16="http://schemas.microsoft.com/office/drawing/2014/main" val="20001"/>
                    </a:ext>
                  </a:extLst>
                </a:gridCol>
                <a:gridCol w="1983710">
                  <a:extLst>
                    <a:ext uri="{9D8B030D-6E8A-4147-A177-3AD203B41FA5}">
                      <a16:colId xmlns:a16="http://schemas.microsoft.com/office/drawing/2014/main" val="20002"/>
                    </a:ext>
                  </a:extLst>
                </a:gridCol>
                <a:gridCol w="1983710">
                  <a:extLst>
                    <a:ext uri="{9D8B030D-6E8A-4147-A177-3AD203B41FA5}">
                      <a16:colId xmlns:a16="http://schemas.microsoft.com/office/drawing/2014/main" val="20003"/>
                    </a:ext>
                  </a:extLst>
                </a:gridCol>
                <a:gridCol w="1983710">
                  <a:extLst>
                    <a:ext uri="{9D8B030D-6E8A-4147-A177-3AD203B41FA5}">
                      <a16:colId xmlns:a16="http://schemas.microsoft.com/office/drawing/2014/main" val="20004"/>
                    </a:ext>
                  </a:extLst>
                </a:gridCol>
              </a:tblGrid>
              <a:tr h="976982">
                <a:tc>
                  <a:txBody>
                    <a:bodyPr/>
                    <a:lstStyle/>
                    <a:p>
                      <a:pPr>
                        <a:defRPr sz="1200" b="1">
                          <a:solidFill>
                            <a:srgbClr val="FFFFFF"/>
                          </a:solidFill>
                          <a:latin typeface="Calibri"/>
                        </a:defRPr>
                      </a:pPr>
                      <a:r>
                        <a:rPr sz="2400"/>
                        <a:t>Configuration</a:t>
                      </a:r>
                    </a:p>
                  </a:txBody>
                  <a:tcPr>
                    <a:solidFill>
                      <a:srgbClr val="1E293B"/>
                    </a:solidFill>
                  </a:tcPr>
                </a:tc>
                <a:tc>
                  <a:txBody>
                    <a:bodyPr/>
                    <a:lstStyle/>
                    <a:p>
                      <a:pPr>
                        <a:defRPr sz="1200" b="1">
                          <a:solidFill>
                            <a:srgbClr val="FFFFFF"/>
                          </a:solidFill>
                          <a:latin typeface="Calibri"/>
                        </a:defRPr>
                      </a:pPr>
                      <a:r>
                        <a:rPr sz="2400"/>
                        <a:t>Lateral F1</a:t>
                      </a:r>
                    </a:p>
                  </a:txBody>
                  <a:tcPr>
                    <a:solidFill>
                      <a:srgbClr val="1E293B"/>
                    </a:solidFill>
                  </a:tcPr>
                </a:tc>
                <a:tc>
                  <a:txBody>
                    <a:bodyPr/>
                    <a:lstStyle/>
                    <a:p>
                      <a:pPr>
                        <a:defRPr sz="1200" b="1">
                          <a:solidFill>
                            <a:srgbClr val="FFFFFF"/>
                          </a:solidFill>
                          <a:latin typeface="Calibri"/>
                        </a:defRPr>
                      </a:pPr>
                      <a:r>
                        <a:rPr sz="2400"/>
                        <a:t>Ransom F1</a:t>
                      </a:r>
                    </a:p>
                  </a:txBody>
                  <a:tcPr>
                    <a:solidFill>
                      <a:srgbClr val="1E293B"/>
                    </a:solidFill>
                  </a:tcPr>
                </a:tc>
                <a:tc>
                  <a:txBody>
                    <a:bodyPr/>
                    <a:lstStyle/>
                    <a:p>
                      <a:pPr>
                        <a:defRPr sz="1200" b="1">
                          <a:solidFill>
                            <a:srgbClr val="FFFFFF"/>
                          </a:solidFill>
                          <a:latin typeface="Calibri"/>
                        </a:defRPr>
                      </a:pPr>
                      <a:r>
                        <a:rPr sz="2400"/>
                        <a:t>Overall F1</a:t>
                      </a:r>
                    </a:p>
                  </a:txBody>
                  <a:tcPr>
                    <a:solidFill>
                      <a:srgbClr val="1E293B"/>
                    </a:solidFill>
                  </a:tcPr>
                </a:tc>
                <a:tc>
                  <a:txBody>
                    <a:bodyPr/>
                    <a:lstStyle/>
                    <a:p>
                      <a:pPr>
                        <a:defRPr sz="1200" b="1">
                          <a:solidFill>
                            <a:srgbClr val="FFFFFF"/>
                          </a:solidFill>
                          <a:latin typeface="Calibri"/>
                        </a:defRPr>
                      </a:pPr>
                      <a:r>
                        <a:rPr sz="2400"/>
                        <a:t>Latency</a:t>
                      </a:r>
                    </a:p>
                  </a:txBody>
                  <a:tcPr>
                    <a:solidFill>
                      <a:srgbClr val="1E293B"/>
                    </a:solidFill>
                  </a:tcPr>
                </a:tc>
                <a:extLst>
                  <a:ext uri="{0D108BD9-81ED-4DB2-BD59-A6C34878D82A}">
                    <a16:rowId xmlns:a16="http://schemas.microsoft.com/office/drawing/2014/main" val="10000"/>
                  </a:ext>
                </a:extLst>
              </a:tr>
              <a:tr h="976982">
                <a:tc>
                  <a:txBody>
                    <a:bodyPr/>
                    <a:lstStyle/>
                    <a:p>
                      <a:pPr>
                        <a:defRPr sz="1200" b="0">
                          <a:solidFill>
                            <a:srgbClr val="231F20"/>
                          </a:solidFill>
                          <a:latin typeface="Calibri"/>
                        </a:defRPr>
                      </a:pPr>
                      <a:r>
                        <a:rPr sz="2400"/>
                        <a:t>(a) LSA Stream Only</a:t>
                      </a:r>
                    </a:p>
                  </a:txBody>
                  <a:tcPr/>
                </a:tc>
                <a:tc>
                  <a:txBody>
                    <a:bodyPr/>
                    <a:lstStyle/>
                    <a:p>
                      <a:pPr>
                        <a:defRPr sz="1200" b="0">
                          <a:solidFill>
                            <a:srgbClr val="231F20"/>
                          </a:solidFill>
                          <a:latin typeface="Calibri"/>
                        </a:defRPr>
                      </a:pPr>
                      <a:r>
                        <a:rPr sz="2400"/>
                        <a:t>99.38%</a:t>
                      </a:r>
                    </a:p>
                  </a:txBody>
                  <a:tcPr/>
                </a:tc>
                <a:tc>
                  <a:txBody>
                    <a:bodyPr/>
                    <a:lstStyle/>
                    <a:p>
                      <a:pPr>
                        <a:defRPr sz="1200" b="0">
                          <a:solidFill>
                            <a:srgbClr val="231F20"/>
                          </a:solidFill>
                          <a:latin typeface="Calibri"/>
                        </a:defRPr>
                      </a:pPr>
                      <a:r>
                        <a:rPr sz="2400"/>
                        <a:t>0.00% (Blind)</a:t>
                      </a:r>
                    </a:p>
                  </a:txBody>
                  <a:tcPr/>
                </a:tc>
                <a:tc>
                  <a:txBody>
                    <a:bodyPr/>
                    <a:lstStyle/>
                    <a:p>
                      <a:pPr>
                        <a:defRPr sz="1200" b="0">
                          <a:solidFill>
                            <a:srgbClr val="231F20"/>
                          </a:solidFill>
                          <a:latin typeface="Calibri"/>
                        </a:defRPr>
                      </a:pPr>
                      <a:r>
                        <a:rPr sz="2400"/>
                        <a:t>49.69%</a:t>
                      </a:r>
                    </a:p>
                  </a:txBody>
                  <a:tcPr/>
                </a:tc>
                <a:tc>
                  <a:txBody>
                    <a:bodyPr/>
                    <a:lstStyle/>
                    <a:p>
                      <a:pPr>
                        <a:defRPr sz="1200" b="0">
                          <a:solidFill>
                            <a:srgbClr val="231F20"/>
                          </a:solidFill>
                          <a:latin typeface="Calibri"/>
                        </a:defRPr>
                      </a:pPr>
                      <a:r>
                        <a:rPr sz="2400"/>
                        <a:t>48.17 ms</a:t>
                      </a:r>
                    </a:p>
                  </a:txBody>
                  <a:tcPr/>
                </a:tc>
                <a:extLst>
                  <a:ext uri="{0D108BD9-81ED-4DB2-BD59-A6C34878D82A}">
                    <a16:rowId xmlns:a16="http://schemas.microsoft.com/office/drawing/2014/main" val="10001"/>
                  </a:ext>
                </a:extLst>
              </a:tr>
              <a:tr h="976982">
                <a:tc>
                  <a:txBody>
                    <a:bodyPr/>
                    <a:lstStyle/>
                    <a:p>
                      <a:pPr>
                        <a:defRPr sz="1200" b="0">
                          <a:solidFill>
                            <a:srgbClr val="231F20"/>
                          </a:solidFill>
                          <a:latin typeface="Calibri"/>
                        </a:defRPr>
                      </a:pPr>
                      <a:r>
                        <a:rPr sz="2400"/>
                        <a:t>(b) BPD Stream Only</a:t>
                      </a:r>
                    </a:p>
                  </a:txBody>
                  <a:tcPr/>
                </a:tc>
                <a:tc>
                  <a:txBody>
                    <a:bodyPr/>
                    <a:lstStyle/>
                    <a:p>
                      <a:pPr>
                        <a:defRPr sz="1200" b="0">
                          <a:solidFill>
                            <a:srgbClr val="231F20"/>
                          </a:solidFill>
                          <a:latin typeface="Calibri"/>
                        </a:defRPr>
                      </a:pPr>
                      <a:r>
                        <a:rPr sz="2400"/>
                        <a:t>0.00% (Blind)</a:t>
                      </a:r>
                    </a:p>
                  </a:txBody>
                  <a:tcPr/>
                </a:tc>
                <a:tc>
                  <a:txBody>
                    <a:bodyPr/>
                    <a:lstStyle/>
                    <a:p>
                      <a:pPr>
                        <a:defRPr sz="1200" b="0">
                          <a:solidFill>
                            <a:srgbClr val="231F20"/>
                          </a:solidFill>
                          <a:latin typeface="Calibri"/>
                        </a:defRPr>
                      </a:pPr>
                      <a:r>
                        <a:rPr sz="2400"/>
                        <a:t>100.00%</a:t>
                      </a:r>
                    </a:p>
                  </a:txBody>
                  <a:tcPr/>
                </a:tc>
                <a:tc>
                  <a:txBody>
                    <a:bodyPr/>
                    <a:lstStyle/>
                    <a:p>
                      <a:pPr>
                        <a:defRPr sz="1200" b="0">
                          <a:solidFill>
                            <a:srgbClr val="231F20"/>
                          </a:solidFill>
                          <a:latin typeface="Calibri"/>
                        </a:defRPr>
                      </a:pPr>
                      <a:r>
                        <a:rPr sz="2400"/>
                        <a:t>50.00%</a:t>
                      </a:r>
                    </a:p>
                  </a:txBody>
                  <a:tcPr/>
                </a:tc>
                <a:tc>
                  <a:txBody>
                    <a:bodyPr/>
                    <a:lstStyle/>
                    <a:p>
                      <a:pPr>
                        <a:defRPr sz="1200" b="0">
                          <a:solidFill>
                            <a:srgbClr val="231F20"/>
                          </a:solidFill>
                          <a:latin typeface="Calibri"/>
                        </a:defRPr>
                      </a:pPr>
                      <a:r>
                        <a:rPr sz="2400"/>
                        <a:t>31.73 ms</a:t>
                      </a:r>
                    </a:p>
                  </a:txBody>
                  <a:tcPr/>
                </a:tc>
                <a:extLst>
                  <a:ext uri="{0D108BD9-81ED-4DB2-BD59-A6C34878D82A}">
                    <a16:rowId xmlns:a16="http://schemas.microsoft.com/office/drawing/2014/main" val="10002"/>
                  </a:ext>
                </a:extLst>
              </a:tr>
              <a:tr h="976982">
                <a:tc>
                  <a:txBody>
                    <a:bodyPr/>
                    <a:lstStyle/>
                    <a:p>
                      <a:pPr>
                        <a:defRPr sz="1200" b="0">
                          <a:solidFill>
                            <a:srgbClr val="231F20"/>
                          </a:solidFill>
                          <a:latin typeface="Calibri"/>
                        </a:defRPr>
                      </a:pPr>
                      <a:r>
                        <a:rPr sz="2400"/>
                        <a:t>(c) Unified Single SLM</a:t>
                      </a:r>
                    </a:p>
                  </a:txBody>
                  <a:tcPr/>
                </a:tc>
                <a:tc>
                  <a:txBody>
                    <a:bodyPr/>
                    <a:lstStyle/>
                    <a:p>
                      <a:pPr>
                        <a:defRPr sz="1200" b="0">
                          <a:solidFill>
                            <a:srgbClr val="231F20"/>
                          </a:solidFill>
                          <a:latin typeface="Calibri"/>
                        </a:defRPr>
                      </a:pPr>
                      <a:r>
                        <a:rPr sz="2400"/>
                        <a:t>90.40%</a:t>
                      </a:r>
                    </a:p>
                  </a:txBody>
                  <a:tcPr/>
                </a:tc>
                <a:tc>
                  <a:txBody>
                    <a:bodyPr/>
                    <a:lstStyle/>
                    <a:p>
                      <a:pPr>
                        <a:defRPr sz="1200" b="0">
                          <a:solidFill>
                            <a:srgbClr val="231F20"/>
                          </a:solidFill>
                          <a:latin typeface="Calibri"/>
                        </a:defRPr>
                      </a:pPr>
                      <a:r>
                        <a:rPr sz="2400"/>
                        <a:t>92.00%</a:t>
                      </a:r>
                    </a:p>
                  </a:txBody>
                  <a:tcPr/>
                </a:tc>
                <a:tc>
                  <a:txBody>
                    <a:bodyPr/>
                    <a:lstStyle/>
                    <a:p>
                      <a:pPr>
                        <a:defRPr sz="1200" b="0">
                          <a:solidFill>
                            <a:srgbClr val="231F20"/>
                          </a:solidFill>
                          <a:latin typeface="Calibri"/>
                        </a:defRPr>
                      </a:pPr>
                      <a:r>
                        <a:rPr sz="2400"/>
                        <a:t>91.20%</a:t>
                      </a:r>
                    </a:p>
                  </a:txBody>
                  <a:tcPr/>
                </a:tc>
                <a:tc>
                  <a:txBody>
                    <a:bodyPr/>
                    <a:lstStyle/>
                    <a:p>
                      <a:pPr>
                        <a:defRPr sz="1200" b="0">
                          <a:solidFill>
                            <a:srgbClr val="231F20"/>
                          </a:solidFill>
                          <a:latin typeface="Calibri"/>
                        </a:defRPr>
                      </a:pPr>
                      <a:r>
                        <a:rPr sz="2400"/>
                        <a:t>94.60 ms</a:t>
                      </a:r>
                    </a:p>
                  </a:txBody>
                  <a:tcPr/>
                </a:tc>
                <a:extLst>
                  <a:ext uri="{0D108BD9-81ED-4DB2-BD59-A6C34878D82A}">
                    <a16:rowId xmlns:a16="http://schemas.microsoft.com/office/drawing/2014/main" val="10003"/>
                  </a:ext>
                </a:extLst>
              </a:tr>
              <a:tr h="1411196">
                <a:tc>
                  <a:txBody>
                    <a:bodyPr/>
                    <a:lstStyle/>
                    <a:p>
                      <a:pPr>
                        <a:defRPr sz="1200" b="1">
                          <a:solidFill>
                            <a:srgbClr val="145014"/>
                          </a:solidFill>
                          <a:latin typeface="Calibri"/>
                        </a:defRPr>
                      </a:pPr>
                      <a:r>
                        <a:rPr sz="2400"/>
                        <a:t>(d) EdgeShield Dual-Stream</a:t>
                      </a:r>
                    </a:p>
                  </a:txBody>
                  <a:tcPr>
                    <a:solidFill>
                      <a:srgbClr val="E6F5E6"/>
                    </a:solidFill>
                  </a:tcPr>
                </a:tc>
                <a:tc>
                  <a:txBody>
                    <a:bodyPr/>
                    <a:lstStyle/>
                    <a:p>
                      <a:pPr>
                        <a:defRPr sz="1200" b="1">
                          <a:solidFill>
                            <a:srgbClr val="145014"/>
                          </a:solidFill>
                          <a:latin typeface="Calibri"/>
                        </a:defRPr>
                      </a:pPr>
                      <a:r>
                        <a:rPr sz="2400"/>
                        <a:t>99.38%</a:t>
                      </a:r>
                    </a:p>
                  </a:txBody>
                  <a:tcPr>
                    <a:solidFill>
                      <a:srgbClr val="E6F5E6"/>
                    </a:solidFill>
                  </a:tcPr>
                </a:tc>
                <a:tc>
                  <a:txBody>
                    <a:bodyPr/>
                    <a:lstStyle/>
                    <a:p>
                      <a:pPr>
                        <a:defRPr sz="1200" b="1">
                          <a:solidFill>
                            <a:srgbClr val="145014"/>
                          </a:solidFill>
                          <a:latin typeface="Calibri"/>
                        </a:defRPr>
                      </a:pPr>
                      <a:r>
                        <a:rPr sz="2400"/>
                        <a:t>100.00%</a:t>
                      </a:r>
                    </a:p>
                  </a:txBody>
                  <a:tcPr>
                    <a:solidFill>
                      <a:srgbClr val="E6F5E6"/>
                    </a:solidFill>
                  </a:tcPr>
                </a:tc>
                <a:tc>
                  <a:txBody>
                    <a:bodyPr/>
                    <a:lstStyle/>
                    <a:p>
                      <a:pPr>
                        <a:defRPr sz="1200" b="1">
                          <a:solidFill>
                            <a:srgbClr val="145014"/>
                          </a:solidFill>
                          <a:latin typeface="Calibri"/>
                        </a:defRPr>
                      </a:pPr>
                      <a:r>
                        <a:rPr sz="2400"/>
                        <a:t>99.38%</a:t>
                      </a:r>
                    </a:p>
                  </a:txBody>
                  <a:tcPr>
                    <a:solidFill>
                      <a:srgbClr val="E6F5E6"/>
                    </a:solidFill>
                  </a:tcPr>
                </a:tc>
                <a:tc>
                  <a:txBody>
                    <a:bodyPr/>
                    <a:lstStyle/>
                    <a:p>
                      <a:pPr>
                        <a:defRPr sz="1200" b="1">
                          <a:solidFill>
                            <a:srgbClr val="145014"/>
                          </a:solidFill>
                          <a:latin typeface="Calibri"/>
                        </a:defRPr>
                      </a:pPr>
                      <a:r>
                        <a:rPr sz="2400" dirty="0"/>
                        <a:t>11.71 </a:t>
                      </a:r>
                      <a:r>
                        <a:rPr sz="2400" dirty="0" err="1"/>
                        <a:t>ms</a:t>
                      </a:r>
                      <a:endParaRPr sz="2400" dirty="0"/>
                    </a:p>
                  </a:txBody>
                  <a:tcPr>
                    <a:solidFill>
                      <a:srgbClr val="E6F5E6"/>
                    </a:solidFill>
                  </a:tcPr>
                </a:tc>
                <a:extLst>
                  <a:ext uri="{0D108BD9-81ED-4DB2-BD59-A6C34878D82A}">
                    <a16:rowId xmlns:a16="http://schemas.microsoft.com/office/drawing/2014/main" val="10004"/>
                  </a:ext>
                </a:extLst>
              </a:tr>
            </a:tbl>
          </a:graphicData>
        </a:graphic>
      </p:graphicFrame>
      <p:sp>
        <p:nvSpPr>
          <p:cNvPr id="193" name="TextBox 192"/>
          <p:cNvSpPr txBox="1"/>
          <p:nvPr/>
        </p:nvSpPr>
        <p:spPr>
          <a:xfrm>
            <a:off x="10789920" y="2103120"/>
            <a:ext cx="6858000" cy="4349909"/>
          </a:xfrm>
          <a:prstGeom prst="rect">
            <a:avLst/>
          </a:prstGeom>
          <a:noFill/>
        </p:spPr>
        <p:txBody>
          <a:bodyPr wrap="square">
            <a:spAutoFit/>
          </a:bodyPr>
          <a:lstStyle/>
          <a:p>
            <a:pPr>
              <a:spcAft>
                <a:spcPts val="1000"/>
              </a:spcAft>
            </a:pPr>
            <a:r>
              <a:rPr sz="2000" b="1" dirty="0">
                <a:solidFill>
                  <a:srgbClr val="231F20"/>
                </a:solidFill>
              </a:rPr>
              <a:t>The Cross-Domain Collision Problem: </a:t>
            </a:r>
            <a:r>
              <a:rPr sz="2000" b="0" dirty="0">
                <a:solidFill>
                  <a:srgbClr val="231F20"/>
                </a:solidFill>
              </a:rPr>
              <a:t>Interleaving authentication telemetry and file-system activity into a single SLM creates semantic noise. Token distributions clash, dropping overall F1 to 91.20%.</a:t>
            </a:r>
          </a:p>
          <a:p>
            <a:pPr>
              <a:spcAft>
                <a:spcPts val="1000"/>
              </a:spcAft>
            </a:pPr>
            <a:r>
              <a:rPr sz="2000" b="1" dirty="0">
                <a:solidFill>
                  <a:srgbClr val="231F20"/>
                </a:solidFill>
              </a:rPr>
              <a:t>Decoupled Specialization Advantage: </a:t>
            </a:r>
            <a:r>
              <a:rPr sz="2000" b="0" dirty="0">
                <a:solidFill>
                  <a:srgbClr val="231F20"/>
                </a:solidFill>
              </a:rPr>
              <a:t>Separating the streams delivers +8.18 percentage points higher Macro F1 and reduces inference latency by 87.6%.</a:t>
            </a:r>
          </a:p>
          <a:p>
            <a:pPr>
              <a:spcAft>
                <a:spcPts val="1000"/>
              </a:spcAft>
            </a:pPr>
            <a:r>
              <a:rPr sz="2000" b="1" dirty="0">
                <a:solidFill>
                  <a:srgbClr val="231F20"/>
                </a:solidFill>
              </a:rPr>
              <a:t>Multi-Stage Attack Campaign Validation: </a:t>
            </a:r>
            <a:r>
              <a:rPr sz="2000" b="0" dirty="0">
                <a:solidFill>
                  <a:srgbClr val="231F20"/>
                </a:solidFill>
              </a:rPr>
              <a:t>Tested against ALPHV/</a:t>
            </a:r>
            <a:r>
              <a:rPr sz="2000" b="0" dirty="0" err="1">
                <a:solidFill>
                  <a:srgbClr val="231F20"/>
                </a:solidFill>
              </a:rPr>
              <a:t>BlackCat</a:t>
            </a:r>
            <a:r>
              <a:rPr sz="2000" b="0" dirty="0">
                <a:solidFill>
                  <a:srgbClr val="231F20"/>
                </a:solidFill>
              </a:rPr>
              <a:t> (Pass-the-Hash -&gt; </a:t>
            </a:r>
            <a:r>
              <a:rPr sz="2000" b="0" dirty="0" err="1">
                <a:solidFill>
                  <a:srgbClr val="231F20"/>
                </a:solidFill>
              </a:rPr>
              <a:t>PsExec</a:t>
            </a:r>
            <a:r>
              <a:rPr sz="2000" b="0" dirty="0">
                <a:solidFill>
                  <a:srgbClr val="231F20"/>
                </a:solidFill>
              </a:rPr>
              <a:t> -&gt; Shadow Deletion -&gt; Defense Impairment -&gt; Encryption) and </a:t>
            </a:r>
            <a:r>
              <a:rPr sz="2000" b="0" dirty="0" err="1">
                <a:solidFill>
                  <a:srgbClr val="231F20"/>
                </a:solidFill>
              </a:rPr>
              <a:t>LockBit</a:t>
            </a:r>
            <a:r>
              <a:rPr sz="2000" b="0" dirty="0">
                <a:solidFill>
                  <a:srgbClr val="231F20"/>
                </a:solidFill>
              </a:rPr>
              <a:t> 3.0 (WMI -&gt; VSS Deletion -&gt; Exfiltration). The correlation engine fuses disparate events into a single actionable incident.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 name="Picture 190" descr="image.png"/>
          <p:cNvPicPr>
            <a:picLocks noChangeAspect="1"/>
          </p:cNvPicPr>
          <p:nvPr/>
        </p:nvPicPr>
        <p:blipFill>
          <a:blip r:embed="rId2"/>
          <a:stretch>
            <a:fillRect/>
          </a:stretch>
        </p:blipFill>
        <p:spPr>
          <a:xfrm>
            <a:off x="16322124" y="7754894"/>
            <a:ext cx="4118443" cy="3654183"/>
          </a:xfrm>
          <a:prstGeom prst="rect">
            <a:avLst/>
          </a:prstGeom>
        </p:spPr>
      </p:pic>
      <p:pic>
        <p:nvPicPr>
          <p:cNvPr id="190" name="Picture 189" descr="image.png"/>
          <p:cNvPicPr>
            <a:picLocks noChangeAspect="1"/>
          </p:cNvPicPr>
          <p:nvPr/>
        </p:nvPicPr>
        <p:blipFill>
          <a:blip r:embed="rId2"/>
          <a:stretch>
            <a:fillRect/>
          </a:stretch>
        </p:blipFill>
        <p:spPr>
          <a:xfrm rot="10800000">
            <a:off x="-2059222" y="-789427"/>
            <a:ext cx="4118443" cy="3654183"/>
          </a:xfrm>
          <a:prstGeom prst="rect">
            <a:avLst/>
          </a:prstGeom>
        </p:spPr>
      </p:pic>
      <p:sp>
        <p:nvSpPr>
          <p:cNvPr id="188" name="Google Shape;188;g3b824e2dc5f_0_25"/>
          <p:cNvSpPr txBox="1"/>
          <p:nvPr/>
        </p:nvSpPr>
        <p:spPr>
          <a:xfrm>
            <a:off x="1998300" y="581800"/>
            <a:ext cx="15940200" cy="3336600"/>
          </a:xfrm>
          <a:prstGeom prst="rect">
            <a:avLst/>
          </a:prstGeom>
          <a:noFill/>
          <a:ln>
            <a:noFill/>
          </a:ln>
        </p:spPr>
        <p:txBody>
          <a:bodyPr spcFirstLastPara="1" wrap="square" lIns="0" tIns="0" rIns="0" bIns="0" anchor="t" anchorCtr="0">
            <a:spAutoFit/>
          </a:bodyPr>
          <a:lstStyle/>
          <a:p>
            <a:pPr marL="0" lvl="0" indent="0" algn="l" rtl="0">
              <a:lnSpc>
                <a:spcPct val="138005"/>
              </a:lnSpc>
              <a:spcBef>
                <a:spcPts val="0"/>
              </a:spcBef>
              <a:spcAft>
                <a:spcPts val="0"/>
              </a:spcAft>
              <a:buClr>
                <a:schemeClr val="dk1"/>
              </a:buClr>
              <a:buSzPts val="1100"/>
              <a:buFont typeface="Arial"/>
              <a:buNone/>
            </a:pPr>
            <a:r>
              <a:rPr sz="4400" b="1">
                <a:solidFill>
                  <a:srgbClr val="231F20"/>
                </a:solidFill>
                <a:latin typeface="Arial Rounded"/>
              </a:rPr>
              <a:t>Explainable AI: Tier 2 Generative Reasoner</a:t>
            </a:r>
            <a:endParaRPr sz="5765" b="1">
              <a:solidFill>
                <a:srgbClr val="231F20"/>
              </a:solidFill>
              <a:latin typeface="Arial Rounded"/>
              <a:ea typeface="Arial Rounded"/>
              <a:cs typeface="Arial Rounded"/>
              <a:sym typeface="Arial Rounded"/>
            </a:endParaRPr>
          </a:p>
          <a:p>
            <a:pPr marL="0" lvl="0" indent="0" algn="l" rtl="0">
              <a:lnSpc>
                <a:spcPct val="138005"/>
              </a:lnSpc>
              <a:spcBef>
                <a:spcPts val="0"/>
              </a:spcBef>
              <a:spcAft>
                <a:spcPts val="0"/>
              </a:spcAft>
              <a:buClr>
                <a:schemeClr val="dk1"/>
              </a:buClr>
              <a:buSzPts val="1100"/>
              <a:buFont typeface="Arial"/>
              <a:buNone/>
            </a:pPr>
            <a:endParaRPr sz="5765" b="1">
              <a:solidFill>
                <a:srgbClr val="231F20"/>
              </a:solidFill>
              <a:latin typeface="Arial Rounded"/>
              <a:ea typeface="Arial Rounded"/>
              <a:cs typeface="Arial Rounded"/>
              <a:sym typeface="Arial Rounded"/>
            </a:endParaRPr>
          </a:p>
          <a:p>
            <a:pPr marL="0" marR="0" lvl="0" indent="0" algn="l" rtl="0">
              <a:lnSpc>
                <a:spcPct val="138005"/>
              </a:lnSpc>
              <a:spcBef>
                <a:spcPts val="0"/>
              </a:spcBef>
              <a:spcAft>
                <a:spcPts val="0"/>
              </a:spcAft>
              <a:buClr>
                <a:srgbClr val="000000"/>
              </a:buClr>
              <a:buSzPts val="5765"/>
              <a:buFont typeface="Arial"/>
              <a:buNone/>
            </a:pPr>
            <a:endParaRPr sz="5765" b="1">
              <a:solidFill>
                <a:srgbClr val="231F20"/>
              </a:solidFill>
              <a:latin typeface="Arial Rounded"/>
              <a:ea typeface="Arial Rounded"/>
              <a:cs typeface="Arial Rounded"/>
              <a:sym typeface="Arial Rounded"/>
            </a:endParaRPr>
          </a:p>
        </p:txBody>
      </p:sp>
      <p:sp>
        <p:nvSpPr>
          <p:cNvPr id="189" name="Google Shape;189;g3b824e2dc5f_0_25"/>
          <p:cNvSpPr txBox="1"/>
          <p:nvPr/>
        </p:nvSpPr>
        <p:spPr>
          <a:xfrm>
            <a:off x="927922" y="2957378"/>
            <a:ext cx="15394200" cy="4526367"/>
          </a:xfrm>
          <a:prstGeom prst="rect">
            <a:avLst/>
          </a:prstGeom>
          <a:noFill/>
          <a:ln>
            <a:noFill/>
          </a:ln>
        </p:spPr>
        <p:txBody>
          <a:bodyPr spcFirstLastPara="1" wrap="square" lIns="0" tIns="0" rIns="0" bIns="0" anchor="t" anchorCtr="0">
            <a:spAutoFit/>
          </a:bodyPr>
          <a:lstStyle/>
          <a:p>
            <a:pPr marL="0" indent="0" algn="l" rtl="0">
              <a:lnSpc>
                <a:spcPct val="115000"/>
              </a:lnSpc>
              <a:spcBef>
                <a:spcPts val="1200"/>
              </a:spcBef>
              <a:spcAft>
                <a:spcPts val="1000"/>
              </a:spcAft>
              <a:buNone/>
            </a:pPr>
            <a:r>
              <a:rPr sz="2400" b="1" dirty="0">
                <a:solidFill>
                  <a:srgbClr val="231F20"/>
                </a:solidFill>
              </a:rPr>
              <a:t>Tier 2 Generative Reasoner Role: </a:t>
            </a:r>
            <a:r>
              <a:rPr sz="2400" b="0" dirty="0">
                <a:solidFill>
                  <a:srgbClr val="231F20"/>
                </a:solidFill>
              </a:rPr>
              <a:t>High-speed Tier 1 (44M </a:t>
            </a:r>
            <a:r>
              <a:rPr sz="2400" b="0" dirty="0" err="1">
                <a:solidFill>
                  <a:srgbClr val="231F20"/>
                </a:solidFill>
              </a:rPr>
              <a:t>DeBERTa</a:t>
            </a:r>
            <a:r>
              <a:rPr sz="2400" b="0" dirty="0">
                <a:solidFill>
                  <a:srgbClr val="231F20"/>
                </a:solidFill>
              </a:rPr>
              <a:t>) filters 99.9% of telemetry in 11.7 </a:t>
            </a:r>
            <a:r>
              <a:rPr sz="2400" b="0" dirty="0" err="1">
                <a:solidFill>
                  <a:srgbClr val="231F20"/>
                </a:solidFill>
              </a:rPr>
              <a:t>ms.</a:t>
            </a:r>
            <a:r>
              <a:rPr sz="2400" b="0" dirty="0">
                <a:solidFill>
                  <a:srgbClr val="231F20"/>
                </a:solidFill>
              </a:rPr>
              <a:t> When an anomaly is detected, Tier 2 (Qwen2.5-1.5B / Phi-3 Mini) executes conditional autoregressive generation to construct structured incident explanations.</a:t>
            </a:r>
            <a:endParaRPr sz="4000" dirty="0">
              <a:solidFill>
                <a:schemeClr val="dk1"/>
              </a:solidFill>
            </a:endParaRPr>
          </a:p>
          <a:p>
            <a:pPr>
              <a:spcAft>
                <a:spcPts val="1000"/>
              </a:spcAft>
            </a:pPr>
            <a:r>
              <a:rPr sz="2400" b="1" dirty="0">
                <a:solidFill>
                  <a:srgbClr val="231F20"/>
                </a:solidFill>
              </a:rPr>
              <a:t>Automated MITRE ATT&amp;CK Mapping: </a:t>
            </a:r>
            <a:r>
              <a:rPr sz="2400" b="0" dirty="0">
                <a:solidFill>
                  <a:srgbClr val="231F20"/>
                </a:solidFill>
              </a:rPr>
              <a:t>Maps raw Sysmon/Event ID sequences directly into standardized tactic, technique, and sub-technique IDs (e.g. TA0008 -&gt; T1550.002 Pass-the-Hash) eliminating manual triage delays.</a:t>
            </a:r>
          </a:p>
          <a:p>
            <a:pPr>
              <a:spcAft>
                <a:spcPts val="1000"/>
              </a:spcAft>
            </a:pPr>
            <a:r>
              <a:rPr sz="2400" b="1" dirty="0">
                <a:solidFill>
                  <a:srgbClr val="231F20"/>
                </a:solidFill>
              </a:rPr>
              <a:t>Structured JSON Security Feeds: </a:t>
            </a:r>
            <a:r>
              <a:rPr sz="2400" b="0" dirty="0">
                <a:solidFill>
                  <a:srgbClr val="231F20"/>
                </a:solidFill>
              </a:rPr>
              <a:t>Generates machine-</a:t>
            </a:r>
            <a:r>
              <a:rPr sz="2400" b="0" dirty="0" err="1">
                <a:solidFill>
                  <a:srgbClr val="231F20"/>
                </a:solidFill>
              </a:rPr>
              <a:t>parseable</a:t>
            </a:r>
            <a:r>
              <a:rPr sz="2400" b="0" dirty="0">
                <a:solidFill>
                  <a:srgbClr val="231F20"/>
                </a:solidFill>
              </a:rPr>
              <a:t> JSON containing </a:t>
            </a:r>
            <a:r>
              <a:rPr sz="2400" b="0" dirty="0" err="1">
                <a:solidFill>
                  <a:srgbClr val="231F20"/>
                </a:solidFill>
              </a:rPr>
              <a:t>alert_id</a:t>
            </a:r>
            <a:r>
              <a:rPr sz="2400" b="0" dirty="0">
                <a:solidFill>
                  <a:srgbClr val="231F20"/>
                </a:solidFill>
              </a:rPr>
              <a:t>, severity, </a:t>
            </a:r>
            <a:r>
              <a:rPr sz="2400" b="0" dirty="0" err="1">
                <a:solidFill>
                  <a:srgbClr val="231F20"/>
                </a:solidFill>
              </a:rPr>
              <a:t>confidence_score</a:t>
            </a:r>
            <a:r>
              <a:rPr sz="2400" b="0" dirty="0">
                <a:solidFill>
                  <a:srgbClr val="231F20"/>
                </a:solidFill>
              </a:rPr>
              <a:t>, </a:t>
            </a:r>
            <a:r>
              <a:rPr sz="2400" b="0" dirty="0" err="1">
                <a:solidFill>
                  <a:srgbClr val="231F20"/>
                </a:solidFill>
              </a:rPr>
              <a:t>trigger_sequence</a:t>
            </a:r>
            <a:r>
              <a:rPr sz="2400" b="0" dirty="0">
                <a:solidFill>
                  <a:srgbClr val="231F20"/>
                </a:solidFill>
              </a:rPr>
              <a:t>, plain-language triage rationale, and recommended EDR remediation steps.</a:t>
            </a:r>
          </a:p>
          <a:p>
            <a:pPr>
              <a:spcAft>
                <a:spcPts val="1000"/>
              </a:spcAft>
            </a:pPr>
            <a:r>
              <a:rPr sz="2400" b="1" dirty="0">
                <a:solidFill>
                  <a:srgbClr val="231F20"/>
                </a:solidFill>
              </a:rPr>
              <a:t>Causal Incident Reconstruction for OT Operators: </a:t>
            </a:r>
            <a:r>
              <a:rPr sz="2400" b="0" dirty="0">
                <a:solidFill>
                  <a:srgbClr val="231F20"/>
                </a:solidFill>
              </a:rPr>
              <a:t>Translates complex event logs into transparent operator narratives ('Anomalous NTLM authentication from unmanaged IP followed by </a:t>
            </a:r>
            <a:r>
              <a:rPr sz="2400" b="0" dirty="0" err="1">
                <a:solidFill>
                  <a:srgbClr val="231F20"/>
                </a:solidFill>
              </a:rPr>
              <a:t>PsExec</a:t>
            </a:r>
            <a:r>
              <a:rPr sz="2400" b="0" dirty="0">
                <a:solidFill>
                  <a:srgbClr val="231F20"/>
                </a:solidFill>
              </a:rPr>
              <a:t> service install'), fulfilling the Explainable AI </a:t>
            </a:r>
            <a:r>
              <a:rPr lang="en-US" sz="2400" b="0" dirty="0" err="1">
                <a:solidFill>
                  <a:srgbClr val="231F20"/>
                </a:solidFill>
              </a:rPr>
              <a:t>resarch</a:t>
            </a:r>
            <a:r>
              <a:rPr sz="2400" b="0" dirty="0">
                <a:solidFill>
                  <a:srgbClr val="231F20"/>
                </a:solidFill>
              </a:rPr>
              <a:t> objective.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216"/>
        <p:cNvGrpSpPr/>
        <p:nvPr/>
      </p:nvGrpSpPr>
      <p:grpSpPr>
        <a:xfrm>
          <a:off x="0" y="0"/>
          <a:ext cx="0" cy="0"/>
          <a:chOff x="0" y="0"/>
          <a:chExt cx="0" cy="0"/>
        </a:xfrm>
      </p:grpSpPr>
      <p:sp>
        <p:nvSpPr>
          <p:cNvPr id="217" name="Google Shape;217;p8"/>
          <p:cNvSpPr txBox="1"/>
          <p:nvPr/>
        </p:nvSpPr>
        <p:spPr>
          <a:xfrm>
            <a:off x="1998300" y="581800"/>
            <a:ext cx="15940200" cy="1200000"/>
          </a:xfrm>
          <a:prstGeom prst="rect">
            <a:avLst/>
          </a:prstGeom>
          <a:noFill/>
          <a:ln>
            <a:noFill/>
          </a:ln>
        </p:spPr>
        <p:txBody>
          <a:bodyPr spcFirstLastPara="1" wrap="square" lIns="0" tIns="0" rIns="0" bIns="0" anchor="t" anchorCtr="0">
            <a:spAutoFit/>
          </a:bodyPr>
          <a:lstStyle/>
          <a:p>
            <a:pPr marL="0" marR="0" lvl="0" indent="0" algn="l" rtl="0">
              <a:lnSpc>
                <a:spcPct val="138005"/>
              </a:lnSpc>
              <a:spcBef>
                <a:spcPts val="0"/>
              </a:spcBef>
              <a:spcAft>
                <a:spcPts val="0"/>
              </a:spcAft>
              <a:buClr>
                <a:srgbClr val="000000"/>
              </a:buClr>
              <a:buSzPts val="5765"/>
              <a:buFont typeface="Arial"/>
              <a:buNone/>
              <a:defRPr sz="4000" b="1">
                <a:solidFill>
                  <a:srgbClr val="231F20"/>
                </a:solidFill>
                <a:latin typeface="Arial Rounded"/>
              </a:defRPr>
            </a:pPr>
            <a:r>
              <a:t>Research Timeline &amp; Milestones</a:t>
            </a:r>
            <a:endParaRPr sz="1400" b="0" i="0" u="none" strike="noStrike" cap="none">
              <a:solidFill>
                <a:srgbClr val="000000"/>
              </a:solidFill>
              <a:latin typeface="Arial"/>
              <a:ea typeface="Arial"/>
              <a:cs typeface="Arial"/>
              <a:sym typeface="Arial"/>
            </a:endParaRPr>
          </a:p>
        </p:txBody>
      </p:sp>
      <p:sp>
        <p:nvSpPr>
          <p:cNvPr id="218" name="Google Shape;218;p8"/>
          <p:cNvSpPr/>
          <p:nvPr/>
        </p:nvSpPr>
        <p:spPr>
          <a:xfrm>
            <a:off x="16322124" y="7754894"/>
            <a:ext cx="4118443" cy="3654183"/>
          </a:xfrm>
          <a:custGeom>
            <a:avLst/>
            <a:gdLst/>
            <a:ahLst/>
            <a:cxnLst/>
            <a:rect l="l" t="t" r="r" b="b"/>
            <a:pathLst>
              <a:path w="4118443" h="3654183" extrusionOk="0">
                <a:moveTo>
                  <a:pt x="0" y="0"/>
                </a:moveTo>
                <a:lnTo>
                  <a:pt x="4118443" y="0"/>
                </a:lnTo>
                <a:lnTo>
                  <a:pt x="4118443" y="3654183"/>
                </a:lnTo>
                <a:lnTo>
                  <a:pt x="0" y="365418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8"/>
          <p:cNvSpPr/>
          <p:nvPr/>
        </p:nvSpPr>
        <p:spPr>
          <a:xfrm rot="10800000">
            <a:off x="-2059222" y="-798391"/>
            <a:ext cx="4118443" cy="3654183"/>
          </a:xfrm>
          <a:custGeom>
            <a:avLst/>
            <a:gdLst/>
            <a:ahLst/>
            <a:cxnLst/>
            <a:rect l="l" t="t" r="r" b="b"/>
            <a:pathLst>
              <a:path w="4118443" h="3654183" extrusionOk="0">
                <a:moveTo>
                  <a:pt x="4118444" y="3654182"/>
                </a:moveTo>
                <a:lnTo>
                  <a:pt x="0" y="3654182"/>
                </a:lnTo>
                <a:lnTo>
                  <a:pt x="0" y="0"/>
                </a:lnTo>
                <a:lnTo>
                  <a:pt x="4118444" y="0"/>
                </a:lnTo>
                <a:lnTo>
                  <a:pt x="4118444" y="3654182"/>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220" name="Google Shape;220;p8"/>
          <p:cNvGraphicFramePr/>
          <p:nvPr>
            <p:extLst>
              <p:ext uri="{D42A27DB-BD31-4B8C-83A1-F6EECF244321}">
                <p14:modId xmlns:p14="http://schemas.microsoft.com/office/powerpoint/2010/main" val="716037243"/>
              </p:ext>
            </p:extLst>
          </p:nvPr>
        </p:nvGraphicFramePr>
        <p:xfrm>
          <a:off x="1156447" y="1781800"/>
          <a:ext cx="16082680" cy="7779058"/>
        </p:xfrm>
        <a:graphic>
          <a:graphicData uri="http://schemas.openxmlformats.org/drawingml/2006/table">
            <a:tbl>
              <a:tblPr firstRow="1">
                <a:noFill/>
                <a:tableStyleId>{FD62060C-A9E3-43FF-8695-09CB6F05CB28}</a:tableStyleId>
              </a:tblPr>
              <a:tblGrid>
                <a:gridCol w="4020670">
                  <a:extLst>
                    <a:ext uri="{9D8B030D-6E8A-4147-A177-3AD203B41FA5}">
                      <a16:colId xmlns:a16="http://schemas.microsoft.com/office/drawing/2014/main" val="20000"/>
                    </a:ext>
                  </a:extLst>
                </a:gridCol>
                <a:gridCol w="4020670">
                  <a:extLst>
                    <a:ext uri="{9D8B030D-6E8A-4147-A177-3AD203B41FA5}">
                      <a16:colId xmlns:a16="http://schemas.microsoft.com/office/drawing/2014/main" val="20001"/>
                    </a:ext>
                  </a:extLst>
                </a:gridCol>
                <a:gridCol w="4020670">
                  <a:extLst>
                    <a:ext uri="{9D8B030D-6E8A-4147-A177-3AD203B41FA5}">
                      <a16:colId xmlns:a16="http://schemas.microsoft.com/office/drawing/2014/main" val="20002"/>
                    </a:ext>
                  </a:extLst>
                </a:gridCol>
                <a:gridCol w="4020670">
                  <a:extLst>
                    <a:ext uri="{9D8B030D-6E8A-4147-A177-3AD203B41FA5}">
                      <a16:colId xmlns:a16="http://schemas.microsoft.com/office/drawing/2014/main" val="20003"/>
                    </a:ext>
                  </a:extLst>
                </a:gridCol>
              </a:tblGrid>
              <a:tr h="441038">
                <a:tc>
                  <a:txBody>
                    <a:bodyPr/>
                    <a:lstStyle/>
                    <a:p>
                      <a:pPr>
                        <a:defRPr sz="1300" b="1">
                          <a:solidFill>
                            <a:srgbClr val="FFFFFF"/>
                          </a:solidFill>
                          <a:latin typeface="Calibri"/>
                        </a:defRPr>
                      </a:pPr>
                      <a:r>
                        <a:rPr sz="1800"/>
                        <a:t>Year</a:t>
                      </a:r>
                    </a:p>
                  </a:txBody>
                  <a:tcPr marL="35700" marR="35700" marT="35700" marB="35700">
                    <a:solidFill>
                      <a:srgbClr val="1E293B"/>
                    </a:solidFill>
                  </a:tcPr>
                </a:tc>
                <a:tc>
                  <a:txBody>
                    <a:bodyPr/>
                    <a:lstStyle/>
                    <a:p>
                      <a:pPr>
                        <a:defRPr sz="1300" b="1">
                          <a:solidFill>
                            <a:srgbClr val="FFFFFF"/>
                          </a:solidFill>
                          <a:latin typeface="Calibri"/>
                        </a:defRPr>
                      </a:pPr>
                      <a:r>
                        <a:rPr sz="1800"/>
                        <a:t>Quarter</a:t>
                      </a:r>
                    </a:p>
                  </a:txBody>
                  <a:tcPr marL="35700" marR="35700" marT="35700" marB="35700">
                    <a:solidFill>
                      <a:srgbClr val="1E293B"/>
                    </a:solidFill>
                  </a:tcPr>
                </a:tc>
                <a:tc>
                  <a:txBody>
                    <a:bodyPr/>
                    <a:lstStyle/>
                    <a:p>
                      <a:pPr>
                        <a:defRPr sz="1300" b="1">
                          <a:solidFill>
                            <a:srgbClr val="FFFFFF"/>
                          </a:solidFill>
                          <a:latin typeface="Calibri"/>
                        </a:defRPr>
                      </a:pPr>
                      <a:r>
                        <a:rPr sz="1800"/>
                        <a:t>Activities &amp; Milestones</a:t>
                      </a:r>
                    </a:p>
                  </a:txBody>
                  <a:tcPr marL="35700" marR="35700" marT="35700" marB="35700">
                    <a:solidFill>
                      <a:srgbClr val="1E293B"/>
                    </a:solidFill>
                  </a:tcPr>
                </a:tc>
                <a:tc>
                  <a:txBody>
                    <a:bodyPr/>
                    <a:lstStyle/>
                    <a:p>
                      <a:pPr>
                        <a:defRPr sz="1300" b="1">
                          <a:solidFill>
                            <a:srgbClr val="FFFFFF"/>
                          </a:solidFill>
                          <a:latin typeface="Calibri"/>
                        </a:defRPr>
                      </a:pPr>
                      <a:r>
                        <a:rPr sz="1800"/>
                        <a:t>Key Deliverables / Status</a:t>
                      </a:r>
                    </a:p>
                  </a:txBody>
                  <a:tcPr marL="35700" marR="35700" marT="35700" marB="35700">
                    <a:solidFill>
                      <a:srgbClr val="1E293B"/>
                    </a:solidFill>
                  </a:tcPr>
                </a:tc>
                <a:extLst>
                  <a:ext uri="{0D108BD9-81ED-4DB2-BD59-A6C34878D82A}">
                    <a16:rowId xmlns:a16="http://schemas.microsoft.com/office/drawing/2014/main" val="10000"/>
                  </a:ext>
                </a:extLst>
              </a:tr>
              <a:tr h="1057779">
                <a:tc>
                  <a:txBody>
                    <a:bodyPr/>
                    <a:lstStyle/>
                    <a:p>
                      <a:pPr>
                        <a:defRPr sz="1300" b="0">
                          <a:solidFill>
                            <a:srgbClr val="231F20"/>
                          </a:solidFill>
                          <a:latin typeface="Calibri"/>
                        </a:defRPr>
                      </a:pPr>
                      <a:r>
                        <a:rPr sz="1800" dirty="0"/>
                        <a:t>Year 1</a:t>
                      </a:r>
                    </a:p>
                  </a:txBody>
                  <a:tcPr marL="35700" marR="35700" marT="21425" marB="21425" anchor="ctr">
                    <a:solidFill>
                      <a:schemeClr val="accent3">
                        <a:lumMod val="20000"/>
                        <a:lumOff val="80000"/>
                      </a:schemeClr>
                    </a:solidFill>
                  </a:tcPr>
                </a:tc>
                <a:tc>
                  <a:txBody>
                    <a:bodyPr/>
                    <a:lstStyle/>
                    <a:p>
                      <a:pPr>
                        <a:defRPr sz="1300" b="0">
                          <a:solidFill>
                            <a:srgbClr val="231F20"/>
                          </a:solidFill>
                          <a:latin typeface="Calibri"/>
                        </a:defRPr>
                      </a:pPr>
                      <a:r>
                        <a:rPr sz="1800"/>
                        <a:t>Q1-Q2</a:t>
                      </a:r>
                    </a:p>
                  </a:txBody>
                  <a:tcPr marL="35700" marR="35700" marT="21425" marB="21425" anchor="ctr">
                    <a:solidFill>
                      <a:schemeClr val="accent3">
                        <a:lumMod val="20000"/>
                        <a:lumOff val="80000"/>
                      </a:schemeClr>
                    </a:solidFill>
                  </a:tcPr>
                </a:tc>
                <a:tc>
                  <a:txBody>
                    <a:bodyPr/>
                    <a:lstStyle/>
                    <a:p>
                      <a:pPr>
                        <a:defRPr sz="1300" b="0">
                          <a:solidFill>
                            <a:srgbClr val="231F20"/>
                          </a:solidFill>
                          <a:latin typeface="Calibri"/>
                        </a:defRPr>
                      </a:pPr>
                      <a:r>
                        <a:rPr sz="1800"/>
                        <a:t>Literature survey, threat taxonomy, initial OT attack surface analysis</a:t>
                      </a:r>
                    </a:p>
                  </a:txBody>
                  <a:tcPr marL="35700" marR="35700" marT="21425" marB="21425" anchor="ctr">
                    <a:solidFill>
                      <a:schemeClr val="accent3">
                        <a:lumMod val="20000"/>
                        <a:lumOff val="80000"/>
                      </a:schemeClr>
                    </a:solidFill>
                  </a:tcPr>
                </a:tc>
                <a:tc>
                  <a:txBody>
                    <a:bodyPr/>
                    <a:lstStyle/>
                    <a:p>
                      <a:pPr>
                        <a:defRPr sz="1300" b="0">
                          <a:solidFill>
                            <a:srgbClr val="231F20"/>
                          </a:solidFill>
                          <a:latin typeface="Calibri"/>
                        </a:defRPr>
                      </a:pPr>
                      <a:r>
                        <a:rPr sz="1800"/>
                        <a:t>Comprehensive literature review, initial threat taxonomy [Completed]</a:t>
                      </a:r>
                    </a:p>
                  </a:txBody>
                  <a:tcPr marL="35700" marR="35700" marT="21425" marB="21425" anchor="ctr">
                    <a:solidFill>
                      <a:schemeClr val="accent3">
                        <a:lumMod val="20000"/>
                        <a:lumOff val="80000"/>
                      </a:schemeClr>
                    </a:solidFill>
                  </a:tcPr>
                </a:tc>
                <a:extLst>
                  <a:ext uri="{0D108BD9-81ED-4DB2-BD59-A6C34878D82A}">
                    <a16:rowId xmlns:a16="http://schemas.microsoft.com/office/drawing/2014/main" val="10001"/>
                  </a:ext>
                </a:extLst>
              </a:tr>
              <a:tr h="1388228">
                <a:tc>
                  <a:txBody>
                    <a:bodyPr/>
                    <a:lstStyle/>
                    <a:p>
                      <a:pPr>
                        <a:defRPr sz="1300" b="0">
                          <a:solidFill>
                            <a:srgbClr val="231F20"/>
                          </a:solidFill>
                          <a:latin typeface="Calibri"/>
                        </a:defRPr>
                      </a:pPr>
                      <a:endParaRPr sz="1800"/>
                    </a:p>
                  </a:txBody>
                  <a:tcPr marL="35700" marR="35700" marT="21425" marB="21425" anchor="ctr">
                    <a:solidFill>
                      <a:schemeClr val="accent3">
                        <a:lumMod val="20000"/>
                        <a:lumOff val="80000"/>
                      </a:schemeClr>
                    </a:solidFill>
                  </a:tcPr>
                </a:tc>
                <a:tc>
                  <a:txBody>
                    <a:bodyPr/>
                    <a:lstStyle/>
                    <a:p>
                      <a:pPr>
                        <a:defRPr sz="1300" b="0">
                          <a:solidFill>
                            <a:srgbClr val="231F20"/>
                          </a:solidFill>
                          <a:latin typeface="Calibri"/>
                        </a:defRPr>
                      </a:pPr>
                      <a:r>
                        <a:rPr sz="1800"/>
                        <a:t>Q3-Q4</a:t>
                      </a:r>
                    </a:p>
                  </a:txBody>
                  <a:tcPr marL="35700" marR="35700" marT="21425" marB="21425" anchor="ctr">
                    <a:solidFill>
                      <a:schemeClr val="accent3">
                        <a:lumMod val="20000"/>
                        <a:lumOff val="80000"/>
                      </a:schemeClr>
                    </a:solidFill>
                  </a:tcPr>
                </a:tc>
                <a:tc>
                  <a:txBody>
                    <a:bodyPr/>
                    <a:lstStyle/>
                    <a:p>
                      <a:pPr>
                        <a:defRPr sz="1300" b="0">
                          <a:solidFill>
                            <a:srgbClr val="231F20"/>
                          </a:solidFill>
                          <a:latin typeface="Calibri"/>
                        </a:defRPr>
                      </a:pPr>
                      <a:r>
                        <a:rPr sz="1800"/>
                        <a:t>RDC 1 review, pivot to Lateral Movement &amp; Small Language Models (SLMs)</a:t>
                      </a:r>
                    </a:p>
                  </a:txBody>
                  <a:tcPr marL="35700" marR="35700" marT="21425" marB="21425" anchor="ctr">
                    <a:solidFill>
                      <a:schemeClr val="accent3">
                        <a:lumMod val="20000"/>
                        <a:lumOff val="80000"/>
                      </a:schemeClr>
                    </a:solidFill>
                  </a:tcPr>
                </a:tc>
                <a:tc>
                  <a:txBody>
                    <a:bodyPr/>
                    <a:lstStyle/>
                    <a:p>
                      <a:pPr>
                        <a:defRPr sz="1300" b="0">
                          <a:solidFill>
                            <a:srgbClr val="231F20"/>
                          </a:solidFill>
                          <a:latin typeface="Calibri"/>
                        </a:defRPr>
                      </a:pPr>
                      <a:r>
                        <a:rPr sz="1800"/>
                        <a:t>Dataset selection (LMD-2023, LANL), tokenization protocol [Completed]</a:t>
                      </a:r>
                    </a:p>
                  </a:txBody>
                  <a:tcPr marL="35700" marR="35700" marT="21425" marB="21425" anchor="ctr">
                    <a:solidFill>
                      <a:schemeClr val="accent3">
                        <a:lumMod val="20000"/>
                        <a:lumOff val="80000"/>
                      </a:schemeClr>
                    </a:solidFill>
                  </a:tcPr>
                </a:tc>
                <a:extLst>
                  <a:ext uri="{0D108BD9-81ED-4DB2-BD59-A6C34878D82A}">
                    <a16:rowId xmlns:a16="http://schemas.microsoft.com/office/drawing/2014/main" val="10002"/>
                  </a:ext>
                </a:extLst>
              </a:tr>
              <a:tr h="1388228">
                <a:tc>
                  <a:txBody>
                    <a:bodyPr/>
                    <a:lstStyle/>
                    <a:p>
                      <a:pPr>
                        <a:defRPr sz="1300" b="0">
                          <a:solidFill>
                            <a:srgbClr val="231F20"/>
                          </a:solidFill>
                          <a:latin typeface="Calibri"/>
                        </a:defRPr>
                      </a:pPr>
                      <a:r>
                        <a:rPr sz="1800"/>
                        <a:t>Year 2</a:t>
                      </a:r>
                    </a:p>
                  </a:txBody>
                  <a:tcPr marL="35700" marR="35700" marT="21425" marB="21425" anchor="ctr">
                    <a:solidFill>
                      <a:schemeClr val="accent3">
                        <a:lumMod val="20000"/>
                        <a:lumOff val="80000"/>
                      </a:schemeClr>
                    </a:solidFill>
                  </a:tcPr>
                </a:tc>
                <a:tc>
                  <a:txBody>
                    <a:bodyPr/>
                    <a:lstStyle/>
                    <a:p>
                      <a:pPr>
                        <a:defRPr sz="1300" b="0">
                          <a:solidFill>
                            <a:srgbClr val="231F20"/>
                          </a:solidFill>
                          <a:latin typeface="Calibri"/>
                        </a:defRPr>
                      </a:pPr>
                      <a:r>
                        <a:rPr sz="1800"/>
                        <a:t>Q1-Q2</a:t>
                      </a:r>
                    </a:p>
                  </a:txBody>
                  <a:tcPr marL="35700" marR="35700" marT="21425" marB="21425" anchor="ctr">
                    <a:solidFill>
                      <a:schemeClr val="accent3">
                        <a:lumMod val="20000"/>
                        <a:lumOff val="80000"/>
                      </a:schemeClr>
                    </a:solidFill>
                  </a:tcPr>
                </a:tc>
                <a:tc>
                  <a:txBody>
                    <a:bodyPr/>
                    <a:lstStyle/>
                    <a:p>
                      <a:pPr>
                        <a:defRPr sz="1300" b="0">
                          <a:solidFill>
                            <a:srgbClr val="231F20"/>
                          </a:solidFill>
                          <a:latin typeface="Calibri"/>
                        </a:defRPr>
                      </a:pPr>
                      <a:r>
                        <a:rPr sz="1800"/>
                        <a:t>EdgeShield dual-stream SLM development, contrastive loss, baseline benchmarking</a:t>
                      </a:r>
                    </a:p>
                  </a:txBody>
                  <a:tcPr marL="35700" marR="35700" marT="21425" marB="21425" anchor="ctr">
                    <a:solidFill>
                      <a:schemeClr val="accent3">
                        <a:lumMod val="20000"/>
                        <a:lumOff val="80000"/>
                      </a:schemeClr>
                    </a:solidFill>
                  </a:tcPr>
                </a:tc>
                <a:tc>
                  <a:txBody>
                    <a:bodyPr/>
                    <a:lstStyle/>
                    <a:p>
                      <a:pPr>
                        <a:defRPr sz="1300" b="0">
                          <a:solidFill>
                            <a:srgbClr val="231F20"/>
                          </a:solidFill>
                          <a:latin typeface="Calibri"/>
                        </a:defRPr>
                      </a:pPr>
                      <a:r>
                        <a:rPr sz="1800" dirty="0"/>
                        <a:t>Trained 44M/66M SLMs, +8.18% ablation gain, IEEE TEMSCON paper accepted [Completed]</a:t>
                      </a:r>
                    </a:p>
                  </a:txBody>
                  <a:tcPr marL="35700" marR="35700" marT="21425" marB="21425" anchor="ctr">
                    <a:solidFill>
                      <a:schemeClr val="accent3">
                        <a:lumMod val="20000"/>
                        <a:lumOff val="80000"/>
                      </a:schemeClr>
                    </a:solidFill>
                  </a:tcPr>
                </a:tc>
                <a:extLst>
                  <a:ext uri="{0D108BD9-81ED-4DB2-BD59-A6C34878D82A}">
                    <a16:rowId xmlns:a16="http://schemas.microsoft.com/office/drawing/2014/main" val="10003"/>
                  </a:ext>
                </a:extLst>
              </a:tr>
              <a:tr h="1057779">
                <a:tc>
                  <a:txBody>
                    <a:bodyPr/>
                    <a:lstStyle/>
                    <a:p>
                      <a:pPr>
                        <a:defRPr sz="1300" b="0">
                          <a:solidFill>
                            <a:srgbClr val="231F20"/>
                          </a:solidFill>
                          <a:latin typeface="Calibri"/>
                        </a:defRPr>
                      </a:pPr>
                      <a:endParaRPr sz="1800"/>
                    </a:p>
                  </a:txBody>
                  <a:tcPr marL="35700" marR="35700" marT="21425" marB="21425" anchor="ctr">
                    <a:solidFill>
                      <a:schemeClr val="accent6">
                        <a:lumMod val="20000"/>
                        <a:lumOff val="80000"/>
                      </a:schemeClr>
                    </a:solidFill>
                  </a:tcPr>
                </a:tc>
                <a:tc>
                  <a:txBody>
                    <a:bodyPr/>
                    <a:lstStyle/>
                    <a:p>
                      <a:pPr>
                        <a:defRPr sz="1300" b="0">
                          <a:solidFill>
                            <a:srgbClr val="231F20"/>
                          </a:solidFill>
                          <a:latin typeface="Calibri"/>
                        </a:defRPr>
                      </a:pPr>
                      <a:r>
                        <a:rPr sz="1800"/>
                        <a:t>Q3-Q4</a:t>
                      </a:r>
                    </a:p>
                  </a:txBody>
                  <a:tcPr marL="35700" marR="35700" marT="21425" marB="21425" anchor="ctr">
                    <a:solidFill>
                      <a:schemeClr val="accent6">
                        <a:lumMod val="20000"/>
                        <a:lumOff val="80000"/>
                      </a:schemeClr>
                    </a:solidFill>
                  </a:tcPr>
                </a:tc>
                <a:tc>
                  <a:txBody>
                    <a:bodyPr/>
                    <a:lstStyle/>
                    <a:p>
                      <a:pPr>
                        <a:defRPr sz="1300" b="0">
                          <a:solidFill>
                            <a:srgbClr val="231F20"/>
                          </a:solidFill>
                          <a:latin typeface="Calibri"/>
                        </a:defRPr>
                      </a:pPr>
                      <a:r>
                        <a:rPr sz="1800" dirty="0"/>
                        <a:t>ONNX INT8 quantization, 5-trial edge latency validation, ATT&amp;CK graph correlation</a:t>
                      </a:r>
                    </a:p>
                  </a:txBody>
                  <a:tcPr marL="35700" marR="35700" marT="21425" marB="21425" anchor="ctr">
                    <a:solidFill>
                      <a:schemeClr val="accent6">
                        <a:lumMod val="20000"/>
                        <a:lumOff val="80000"/>
                      </a:schemeClr>
                    </a:solidFill>
                  </a:tcPr>
                </a:tc>
                <a:tc>
                  <a:txBody>
                    <a:bodyPr/>
                    <a:lstStyle/>
                    <a:p>
                      <a:pPr>
                        <a:defRPr sz="1300" b="0">
                          <a:solidFill>
                            <a:srgbClr val="231F20"/>
                          </a:solidFill>
                          <a:latin typeface="Calibri"/>
                        </a:defRPr>
                      </a:pPr>
                      <a:r>
                        <a:rPr sz="1800" dirty="0" err="1"/>
                        <a:t>EdgeShield</a:t>
                      </a:r>
                      <a:r>
                        <a:rPr sz="1800" dirty="0"/>
                        <a:t> prototype (11.71 </a:t>
                      </a:r>
                      <a:r>
                        <a:rPr sz="1800" dirty="0" err="1"/>
                        <a:t>ms</a:t>
                      </a:r>
                      <a:r>
                        <a:rPr sz="1800" dirty="0"/>
                        <a:t> latency, 50MB RAM), journal draft [In Progress]</a:t>
                      </a:r>
                    </a:p>
                  </a:txBody>
                  <a:tcPr marL="35700" marR="35700" marT="21425" marB="21425" anchor="ctr">
                    <a:solidFill>
                      <a:schemeClr val="accent6">
                        <a:lumMod val="20000"/>
                        <a:lumOff val="80000"/>
                      </a:schemeClr>
                    </a:solidFill>
                  </a:tcPr>
                </a:tc>
                <a:extLst>
                  <a:ext uri="{0D108BD9-81ED-4DB2-BD59-A6C34878D82A}">
                    <a16:rowId xmlns:a16="http://schemas.microsoft.com/office/drawing/2014/main" val="10004"/>
                  </a:ext>
                </a:extLst>
              </a:tr>
              <a:tr h="1223003">
                <a:tc>
                  <a:txBody>
                    <a:bodyPr/>
                    <a:lstStyle/>
                    <a:p>
                      <a:pPr>
                        <a:defRPr sz="1300" b="0">
                          <a:solidFill>
                            <a:srgbClr val="231F20"/>
                          </a:solidFill>
                          <a:latin typeface="Calibri"/>
                        </a:defRPr>
                      </a:pPr>
                      <a:r>
                        <a:rPr sz="1800"/>
                        <a:t>Year 3</a:t>
                      </a:r>
                    </a:p>
                  </a:txBody>
                  <a:tcPr marL="35700" marR="35700" marT="21425" marB="21425" anchor="ctr">
                    <a:noFill/>
                  </a:tcPr>
                </a:tc>
                <a:tc>
                  <a:txBody>
                    <a:bodyPr/>
                    <a:lstStyle/>
                    <a:p>
                      <a:pPr>
                        <a:defRPr sz="1300" b="0">
                          <a:solidFill>
                            <a:srgbClr val="231F20"/>
                          </a:solidFill>
                          <a:latin typeface="Calibri"/>
                        </a:defRPr>
                      </a:pPr>
                      <a:r>
                        <a:rPr sz="1800"/>
                        <a:t>Q1-Q2</a:t>
                      </a:r>
                    </a:p>
                  </a:txBody>
                  <a:tcPr marL="35700" marR="35700" marT="21425" marB="21425" anchor="ctr">
                    <a:noFill/>
                  </a:tcPr>
                </a:tc>
                <a:tc>
                  <a:txBody>
                    <a:bodyPr/>
                    <a:lstStyle/>
                    <a:p>
                      <a:pPr>
                        <a:defRPr sz="1300" b="0">
                          <a:solidFill>
                            <a:srgbClr val="231F20"/>
                          </a:solidFill>
                          <a:latin typeface="Calibri"/>
                        </a:defRPr>
                      </a:pPr>
                      <a:r>
                        <a:rPr sz="1800" dirty="0"/>
                        <a:t>Tier 2 Generative Reasoner fine-tuning, industrial testbed validation, zero trust integration</a:t>
                      </a:r>
                    </a:p>
                  </a:txBody>
                  <a:tcPr marL="35700" marR="35700" marT="21425" marB="21425" anchor="ctr">
                    <a:noFill/>
                  </a:tcPr>
                </a:tc>
                <a:tc>
                  <a:txBody>
                    <a:bodyPr/>
                    <a:lstStyle/>
                    <a:p>
                      <a:pPr>
                        <a:defRPr sz="1300" b="0">
                          <a:solidFill>
                            <a:srgbClr val="231F20"/>
                          </a:solidFill>
                          <a:latin typeface="Calibri"/>
                        </a:defRPr>
                      </a:pPr>
                      <a:r>
                        <a:rPr sz="1800"/>
                        <a:t>Structured JSON explainable triage feed, edge testbed benchmark data [Planned]</a:t>
                      </a:r>
                    </a:p>
                  </a:txBody>
                  <a:tcPr marL="35700" marR="35700" marT="21425" marB="21425" anchor="ctr">
                    <a:noFill/>
                  </a:tcPr>
                </a:tc>
                <a:extLst>
                  <a:ext uri="{0D108BD9-81ED-4DB2-BD59-A6C34878D82A}">
                    <a16:rowId xmlns:a16="http://schemas.microsoft.com/office/drawing/2014/main" val="10005"/>
                  </a:ext>
                </a:extLst>
              </a:tr>
              <a:tr h="1223003">
                <a:tc>
                  <a:txBody>
                    <a:bodyPr/>
                    <a:lstStyle/>
                    <a:p>
                      <a:pPr>
                        <a:defRPr sz="1300" b="0">
                          <a:solidFill>
                            <a:srgbClr val="231F20"/>
                          </a:solidFill>
                          <a:latin typeface="Calibri"/>
                        </a:defRPr>
                      </a:pPr>
                      <a:endParaRPr sz="1800"/>
                    </a:p>
                  </a:txBody>
                  <a:tcPr marL="35700" marR="35700" marT="21425" marB="21425" anchor="ctr">
                    <a:noFill/>
                  </a:tcPr>
                </a:tc>
                <a:tc>
                  <a:txBody>
                    <a:bodyPr/>
                    <a:lstStyle/>
                    <a:p>
                      <a:pPr>
                        <a:defRPr sz="1300" b="0">
                          <a:solidFill>
                            <a:srgbClr val="231F20"/>
                          </a:solidFill>
                          <a:latin typeface="Calibri"/>
                        </a:defRPr>
                      </a:pPr>
                      <a:r>
                        <a:rPr sz="1800"/>
                        <a:t>Q3-Q4</a:t>
                      </a:r>
                    </a:p>
                  </a:txBody>
                  <a:tcPr marL="35700" marR="35700" marT="21425" marB="21425" anchor="ctr">
                    <a:noFill/>
                  </a:tcPr>
                </a:tc>
                <a:tc>
                  <a:txBody>
                    <a:bodyPr/>
                    <a:lstStyle/>
                    <a:p>
                      <a:pPr>
                        <a:defRPr sz="1300" b="0">
                          <a:solidFill>
                            <a:srgbClr val="231F20"/>
                          </a:solidFill>
                          <a:latin typeface="Calibri"/>
                        </a:defRPr>
                      </a:pPr>
                      <a:r>
                        <a:rPr sz="1800"/>
                        <a:t>Automotive manufacturing case studies, comparative analysis, dissertation writing &amp; defense</a:t>
                      </a:r>
                    </a:p>
                  </a:txBody>
                  <a:tcPr marL="35700" marR="35700" marT="21425" marB="21425" anchor="ctr">
                    <a:noFill/>
                  </a:tcPr>
                </a:tc>
                <a:tc>
                  <a:txBody>
                    <a:bodyPr/>
                    <a:lstStyle/>
                    <a:p>
                      <a:pPr>
                        <a:defRPr sz="1300" b="0">
                          <a:solidFill>
                            <a:srgbClr val="231F20"/>
                          </a:solidFill>
                          <a:latin typeface="Calibri"/>
                        </a:defRPr>
                      </a:pPr>
                      <a:r>
                        <a:rPr sz="1800" dirty="0"/>
                        <a:t>Final PhD dissertation, open-source artifacts, defense presentation [Planned]</a:t>
                      </a:r>
                    </a:p>
                  </a:txBody>
                  <a:tcPr marL="35700" marR="35700" marT="21425" marB="21425" anchor="c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9"/>
          <p:cNvSpPr txBox="1"/>
          <p:nvPr/>
        </p:nvSpPr>
        <p:spPr>
          <a:xfrm>
            <a:off x="1998308" y="974713"/>
            <a:ext cx="6825416" cy="1224310"/>
          </a:xfrm>
          <a:prstGeom prst="rect">
            <a:avLst/>
          </a:prstGeom>
          <a:noFill/>
          <a:ln>
            <a:noFill/>
          </a:ln>
        </p:spPr>
        <p:txBody>
          <a:bodyPr spcFirstLastPara="1" wrap="square" lIns="0" tIns="0" rIns="0" bIns="0" anchor="t" anchorCtr="0">
            <a:spAutoFit/>
          </a:bodyPr>
          <a:lstStyle/>
          <a:p>
            <a:pPr marL="0" marR="0" lvl="0" indent="0" algn="l" rtl="0">
              <a:lnSpc>
                <a:spcPct val="138005"/>
              </a:lnSpc>
              <a:spcBef>
                <a:spcPts val="0"/>
              </a:spcBef>
              <a:spcAft>
                <a:spcPts val="0"/>
              </a:spcAft>
              <a:buClr>
                <a:srgbClr val="000000"/>
              </a:buClr>
              <a:buSzPts val="5765"/>
              <a:buFont typeface="Arial"/>
              <a:buNone/>
            </a:pPr>
            <a:r>
              <a:rPr sz="4400" b="1">
                <a:solidFill>
                  <a:srgbClr val="231F20"/>
                </a:solidFill>
                <a:latin typeface="Arial Rounded"/>
              </a:rPr>
              <a:t>Expected Outcomes &amp; Doctoral Contributions</a:t>
            </a:r>
            <a:endParaRPr sz="1400" b="0" i="0" u="none" strike="noStrike" cap="none">
              <a:solidFill>
                <a:srgbClr val="000000"/>
              </a:solidFill>
              <a:latin typeface="Arial"/>
              <a:ea typeface="Arial"/>
              <a:cs typeface="Arial"/>
              <a:sym typeface="Arial"/>
            </a:endParaRPr>
          </a:p>
        </p:txBody>
      </p:sp>
      <p:sp>
        <p:nvSpPr>
          <p:cNvPr id="227" name="Google Shape;227;p9"/>
          <p:cNvSpPr txBox="1"/>
          <p:nvPr/>
        </p:nvSpPr>
        <p:spPr>
          <a:xfrm>
            <a:off x="945397" y="2817590"/>
            <a:ext cx="16320600" cy="7078861"/>
          </a:xfrm>
          <a:prstGeom prst="rect">
            <a:avLst/>
          </a:prstGeom>
          <a:noFill/>
          <a:ln>
            <a:noFill/>
          </a:ln>
        </p:spPr>
        <p:txBody>
          <a:bodyPr spcFirstLastPara="1" wrap="square" lIns="0" tIns="0" rIns="0" bIns="0" anchor="t" anchorCtr="0">
            <a:spAutoFit/>
          </a:bodyPr>
          <a:lstStyle/>
          <a:p>
            <a:pPr marR="0" algn="l" rtl="0">
              <a:lnSpc>
                <a:spcPct val="100000"/>
              </a:lnSpc>
              <a:spcBef>
                <a:spcPts val="0"/>
              </a:spcBef>
              <a:spcAft>
                <a:spcPts val="1200"/>
              </a:spcAft>
              <a:buClr>
                <a:srgbClr val="000000"/>
              </a:buClr>
              <a:buSzPts val="2800"/>
            </a:pPr>
            <a:r>
              <a:rPr sz="2400" b="1" dirty="0">
                <a:solidFill>
                  <a:srgbClr val="231F20"/>
                </a:solidFill>
              </a:rPr>
              <a:t>Novel Industrial Threat Taxonomy: </a:t>
            </a:r>
            <a:endParaRPr lang="en-US" sz="2400" b="1" dirty="0">
              <a:solidFill>
                <a:srgbClr val="231F20"/>
              </a:solidFill>
            </a:endParaRPr>
          </a:p>
          <a:p>
            <a:pPr marL="342900" marR="0" indent="-342900" algn="l" rtl="0">
              <a:lnSpc>
                <a:spcPct val="100000"/>
              </a:lnSpc>
              <a:spcBef>
                <a:spcPts val="0"/>
              </a:spcBef>
              <a:spcAft>
                <a:spcPts val="1200"/>
              </a:spcAft>
              <a:buClr>
                <a:srgbClr val="000000"/>
              </a:buClr>
              <a:buSzPts val="2800"/>
              <a:buFont typeface="Arial" panose="020B0604020202020204" pitchFamily="34" charset="0"/>
              <a:buChar char="•"/>
            </a:pPr>
            <a:r>
              <a:rPr sz="2400" b="0" dirty="0">
                <a:solidFill>
                  <a:srgbClr val="231F20"/>
                </a:solidFill>
              </a:rPr>
              <a:t>Systematic mapping of East-West adversary tactics (MITRE ATT&amp;CK TA0008, TA0040) specifically observed in Smart Manufacturing &amp; Industrial IoT.</a:t>
            </a:r>
            <a:endParaRPr sz="1800" b="0" i="0" u="none" strike="noStrike" cap="none" dirty="0">
              <a:solidFill>
                <a:srgbClr val="000000"/>
              </a:solidFill>
              <a:latin typeface="Arial"/>
              <a:ea typeface="Arial"/>
              <a:cs typeface="Arial"/>
              <a:sym typeface="Arial"/>
            </a:endParaRPr>
          </a:p>
          <a:p>
            <a:pPr>
              <a:spcAft>
                <a:spcPts val="1200"/>
              </a:spcAft>
            </a:pPr>
            <a:r>
              <a:rPr sz="2400" b="1" dirty="0" err="1">
                <a:solidFill>
                  <a:srgbClr val="231F20"/>
                </a:solidFill>
              </a:rPr>
              <a:t>EdgeShield</a:t>
            </a:r>
            <a:r>
              <a:rPr sz="2400" b="1" dirty="0">
                <a:solidFill>
                  <a:srgbClr val="231F20"/>
                </a:solidFill>
              </a:rPr>
              <a:t> Dual-Stream Mitigation Framework:</a:t>
            </a:r>
            <a:endParaRPr lang="en-US" sz="2400" b="1" dirty="0">
              <a:solidFill>
                <a:srgbClr val="231F20"/>
              </a:solidFill>
            </a:endParaRPr>
          </a:p>
          <a:p>
            <a:pPr marL="342900" indent="-342900">
              <a:spcAft>
                <a:spcPts val="1200"/>
              </a:spcAft>
              <a:buFont typeface="Arial" panose="020B0604020202020204" pitchFamily="34" charset="0"/>
              <a:buChar char="•"/>
            </a:pPr>
            <a:r>
              <a:rPr sz="2400" b="0" dirty="0">
                <a:solidFill>
                  <a:srgbClr val="231F20"/>
                </a:solidFill>
              </a:rPr>
              <a:t>A fully implemented, validated neural framework combining high-speed classification (</a:t>
            </a:r>
            <a:r>
              <a:rPr sz="2400" b="0" dirty="0" err="1">
                <a:solidFill>
                  <a:srgbClr val="231F20"/>
                </a:solidFill>
              </a:rPr>
              <a:t>DeBERTa</a:t>
            </a:r>
            <a:r>
              <a:rPr sz="2400" b="0" dirty="0">
                <a:solidFill>
                  <a:srgbClr val="231F20"/>
                </a:solidFill>
              </a:rPr>
              <a:t> 44M) with generative reasoning (Qwen/Phi-3) for edge threat triage.</a:t>
            </a:r>
          </a:p>
          <a:p>
            <a:pPr>
              <a:spcAft>
                <a:spcPts val="1200"/>
              </a:spcAft>
            </a:pPr>
            <a:r>
              <a:rPr sz="2400" b="1" dirty="0">
                <a:solidFill>
                  <a:srgbClr val="231F20"/>
                </a:solidFill>
              </a:rPr>
              <a:t>Contrastive Representation Learning Protocol: </a:t>
            </a:r>
            <a:endParaRPr lang="en-US" sz="2400" b="1" dirty="0">
              <a:solidFill>
                <a:srgbClr val="231F20"/>
              </a:solidFill>
            </a:endParaRPr>
          </a:p>
          <a:p>
            <a:pPr marL="342900" indent="-342900">
              <a:spcAft>
                <a:spcPts val="1200"/>
              </a:spcAft>
              <a:buFont typeface="Arial" panose="020B0604020202020204" pitchFamily="34" charset="0"/>
              <a:buChar char="•"/>
            </a:pPr>
            <a:r>
              <a:rPr sz="2400" b="0" dirty="0">
                <a:solidFill>
                  <a:srgbClr val="231F20"/>
                </a:solidFill>
              </a:rPr>
              <a:t>Domain fine-tuning methodology resolving administrative vs attack tool ambiguity in telemetry via Supervised Contrastive Loss (</a:t>
            </a:r>
            <a:r>
              <a:rPr sz="2400" b="0" dirty="0" err="1">
                <a:solidFill>
                  <a:srgbClr val="231F20"/>
                </a:solidFill>
              </a:rPr>
              <a:t>SupCon</a:t>
            </a:r>
            <a:r>
              <a:rPr sz="2400" b="0" dirty="0">
                <a:solidFill>
                  <a:srgbClr val="231F20"/>
                </a:solidFill>
              </a:rPr>
              <a:t>).</a:t>
            </a:r>
          </a:p>
          <a:p>
            <a:pPr>
              <a:spcAft>
                <a:spcPts val="1200"/>
              </a:spcAft>
            </a:pPr>
            <a:r>
              <a:rPr sz="2400" b="1" dirty="0">
                <a:solidFill>
                  <a:srgbClr val="231F20"/>
                </a:solidFill>
              </a:rPr>
              <a:t>Quantized Edge Runtime Artifacts: </a:t>
            </a:r>
            <a:endParaRPr lang="en-US" sz="2400" b="1" dirty="0">
              <a:solidFill>
                <a:srgbClr val="231F20"/>
              </a:solidFill>
            </a:endParaRPr>
          </a:p>
          <a:p>
            <a:pPr marL="342900" indent="-342900">
              <a:spcAft>
                <a:spcPts val="1200"/>
              </a:spcAft>
              <a:buFont typeface="Arial" panose="020B0604020202020204" pitchFamily="34" charset="0"/>
              <a:buChar char="•"/>
            </a:pPr>
            <a:r>
              <a:rPr sz="2400" b="0" dirty="0">
                <a:solidFill>
                  <a:srgbClr val="231F20"/>
                </a:solidFill>
              </a:rPr>
              <a:t>Deployable INT8 ONNX models with verified sub-15ms inference latency and &lt;65MB checkpoint footprint, ready for industrial gateway integration.</a:t>
            </a:r>
          </a:p>
          <a:p>
            <a:pPr>
              <a:spcAft>
                <a:spcPts val="1200"/>
              </a:spcAft>
            </a:pPr>
            <a:r>
              <a:rPr sz="2400" b="1" dirty="0">
                <a:solidFill>
                  <a:srgbClr val="231F20"/>
                </a:solidFill>
              </a:rPr>
              <a:t>Peer-Reviewed Academic Impact: </a:t>
            </a:r>
            <a:endParaRPr lang="en-US" sz="2400" b="1" dirty="0">
              <a:solidFill>
                <a:srgbClr val="231F20"/>
              </a:solidFill>
            </a:endParaRPr>
          </a:p>
          <a:p>
            <a:pPr marL="342900" indent="-342900">
              <a:spcAft>
                <a:spcPts val="1200"/>
              </a:spcAft>
              <a:buFont typeface="Arial" panose="020B0604020202020204" pitchFamily="34" charset="0"/>
              <a:buChar char="•"/>
            </a:pPr>
            <a:r>
              <a:rPr sz="2400" b="0" dirty="0">
                <a:solidFill>
                  <a:srgbClr val="231F20"/>
                </a:solidFill>
              </a:rPr>
              <a:t>Accepted IEEE TEMSCON-ASPAC 2026 conference paper, plus planned SCI/Scopus journal manuscript detailing end-to-end empirical findings.</a:t>
            </a:r>
          </a:p>
        </p:txBody>
      </p:sp>
      <p:sp>
        <p:nvSpPr>
          <p:cNvPr id="228" name="Google Shape;228;p9"/>
          <p:cNvSpPr/>
          <p:nvPr/>
        </p:nvSpPr>
        <p:spPr>
          <a:xfrm>
            <a:off x="16322124" y="7754894"/>
            <a:ext cx="4118443" cy="3654183"/>
          </a:xfrm>
          <a:custGeom>
            <a:avLst/>
            <a:gdLst/>
            <a:ahLst/>
            <a:cxnLst/>
            <a:rect l="l" t="t" r="r" b="b"/>
            <a:pathLst>
              <a:path w="4118443" h="3654183" extrusionOk="0">
                <a:moveTo>
                  <a:pt x="0" y="0"/>
                </a:moveTo>
                <a:lnTo>
                  <a:pt x="4118443" y="0"/>
                </a:lnTo>
                <a:lnTo>
                  <a:pt x="4118443" y="3654183"/>
                </a:lnTo>
                <a:lnTo>
                  <a:pt x="0" y="365418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9"/>
          <p:cNvSpPr/>
          <p:nvPr/>
        </p:nvSpPr>
        <p:spPr>
          <a:xfrm rot="10800000">
            <a:off x="-2059222" y="-798391"/>
            <a:ext cx="4118443" cy="3654183"/>
          </a:xfrm>
          <a:custGeom>
            <a:avLst/>
            <a:gdLst/>
            <a:ahLst/>
            <a:cxnLst/>
            <a:rect l="l" t="t" r="r" b="b"/>
            <a:pathLst>
              <a:path w="4118443" h="3654183" extrusionOk="0">
                <a:moveTo>
                  <a:pt x="4118444" y="3654182"/>
                </a:moveTo>
                <a:lnTo>
                  <a:pt x="0" y="3654182"/>
                </a:lnTo>
                <a:lnTo>
                  <a:pt x="0" y="0"/>
                </a:lnTo>
                <a:lnTo>
                  <a:pt x="4118444" y="0"/>
                </a:lnTo>
                <a:lnTo>
                  <a:pt x="4118444" y="3654182"/>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0"/>
          <p:cNvSpPr txBox="1"/>
          <p:nvPr/>
        </p:nvSpPr>
        <p:spPr>
          <a:xfrm>
            <a:off x="1998300" y="581800"/>
            <a:ext cx="15940200" cy="1200000"/>
          </a:xfrm>
          <a:prstGeom prst="rect">
            <a:avLst/>
          </a:prstGeom>
          <a:noFill/>
          <a:ln>
            <a:noFill/>
          </a:ln>
        </p:spPr>
        <p:txBody>
          <a:bodyPr spcFirstLastPara="1" wrap="square" lIns="0" tIns="0" rIns="0" bIns="0" anchor="t" anchorCtr="0">
            <a:spAutoFit/>
          </a:bodyPr>
          <a:lstStyle/>
          <a:p>
            <a:pPr marL="0" marR="0" lvl="0" indent="0" algn="l" rtl="0">
              <a:lnSpc>
                <a:spcPct val="138005"/>
              </a:lnSpc>
              <a:spcBef>
                <a:spcPts val="0"/>
              </a:spcBef>
              <a:spcAft>
                <a:spcPts val="0"/>
              </a:spcAft>
              <a:buClr>
                <a:srgbClr val="000000"/>
              </a:buClr>
              <a:buSzPts val="5765"/>
              <a:buFont typeface="Arial"/>
              <a:buNone/>
              <a:defRPr sz="4000" b="1">
                <a:solidFill>
                  <a:srgbClr val="231F20"/>
                </a:solidFill>
                <a:latin typeface="Arial Rounded"/>
              </a:defRPr>
            </a:pPr>
            <a:r>
              <a:t>Conclusion &amp; Research Summary</a:t>
            </a:r>
            <a:endParaRPr sz="1400" b="0" i="0" u="none" strike="noStrike" cap="none">
              <a:solidFill>
                <a:srgbClr val="000000"/>
              </a:solidFill>
              <a:latin typeface="Arial"/>
              <a:ea typeface="Arial"/>
              <a:cs typeface="Arial"/>
              <a:sym typeface="Arial"/>
            </a:endParaRPr>
          </a:p>
        </p:txBody>
      </p:sp>
      <p:sp>
        <p:nvSpPr>
          <p:cNvPr id="236" name="Google Shape;236;p10"/>
          <p:cNvSpPr txBox="1"/>
          <p:nvPr/>
        </p:nvSpPr>
        <p:spPr>
          <a:xfrm>
            <a:off x="1998300" y="2200000"/>
            <a:ext cx="15070500" cy="4426853"/>
          </a:xfrm>
          <a:prstGeom prst="rect">
            <a:avLst/>
          </a:prstGeom>
          <a:noFill/>
          <a:ln>
            <a:noFill/>
          </a:ln>
        </p:spPr>
        <p:txBody>
          <a:bodyPr spcFirstLastPara="1" wrap="square" lIns="0" tIns="0" rIns="0" bIns="0" anchor="t" anchorCtr="0">
            <a:spAutoFit/>
          </a:bodyPr>
          <a:lstStyle/>
          <a:p>
            <a:pPr marL="457200" indent="-300000" algn="l" rtl="0">
              <a:buChar char="•"/>
            </a:pPr>
            <a:r>
              <a:rPr sz="2400" b="1" dirty="0">
                <a:solidFill>
                  <a:srgbClr val="231F20"/>
                </a:solidFill>
                <a:latin typeface="Calibri"/>
              </a:rPr>
              <a:t>Concrete Research Progress Achieved</a:t>
            </a:r>
            <a:endParaRPr sz="4400" dirty="0">
              <a:solidFill>
                <a:schemeClr val="dk1"/>
              </a:solidFill>
            </a:endParaRPr>
          </a:p>
          <a:p>
            <a:pPr marL="914400" lvl="1" indent="-300000">
              <a:spcAft>
                <a:spcPts val="800"/>
              </a:spcAft>
              <a:buChar char="○"/>
            </a:pPr>
            <a:r>
              <a:rPr sz="2000" b="0" dirty="0">
                <a:solidFill>
                  <a:srgbClr val="4B5563"/>
                </a:solidFill>
                <a:latin typeface="Calibri"/>
              </a:rPr>
              <a:t>Successfully evolved research from broad smart manufacturing threat surveys in RDC 1 to an empirically verified, high-performance edge SLM framework in RDC 3.</a:t>
            </a:r>
          </a:p>
          <a:p>
            <a:pPr marL="457200" indent="-300000">
              <a:spcAft>
                <a:spcPts val="200"/>
              </a:spcAft>
              <a:buChar char="•"/>
            </a:pPr>
            <a:r>
              <a:rPr sz="2400" b="1" dirty="0">
                <a:solidFill>
                  <a:srgbClr val="231F20"/>
                </a:solidFill>
                <a:latin typeface="Calibri"/>
              </a:rPr>
              <a:t>Superiority of Decoupled Small Models</a:t>
            </a:r>
          </a:p>
          <a:p>
            <a:pPr marL="914400" lvl="1" indent="-300000">
              <a:spcAft>
                <a:spcPts val="800"/>
              </a:spcAft>
              <a:buChar char="○"/>
            </a:pPr>
            <a:r>
              <a:rPr sz="2000" b="0" dirty="0">
                <a:solidFill>
                  <a:srgbClr val="4B5563"/>
                </a:solidFill>
                <a:latin typeface="Calibri"/>
              </a:rPr>
              <a:t>Demonstrated that compact domain-adapted SLMs (44M params) outperform traditional ML baselines (+43.88 pp F1 over </a:t>
            </a:r>
            <a:r>
              <a:rPr sz="2000" b="0" dirty="0" err="1">
                <a:solidFill>
                  <a:srgbClr val="4B5563"/>
                </a:solidFill>
                <a:latin typeface="Calibri"/>
              </a:rPr>
              <a:t>XGBoost</a:t>
            </a:r>
            <a:r>
              <a:rPr sz="2000" b="0" dirty="0">
                <a:solidFill>
                  <a:srgbClr val="4B5563"/>
                </a:solidFill>
                <a:latin typeface="Calibri"/>
              </a:rPr>
              <a:t>) and large unified models (+8.18 pp F1) with 87% lower latency.</a:t>
            </a:r>
          </a:p>
          <a:p>
            <a:pPr marL="457200" indent="-300000">
              <a:spcAft>
                <a:spcPts val="200"/>
              </a:spcAft>
              <a:buChar char="•"/>
            </a:pPr>
            <a:r>
              <a:rPr sz="2400" b="1" dirty="0">
                <a:solidFill>
                  <a:srgbClr val="231F20"/>
                </a:solidFill>
                <a:latin typeface="Calibri"/>
              </a:rPr>
              <a:t>Verified Edge Zero-Trust Feasibility</a:t>
            </a:r>
          </a:p>
          <a:p>
            <a:pPr marL="914400" lvl="1" indent="-300000">
              <a:spcAft>
                <a:spcPts val="800"/>
              </a:spcAft>
              <a:buChar char="○"/>
            </a:pPr>
            <a:r>
              <a:rPr sz="2000" b="0" dirty="0">
                <a:solidFill>
                  <a:srgbClr val="4B5563"/>
                </a:solidFill>
                <a:latin typeface="Calibri"/>
              </a:rPr>
              <a:t>Proven that INT8 ONNX execution meets industrial real-time requirements (11.71 </a:t>
            </a:r>
            <a:r>
              <a:rPr sz="2000" b="0" dirty="0" err="1">
                <a:solidFill>
                  <a:srgbClr val="4B5563"/>
                </a:solidFill>
                <a:latin typeface="Calibri"/>
              </a:rPr>
              <a:t>ms</a:t>
            </a:r>
            <a:r>
              <a:rPr sz="2000" b="0" dirty="0">
                <a:solidFill>
                  <a:srgbClr val="4B5563"/>
                </a:solidFill>
                <a:latin typeface="Calibri"/>
              </a:rPr>
              <a:t>, 50MB RAM, &gt;85 win/s throughput) without exporting telemetry off-premise.</a:t>
            </a:r>
          </a:p>
          <a:p>
            <a:pPr marL="457200" indent="-300000">
              <a:spcAft>
                <a:spcPts val="200"/>
              </a:spcAft>
              <a:buChar char="•"/>
            </a:pPr>
            <a:r>
              <a:rPr sz="2400" b="1" dirty="0">
                <a:solidFill>
                  <a:srgbClr val="231F20"/>
                </a:solidFill>
                <a:latin typeface="Calibri"/>
              </a:rPr>
              <a:t>Strong Academic Momentum</a:t>
            </a:r>
          </a:p>
          <a:p>
            <a:pPr marL="914400" lvl="1" indent="-300000">
              <a:spcAft>
                <a:spcPts val="800"/>
              </a:spcAft>
              <a:buChar char="○"/>
            </a:pPr>
            <a:r>
              <a:rPr sz="2000" b="0" dirty="0">
                <a:solidFill>
                  <a:srgbClr val="4B5563"/>
                </a:solidFill>
                <a:latin typeface="Calibri"/>
              </a:rPr>
              <a:t>Accepted IEEE conference paper validates peer recognition; next research milestone is the integration of Tier 2 causal generative reasoning for automated SOC remediation</a:t>
            </a:r>
            <a:r>
              <a:rPr sz="1600" b="0" dirty="0">
                <a:solidFill>
                  <a:srgbClr val="4B5563"/>
                </a:solidFill>
                <a:latin typeface="Calibri"/>
              </a:rPr>
              <a:t>.</a:t>
            </a:r>
          </a:p>
        </p:txBody>
      </p:sp>
      <p:sp>
        <p:nvSpPr>
          <p:cNvPr id="237" name="Google Shape;237;p10"/>
          <p:cNvSpPr/>
          <p:nvPr/>
        </p:nvSpPr>
        <p:spPr>
          <a:xfrm>
            <a:off x="16322124" y="7754894"/>
            <a:ext cx="4118443" cy="3654183"/>
          </a:xfrm>
          <a:custGeom>
            <a:avLst/>
            <a:gdLst/>
            <a:ahLst/>
            <a:cxnLst/>
            <a:rect l="l" t="t" r="r" b="b"/>
            <a:pathLst>
              <a:path w="4118443" h="3654183" extrusionOk="0">
                <a:moveTo>
                  <a:pt x="0" y="0"/>
                </a:moveTo>
                <a:lnTo>
                  <a:pt x="4118443" y="0"/>
                </a:lnTo>
                <a:lnTo>
                  <a:pt x="4118443" y="3654183"/>
                </a:lnTo>
                <a:lnTo>
                  <a:pt x="0" y="365418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10"/>
          <p:cNvSpPr/>
          <p:nvPr/>
        </p:nvSpPr>
        <p:spPr>
          <a:xfrm rot="10800000">
            <a:off x="-2059222" y="-798391"/>
            <a:ext cx="4118443" cy="3654183"/>
          </a:xfrm>
          <a:custGeom>
            <a:avLst/>
            <a:gdLst/>
            <a:ahLst/>
            <a:cxnLst/>
            <a:rect l="l" t="t" r="r" b="b"/>
            <a:pathLst>
              <a:path w="4118443" h="3654183" extrusionOk="0">
                <a:moveTo>
                  <a:pt x="4118444" y="3654182"/>
                </a:moveTo>
                <a:lnTo>
                  <a:pt x="0" y="3654182"/>
                </a:lnTo>
                <a:lnTo>
                  <a:pt x="0" y="0"/>
                </a:lnTo>
                <a:lnTo>
                  <a:pt x="4118444" y="0"/>
                </a:lnTo>
                <a:lnTo>
                  <a:pt x="4118444" y="3654182"/>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243"/>
        <p:cNvGrpSpPr/>
        <p:nvPr/>
      </p:nvGrpSpPr>
      <p:grpSpPr>
        <a:xfrm>
          <a:off x="0" y="0"/>
          <a:ext cx="0" cy="0"/>
          <a:chOff x="0" y="0"/>
          <a:chExt cx="0" cy="0"/>
        </a:xfrm>
      </p:grpSpPr>
      <p:sp>
        <p:nvSpPr>
          <p:cNvPr id="244" name="Google Shape;244;p11"/>
          <p:cNvSpPr txBox="1"/>
          <p:nvPr/>
        </p:nvSpPr>
        <p:spPr>
          <a:xfrm>
            <a:off x="1998300" y="581800"/>
            <a:ext cx="15940200" cy="900000"/>
          </a:xfrm>
          <a:prstGeom prst="rect">
            <a:avLst/>
          </a:prstGeom>
          <a:noFill/>
          <a:ln>
            <a:noFill/>
          </a:ln>
        </p:spPr>
        <p:txBody>
          <a:bodyPr spcFirstLastPara="1" wrap="square" lIns="0" tIns="0" rIns="0" bIns="0" anchor="t" anchorCtr="0">
            <a:spAutoFit/>
          </a:bodyPr>
          <a:lstStyle/>
          <a:p>
            <a:pPr marL="0" marR="0" lvl="0" indent="0" algn="l" rtl="0">
              <a:lnSpc>
                <a:spcPct val="138005"/>
              </a:lnSpc>
              <a:spcBef>
                <a:spcPts val="0"/>
              </a:spcBef>
              <a:spcAft>
                <a:spcPts val="0"/>
              </a:spcAft>
              <a:buClr>
                <a:srgbClr val="000000"/>
              </a:buClr>
              <a:buSzPts val="5765"/>
              <a:buFont typeface="Arial"/>
              <a:buNone/>
              <a:defRPr sz="4000" b="1">
                <a:solidFill>
                  <a:srgbClr val="231F20"/>
                </a:solidFill>
                <a:latin typeface="Arial Rounded"/>
              </a:defRPr>
            </a:pPr>
            <a:r>
              <a:t>References</a:t>
            </a:r>
            <a:endParaRPr sz="1400" b="0" i="0" u="none" strike="noStrike" cap="none">
              <a:solidFill>
                <a:srgbClr val="000000"/>
              </a:solidFill>
              <a:latin typeface="Arial"/>
              <a:ea typeface="Arial"/>
              <a:cs typeface="Arial"/>
              <a:sym typeface="Arial"/>
            </a:endParaRPr>
          </a:p>
        </p:txBody>
      </p:sp>
      <p:sp>
        <p:nvSpPr>
          <p:cNvPr id="245" name="TextBox 244"/>
          <p:cNvSpPr txBox="1"/>
          <p:nvPr/>
        </p:nvSpPr>
        <p:spPr>
          <a:xfrm>
            <a:off x="1400000" y="1600000"/>
            <a:ext cx="16538500" cy="7817525"/>
          </a:xfrm>
          <a:prstGeom prst="rect">
            <a:avLst/>
          </a:prstGeom>
          <a:noFill/>
        </p:spPr>
        <p:txBody>
          <a:bodyPr wrap="square" lIns="0" tIns="0" rIns="0" bIns="0">
            <a:spAutoFit/>
          </a:bodyPr>
          <a:lstStyle/>
          <a:p>
            <a:pPr>
              <a:spcAft>
                <a:spcPts val="250"/>
              </a:spcAft>
              <a:defRPr sz="850">
                <a:solidFill>
                  <a:srgbClr val="231F20"/>
                </a:solidFill>
                <a:latin typeface="Calibri"/>
              </a:defRPr>
            </a:pPr>
            <a:r>
              <a:rPr sz="1600" dirty="0"/>
              <a:t>[1]  Alghamdi, M., et al. (2025). MITRE ATT&amp;CK applications in cybersecurity and the way forward. </a:t>
            </a:r>
            <a:r>
              <a:rPr sz="1600" dirty="0" err="1"/>
              <a:t>arXiv</a:t>
            </a:r>
            <a:r>
              <a:rPr sz="1600" dirty="0"/>
              <a:t> preprint arXiv:2502.10825.</a:t>
            </a:r>
          </a:p>
          <a:p>
            <a:pPr>
              <a:spcAft>
                <a:spcPts val="250"/>
              </a:spcAft>
              <a:defRPr sz="850">
                <a:solidFill>
                  <a:srgbClr val="231F20"/>
                </a:solidFill>
                <a:latin typeface="Calibri"/>
              </a:defRPr>
            </a:pPr>
            <a:r>
              <a:rPr sz="1600" dirty="0"/>
              <a:t>[2]  Kritika, E. (2024). A comprehensive literature review on ransomware detection using deep learning. Computer Science and Applications, 2, pp. 1-14.</a:t>
            </a:r>
          </a:p>
          <a:p>
            <a:pPr>
              <a:spcAft>
                <a:spcPts val="250"/>
              </a:spcAft>
              <a:defRPr sz="850">
                <a:solidFill>
                  <a:srgbClr val="231F20"/>
                </a:solidFill>
                <a:latin typeface="Calibri"/>
              </a:defRPr>
            </a:pPr>
            <a:r>
              <a:rPr sz="1600" dirty="0"/>
              <a:t>[3]  Li, W., et al. (2025). Exploring the role of large language models in cybersecurity: A systematic survey. </a:t>
            </a:r>
            <a:r>
              <a:rPr sz="1600" dirty="0" err="1"/>
              <a:t>arXiv</a:t>
            </a:r>
            <a:r>
              <a:rPr sz="1600" dirty="0"/>
              <a:t> preprint arXiv:2504.15622.</a:t>
            </a:r>
          </a:p>
          <a:p>
            <a:pPr>
              <a:spcAft>
                <a:spcPts val="250"/>
              </a:spcAft>
              <a:defRPr sz="850">
                <a:solidFill>
                  <a:srgbClr val="231F20"/>
                </a:solidFill>
                <a:latin typeface="Calibri"/>
              </a:defRPr>
            </a:pPr>
            <a:r>
              <a:rPr sz="1600" dirty="0"/>
              <a:t>[4]  Papageorgiou, C., </a:t>
            </a:r>
            <a:r>
              <a:rPr sz="1600" dirty="0" err="1"/>
              <a:t>Karydas</a:t>
            </a:r>
            <a:r>
              <a:rPr sz="1600" dirty="0"/>
              <a:t>, A., &amp; Schiliro, D. (2025). Leveraging large language models for scalable and explainable cybersecurity log analysis. Journal of Cybersecurity and Privacy, 5(3), pp. 412-431.</a:t>
            </a:r>
          </a:p>
          <a:p>
            <a:pPr>
              <a:spcAft>
                <a:spcPts val="250"/>
              </a:spcAft>
              <a:defRPr sz="850">
                <a:solidFill>
                  <a:srgbClr val="231F20"/>
                </a:solidFill>
                <a:latin typeface="Calibri"/>
              </a:defRPr>
            </a:pPr>
            <a:r>
              <a:rPr sz="1600" dirty="0"/>
              <a:t>[5]  </a:t>
            </a:r>
            <a:r>
              <a:rPr sz="1600" dirty="0" err="1"/>
              <a:t>Ferrag</a:t>
            </a:r>
            <a:r>
              <a:rPr sz="1600" dirty="0"/>
              <a:t>, M. A., Maglaras, L., &amp; Janicke, H. (2024). Harnessing the power of language models in cybersecurity: A comprehensive review. Journal of Network and Computer Applications, 228, p. 103912.</a:t>
            </a:r>
          </a:p>
          <a:p>
            <a:pPr>
              <a:spcAft>
                <a:spcPts val="250"/>
              </a:spcAft>
              <a:defRPr sz="850">
                <a:solidFill>
                  <a:srgbClr val="231F20"/>
                </a:solidFill>
                <a:latin typeface="Calibri"/>
              </a:defRPr>
            </a:pPr>
            <a:r>
              <a:rPr sz="1600" dirty="0"/>
              <a:t>[6]  Lu, Z., et al. (2024). Small language models: Survey, measurements, and insights. </a:t>
            </a:r>
            <a:r>
              <a:rPr sz="1600" dirty="0" err="1"/>
              <a:t>arXiv</a:t>
            </a:r>
            <a:r>
              <a:rPr sz="1600" dirty="0"/>
              <a:t> preprint arXiv:2409.15790.</a:t>
            </a:r>
          </a:p>
          <a:p>
            <a:pPr>
              <a:spcAft>
                <a:spcPts val="250"/>
              </a:spcAft>
              <a:defRPr sz="850">
                <a:solidFill>
                  <a:srgbClr val="231F20"/>
                </a:solidFill>
                <a:latin typeface="Calibri"/>
              </a:defRPr>
            </a:pPr>
            <a:r>
              <a:rPr sz="1600" dirty="0"/>
              <a:t>[7]  Tihanyi, S., et al. (2025). Toward cybersecurity-expert small language models. </a:t>
            </a:r>
            <a:r>
              <a:rPr sz="1600" dirty="0" err="1"/>
              <a:t>arXiv</a:t>
            </a:r>
            <a:r>
              <a:rPr sz="1600" dirty="0"/>
              <a:t> preprint arXiv:2510.14113.</a:t>
            </a:r>
          </a:p>
          <a:p>
            <a:pPr>
              <a:spcAft>
                <a:spcPts val="250"/>
              </a:spcAft>
              <a:defRPr sz="850">
                <a:solidFill>
                  <a:srgbClr val="231F20"/>
                </a:solidFill>
                <a:latin typeface="Calibri"/>
              </a:defRPr>
            </a:pPr>
            <a:r>
              <a:rPr sz="1600" dirty="0"/>
              <a:t>[8]  </a:t>
            </a:r>
            <a:r>
              <a:rPr sz="1600" dirty="0" err="1"/>
              <a:t>UpSight</a:t>
            </a:r>
            <a:r>
              <a:rPr sz="1600" dirty="0"/>
              <a:t> Security. (2024). Small language models against ransomware. </a:t>
            </a:r>
            <a:r>
              <a:rPr sz="1600" dirty="0" err="1"/>
              <a:t>UpSight</a:t>
            </a:r>
            <a:r>
              <a:rPr sz="1600" dirty="0"/>
              <a:t> AI Whitepaper. https://upsight.ai/small-language-models/</a:t>
            </a:r>
          </a:p>
          <a:p>
            <a:pPr>
              <a:spcAft>
                <a:spcPts val="250"/>
              </a:spcAft>
              <a:defRPr sz="850">
                <a:solidFill>
                  <a:srgbClr val="231F20"/>
                </a:solidFill>
                <a:latin typeface="Calibri"/>
              </a:defRPr>
            </a:pPr>
            <a:r>
              <a:rPr sz="1600" dirty="0"/>
              <a:t>[9]  Xu, J., &amp; Wang, X. (2024). Large language models for cyber security: A systematic literature review. </a:t>
            </a:r>
            <a:r>
              <a:rPr sz="1600" dirty="0" err="1"/>
              <a:t>arXiv</a:t>
            </a:r>
            <a:r>
              <a:rPr sz="1600" dirty="0"/>
              <a:t> preprint arXiv:2405.04760.</a:t>
            </a:r>
          </a:p>
          <a:p>
            <a:pPr>
              <a:spcAft>
                <a:spcPts val="250"/>
              </a:spcAft>
              <a:defRPr sz="850">
                <a:solidFill>
                  <a:srgbClr val="231F20"/>
                </a:solidFill>
                <a:latin typeface="Calibri"/>
              </a:defRPr>
            </a:pPr>
            <a:r>
              <a:rPr sz="1600" dirty="0"/>
              <a:t>[10]  Zheng, J., et al. (2025). When LLMs meet cybersecurity: A systematic literature review. Cybersecurity, 8(1), pp. 1-28.</a:t>
            </a:r>
          </a:p>
          <a:p>
            <a:pPr>
              <a:spcAft>
                <a:spcPts val="250"/>
              </a:spcAft>
              <a:defRPr sz="850">
                <a:solidFill>
                  <a:srgbClr val="231F20"/>
                </a:solidFill>
                <a:latin typeface="Calibri"/>
              </a:defRPr>
            </a:pPr>
            <a:r>
              <a:rPr sz="1600" dirty="0"/>
              <a:t>[11]  Lu, Z., et al. (2025). Demystifying small language models for edge deployment. In Proceedings of the 63rd Annual Meeting of the Association for Computational Linguistics (ACL 2025), pp. 1-15.</a:t>
            </a:r>
          </a:p>
          <a:p>
            <a:pPr>
              <a:spcAft>
                <a:spcPts val="250"/>
              </a:spcAft>
              <a:defRPr sz="850">
                <a:solidFill>
                  <a:srgbClr val="231F20"/>
                </a:solidFill>
                <a:latin typeface="Calibri"/>
              </a:defRPr>
            </a:pPr>
            <a:r>
              <a:rPr sz="1600" dirty="0"/>
              <a:t>[12]  Palo Alto Networks. (2025). How small language models are quietly revolutionizing cybersecurity. Palo Alto Networks Technical Insights.</a:t>
            </a:r>
          </a:p>
          <a:p>
            <a:pPr>
              <a:spcAft>
                <a:spcPts val="250"/>
              </a:spcAft>
              <a:defRPr sz="850">
                <a:solidFill>
                  <a:srgbClr val="231F20"/>
                </a:solidFill>
                <a:latin typeface="Calibri"/>
              </a:defRPr>
            </a:pPr>
            <a:r>
              <a:rPr sz="1600" dirty="0"/>
              <a:t>[13]  MITRE Corporation. (2025). Lateral movement (Tactic TA0008). MITRE ATT&amp;CK Enterprise Matrix. https://attack.mitre.org/tactics/TA0008/</a:t>
            </a:r>
          </a:p>
          <a:p>
            <a:pPr>
              <a:spcAft>
                <a:spcPts val="250"/>
              </a:spcAft>
              <a:defRPr sz="850">
                <a:solidFill>
                  <a:srgbClr val="231F20"/>
                </a:solidFill>
                <a:latin typeface="Calibri"/>
              </a:defRPr>
            </a:pPr>
            <a:r>
              <a:rPr sz="1600" dirty="0"/>
              <a:t>[14]  Carvajal, B., et al. (2024). Detecting lateral movement: A systematic survey. </a:t>
            </a:r>
            <a:r>
              <a:rPr sz="1600" dirty="0" err="1"/>
              <a:t>Heliyon</a:t>
            </a:r>
            <a:r>
              <a:rPr sz="1600" dirty="0"/>
              <a:t>, 10(4), pp. e25841-e25858.</a:t>
            </a:r>
          </a:p>
          <a:p>
            <a:pPr>
              <a:spcAft>
                <a:spcPts val="250"/>
              </a:spcAft>
              <a:defRPr sz="850">
                <a:solidFill>
                  <a:srgbClr val="231F20"/>
                </a:solidFill>
                <a:latin typeface="Calibri"/>
              </a:defRPr>
            </a:pPr>
            <a:r>
              <a:rPr sz="1600" dirty="0"/>
              <a:t>[15]  Chen, H., et al. (2023). </a:t>
            </a:r>
            <a:r>
              <a:rPr sz="1600" dirty="0" err="1"/>
              <a:t>Fuchikoma</a:t>
            </a:r>
            <a:r>
              <a:rPr sz="1600" dirty="0"/>
              <a:t>: NLP and neural network-based autonomous threat hunting. In Proceedings of the IEEE Symposium on Security and Privacy (S&amp;P 2023), pp. 1240-1256.</a:t>
            </a:r>
          </a:p>
          <a:p>
            <a:pPr>
              <a:spcAft>
                <a:spcPts val="250"/>
              </a:spcAft>
              <a:defRPr sz="850">
                <a:solidFill>
                  <a:srgbClr val="231F20"/>
                </a:solidFill>
                <a:latin typeface="Calibri"/>
              </a:defRPr>
            </a:pPr>
            <a:r>
              <a:rPr sz="1600" dirty="0"/>
              <a:t>[16]  Okada, S., et al. (2024). ATT&amp;CK technique extraction from Windows logs for lateral movement path identification. In Proceedings of the 40th Annual Computer Security Applications Conference (ACSAC 2024), pp. 312-325.</a:t>
            </a:r>
          </a:p>
          <a:p>
            <a:pPr>
              <a:spcAft>
                <a:spcPts val="250"/>
              </a:spcAft>
              <a:defRPr sz="850">
                <a:solidFill>
                  <a:srgbClr val="231F20"/>
                </a:solidFill>
                <a:latin typeface="Calibri"/>
              </a:defRPr>
            </a:pPr>
            <a:r>
              <a:rPr sz="1600" dirty="0"/>
              <a:t>[17]  Akhtar, A., Baker, T., &amp; Ray, P. (2024). A comprehensive literature review on ransomware detection using deep learning. Journal of Information Security and Applications, 81, p. 103714.</a:t>
            </a:r>
          </a:p>
          <a:p>
            <a:pPr>
              <a:spcAft>
                <a:spcPts val="250"/>
              </a:spcAft>
              <a:defRPr sz="850">
                <a:solidFill>
                  <a:srgbClr val="231F20"/>
                </a:solidFill>
                <a:latin typeface="Calibri"/>
              </a:defRPr>
            </a:pPr>
            <a:r>
              <a:rPr sz="1600" dirty="0"/>
              <a:t>[18]  Boffa, M., et al. (2024). </a:t>
            </a:r>
            <a:r>
              <a:rPr sz="1600" dirty="0" err="1"/>
              <a:t>LogPrecis</a:t>
            </a:r>
            <a:r>
              <a:rPr sz="1600" dirty="0"/>
              <a:t>: Unleashing language models for automated malicious log analysis. Computers &amp; Security, 137, p. 103612.</a:t>
            </a:r>
          </a:p>
          <a:p>
            <a:pPr>
              <a:spcAft>
                <a:spcPts val="250"/>
              </a:spcAft>
              <a:defRPr sz="850">
                <a:solidFill>
                  <a:srgbClr val="231F20"/>
                </a:solidFill>
                <a:latin typeface="Calibri"/>
              </a:defRPr>
            </a:pPr>
            <a:r>
              <a:rPr sz="1600" dirty="0"/>
              <a:t>[19]  Xu, H., et al. (2023). Efficient ransomware detection via portable executable file image analysis by LLaMA-7B. In Proceedings of the AAAI Workshop on Artificial Intelligence for Cyber Security, pp. 45-52.</a:t>
            </a:r>
          </a:p>
          <a:p>
            <a:pPr>
              <a:spcAft>
                <a:spcPts val="250"/>
              </a:spcAft>
              <a:defRPr sz="850">
                <a:solidFill>
                  <a:srgbClr val="231F20"/>
                </a:solidFill>
                <a:latin typeface="Calibri"/>
              </a:defRPr>
            </a:pPr>
            <a:r>
              <a:rPr sz="1600" dirty="0"/>
              <a:t>[20]  Meftah, S., et al. (2025). Fine-tuning small language models for accurate and private CWE detection in Python code. </a:t>
            </a:r>
            <a:r>
              <a:rPr sz="1600" dirty="0" err="1"/>
              <a:t>arXiv</a:t>
            </a:r>
            <a:r>
              <a:rPr sz="1600" dirty="0"/>
              <a:t> preprint arXiv:2504.16584.</a:t>
            </a:r>
          </a:p>
          <a:p>
            <a:pPr>
              <a:spcAft>
                <a:spcPts val="250"/>
              </a:spcAft>
              <a:defRPr sz="850">
                <a:solidFill>
                  <a:srgbClr val="231F20"/>
                </a:solidFill>
                <a:latin typeface="Calibri"/>
              </a:defRPr>
            </a:pPr>
            <a:r>
              <a:rPr sz="1600" dirty="0"/>
              <a:t>[21]  Khan, M., et al. (2025). Large language models for Security Operations Centers: A comprehensive survey. </a:t>
            </a:r>
            <a:r>
              <a:rPr sz="1600" dirty="0" err="1"/>
              <a:t>arXiv</a:t>
            </a:r>
            <a:r>
              <a:rPr sz="1600" dirty="0"/>
              <a:t> preprint arXiv:2509.10858.</a:t>
            </a:r>
          </a:p>
          <a:p>
            <a:pPr>
              <a:spcAft>
                <a:spcPts val="250"/>
              </a:spcAft>
              <a:defRPr sz="850">
                <a:solidFill>
                  <a:srgbClr val="231F20"/>
                </a:solidFill>
                <a:latin typeface="Calibri"/>
              </a:defRPr>
            </a:pPr>
            <a:r>
              <a:rPr sz="1600" dirty="0"/>
              <a:t>[22]  Ki, Y., et al. (2023). Malware API call sequence analysis using dynamic behavioral signatures. Journal of Information Security, 14(2), pp. 115-132.</a:t>
            </a:r>
          </a:p>
          <a:p>
            <a:pPr>
              <a:spcAft>
                <a:spcPts val="250"/>
              </a:spcAft>
              <a:defRPr sz="850">
                <a:solidFill>
                  <a:srgbClr val="231F20"/>
                </a:solidFill>
                <a:latin typeface="Calibri"/>
              </a:defRPr>
            </a:pPr>
            <a:r>
              <a:rPr sz="1600" dirty="0"/>
              <a:t>[23]  </a:t>
            </a:r>
            <a:r>
              <a:rPr sz="1600" dirty="0" err="1"/>
              <a:t>Kuwano</a:t>
            </a:r>
            <a:r>
              <a:rPr sz="1600" dirty="0"/>
              <a:t>, T., et al. (2022). KNN-based collaborative filtering for ATT&amp;CK TTP prediction. In Proceedings of the ACM Cloud Computing Security Workshop (CCSW 2022), pp. 55-66.</a:t>
            </a:r>
          </a:p>
          <a:p>
            <a:pPr>
              <a:spcAft>
                <a:spcPts val="250"/>
              </a:spcAft>
              <a:defRPr sz="850">
                <a:solidFill>
                  <a:srgbClr val="231F20"/>
                </a:solidFill>
                <a:latin typeface="Calibri"/>
              </a:defRPr>
            </a:pPr>
            <a:r>
              <a:rPr sz="1600" dirty="0"/>
              <a:t>[24]  Saeed, A., et al. (2025). A survey on edge computing security challenges: Classification, threats, and mitigation strategies. Future Internet, 17(4), pp. 142-168.</a:t>
            </a:r>
          </a:p>
          <a:p>
            <a:pPr>
              <a:spcAft>
                <a:spcPts val="250"/>
              </a:spcAft>
              <a:defRPr sz="850">
                <a:solidFill>
                  <a:srgbClr val="231F20"/>
                </a:solidFill>
                <a:latin typeface="Calibri"/>
              </a:defRPr>
            </a:pPr>
            <a:r>
              <a:rPr sz="1600" dirty="0"/>
              <a:t>[25]  Lin, Z., et al. (2025). Can small language models reliably resist jailbreak attacks? A comprehensive evaluation. </a:t>
            </a:r>
            <a:r>
              <a:rPr sz="1600" dirty="0" err="1"/>
              <a:t>arXiv</a:t>
            </a:r>
            <a:r>
              <a:rPr sz="1600" dirty="0"/>
              <a:t> preprint arXiv:2503.06519.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2"/>
          <p:cNvSpPr txBox="1"/>
          <p:nvPr/>
        </p:nvSpPr>
        <p:spPr>
          <a:xfrm>
            <a:off x="3463770" y="3793552"/>
            <a:ext cx="5435861" cy="1169872"/>
          </a:xfrm>
          <a:prstGeom prst="rect">
            <a:avLst/>
          </a:prstGeom>
          <a:noFill/>
          <a:ln>
            <a:noFill/>
          </a:ln>
        </p:spPr>
        <p:txBody>
          <a:bodyPr spcFirstLastPara="1" wrap="square" lIns="0" tIns="0" rIns="0" bIns="0" anchor="t" anchorCtr="0">
            <a:spAutoFit/>
          </a:bodyPr>
          <a:lstStyle/>
          <a:p>
            <a:pPr marL="0" marR="0" lvl="0" indent="0" algn="ctr" rtl="0">
              <a:lnSpc>
                <a:spcPct val="93002"/>
              </a:lnSpc>
              <a:spcBef>
                <a:spcPts val="0"/>
              </a:spcBef>
              <a:spcAft>
                <a:spcPts val="0"/>
              </a:spcAft>
              <a:buClr>
                <a:srgbClr val="000000"/>
              </a:buClr>
              <a:buSzPts val="8174"/>
              <a:buFont typeface="Arial"/>
              <a:buNone/>
            </a:pPr>
            <a:r>
              <a:rPr lang="en-IN" sz="8174" b="1" i="0" u="none" strike="noStrike" cap="none">
                <a:solidFill>
                  <a:srgbClr val="231F20"/>
                </a:solidFill>
                <a:latin typeface="Arial Rounded"/>
                <a:ea typeface="Arial Rounded"/>
                <a:cs typeface="Arial Rounded"/>
                <a:sym typeface="Arial Rounded"/>
              </a:rPr>
              <a:t>QnA</a:t>
            </a:r>
            <a:endParaRPr sz="1400" b="0" i="0" u="none" strike="noStrike" cap="none">
              <a:solidFill>
                <a:srgbClr val="000000"/>
              </a:solidFill>
              <a:latin typeface="Arial"/>
              <a:ea typeface="Arial"/>
              <a:cs typeface="Arial"/>
              <a:sym typeface="Arial"/>
            </a:endParaRPr>
          </a:p>
        </p:txBody>
      </p:sp>
      <p:grpSp>
        <p:nvGrpSpPr>
          <p:cNvPr id="254" name="Google Shape;254;p12"/>
          <p:cNvGrpSpPr/>
          <p:nvPr/>
        </p:nvGrpSpPr>
        <p:grpSpPr>
          <a:xfrm rot="826432">
            <a:off x="-18344493" y="-3638449"/>
            <a:ext cx="21026341" cy="12904251"/>
            <a:chOff x="0" y="-19050"/>
            <a:chExt cx="5537802" cy="3398651"/>
          </a:xfrm>
        </p:grpSpPr>
        <p:sp>
          <p:nvSpPr>
            <p:cNvPr id="255" name="Google Shape;255;p12"/>
            <p:cNvSpPr/>
            <p:nvPr/>
          </p:nvSpPr>
          <p:spPr>
            <a:xfrm>
              <a:off x="0" y="0"/>
              <a:ext cx="5537802" cy="3379601"/>
            </a:xfrm>
            <a:custGeom>
              <a:avLst/>
              <a:gdLst/>
              <a:ahLst/>
              <a:cxnLst/>
              <a:rect l="l" t="t" r="r" b="b"/>
              <a:pathLst>
                <a:path w="5537802" h="3379601" extrusionOk="0">
                  <a:moveTo>
                    <a:pt x="0" y="0"/>
                  </a:moveTo>
                  <a:lnTo>
                    <a:pt x="5537802" y="0"/>
                  </a:lnTo>
                  <a:lnTo>
                    <a:pt x="5537802" y="3379601"/>
                  </a:lnTo>
                  <a:lnTo>
                    <a:pt x="0" y="3379601"/>
                  </a:lnTo>
                  <a:close/>
                </a:path>
              </a:pathLst>
            </a:custGeom>
            <a:solidFill>
              <a:srgbClr val="17365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12"/>
            <p:cNvSpPr txBox="1"/>
            <p:nvPr/>
          </p:nvSpPr>
          <p:spPr>
            <a:xfrm>
              <a:off x="0" y="-19050"/>
              <a:ext cx="5537802" cy="3398651"/>
            </a:xfrm>
            <a:prstGeom prst="rect">
              <a:avLst/>
            </a:prstGeom>
            <a:solidFill>
              <a:srgbClr val="17365D"/>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57" name="Google Shape;257;p12"/>
          <p:cNvGrpSpPr/>
          <p:nvPr/>
        </p:nvGrpSpPr>
        <p:grpSpPr>
          <a:xfrm rot="514787">
            <a:off x="10490592" y="3024167"/>
            <a:ext cx="313833" cy="8554679"/>
            <a:chOff x="0" y="-19050"/>
            <a:chExt cx="82656" cy="2253084"/>
          </a:xfrm>
        </p:grpSpPr>
        <p:sp>
          <p:nvSpPr>
            <p:cNvPr id="258" name="Google Shape;258;p12"/>
            <p:cNvSpPr/>
            <p:nvPr/>
          </p:nvSpPr>
          <p:spPr>
            <a:xfrm>
              <a:off x="0" y="0"/>
              <a:ext cx="82656" cy="2234034"/>
            </a:xfrm>
            <a:custGeom>
              <a:avLst/>
              <a:gdLst/>
              <a:ahLst/>
              <a:cxnLst/>
              <a:rect l="l" t="t" r="r" b="b"/>
              <a:pathLst>
                <a:path w="82656" h="2234034" extrusionOk="0">
                  <a:moveTo>
                    <a:pt x="0" y="0"/>
                  </a:moveTo>
                  <a:lnTo>
                    <a:pt x="82656" y="0"/>
                  </a:lnTo>
                  <a:lnTo>
                    <a:pt x="82656" y="2234034"/>
                  </a:lnTo>
                  <a:lnTo>
                    <a:pt x="0" y="2234034"/>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12"/>
            <p:cNvSpPr txBox="1"/>
            <p:nvPr/>
          </p:nvSpPr>
          <p:spPr>
            <a:xfrm>
              <a:off x="0" y="-19050"/>
              <a:ext cx="82656" cy="2253084"/>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60" name="Google Shape;260;p12"/>
          <p:cNvGrpSpPr/>
          <p:nvPr/>
        </p:nvGrpSpPr>
        <p:grpSpPr>
          <a:xfrm rot="773821">
            <a:off x="3749644" y="-4905431"/>
            <a:ext cx="313833" cy="8554679"/>
            <a:chOff x="0" y="-19050"/>
            <a:chExt cx="82656" cy="2253084"/>
          </a:xfrm>
        </p:grpSpPr>
        <p:sp>
          <p:nvSpPr>
            <p:cNvPr id="261" name="Google Shape;261;p12"/>
            <p:cNvSpPr/>
            <p:nvPr/>
          </p:nvSpPr>
          <p:spPr>
            <a:xfrm>
              <a:off x="0" y="0"/>
              <a:ext cx="82656" cy="2234034"/>
            </a:xfrm>
            <a:custGeom>
              <a:avLst/>
              <a:gdLst/>
              <a:ahLst/>
              <a:cxnLst/>
              <a:rect l="l" t="t" r="r" b="b"/>
              <a:pathLst>
                <a:path w="82656" h="2234034" extrusionOk="0">
                  <a:moveTo>
                    <a:pt x="0" y="0"/>
                  </a:moveTo>
                  <a:lnTo>
                    <a:pt x="82656" y="0"/>
                  </a:lnTo>
                  <a:lnTo>
                    <a:pt x="82656" y="2234034"/>
                  </a:lnTo>
                  <a:lnTo>
                    <a:pt x="0" y="2234034"/>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12"/>
            <p:cNvSpPr txBox="1"/>
            <p:nvPr/>
          </p:nvSpPr>
          <p:spPr>
            <a:xfrm>
              <a:off x="0" y="-19050"/>
              <a:ext cx="82656" cy="2253084"/>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263" name="Google Shape;263;p12" descr="Circuit board"/>
          <p:cNvPicPr preferRelativeResize="0"/>
          <p:nvPr/>
        </p:nvPicPr>
        <p:blipFill rotWithShape="1">
          <a:blip r:embed="rId3">
            <a:alphaModFix/>
          </a:blip>
          <a:srcRect l="25823" r="25823"/>
          <a:stretch/>
        </p:blipFill>
        <p:spPr>
          <a:xfrm rot="535668">
            <a:off x="11134363" y="-371478"/>
            <a:ext cx="8391568" cy="1157545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3"/>
          <p:cNvSpPr txBox="1"/>
          <p:nvPr/>
        </p:nvSpPr>
        <p:spPr>
          <a:xfrm>
            <a:off x="3463770" y="3793552"/>
            <a:ext cx="5435861" cy="2339743"/>
          </a:xfrm>
          <a:prstGeom prst="rect">
            <a:avLst/>
          </a:prstGeom>
          <a:noFill/>
          <a:ln>
            <a:noFill/>
          </a:ln>
        </p:spPr>
        <p:txBody>
          <a:bodyPr spcFirstLastPara="1" wrap="square" lIns="0" tIns="0" rIns="0" bIns="0" anchor="t" anchorCtr="0">
            <a:spAutoFit/>
          </a:bodyPr>
          <a:lstStyle/>
          <a:p>
            <a:pPr marL="0" marR="0" lvl="0" indent="0" algn="ctr" rtl="0">
              <a:lnSpc>
                <a:spcPct val="93002"/>
              </a:lnSpc>
              <a:spcBef>
                <a:spcPts val="0"/>
              </a:spcBef>
              <a:spcAft>
                <a:spcPts val="0"/>
              </a:spcAft>
              <a:buClr>
                <a:srgbClr val="000000"/>
              </a:buClr>
              <a:buSzPts val="8174"/>
              <a:buFont typeface="Arial"/>
              <a:buNone/>
            </a:pPr>
            <a:r>
              <a:rPr lang="en-IN" sz="8174" b="1" i="0" u="none" strike="noStrike" cap="none">
                <a:solidFill>
                  <a:srgbClr val="231F20"/>
                </a:solidFill>
                <a:latin typeface="Arial Rounded"/>
                <a:ea typeface="Arial Rounded"/>
                <a:cs typeface="Arial Rounded"/>
                <a:sym typeface="Arial Rounded"/>
              </a:rPr>
              <a:t>Thank </a:t>
            </a:r>
            <a:endParaRPr sz="1400" b="0" i="0" u="none" strike="noStrike" cap="none">
              <a:solidFill>
                <a:srgbClr val="000000"/>
              </a:solidFill>
              <a:latin typeface="Arial"/>
              <a:ea typeface="Arial"/>
              <a:cs typeface="Arial"/>
              <a:sym typeface="Arial"/>
            </a:endParaRPr>
          </a:p>
          <a:p>
            <a:pPr marL="0" marR="0" lvl="0" indent="0" algn="ctr" rtl="0">
              <a:lnSpc>
                <a:spcPct val="93002"/>
              </a:lnSpc>
              <a:spcBef>
                <a:spcPts val="0"/>
              </a:spcBef>
              <a:spcAft>
                <a:spcPts val="0"/>
              </a:spcAft>
              <a:buClr>
                <a:srgbClr val="000000"/>
              </a:buClr>
              <a:buSzPts val="8174"/>
              <a:buFont typeface="Arial"/>
              <a:buNone/>
            </a:pPr>
            <a:r>
              <a:rPr lang="en-IN" sz="8174" b="1" i="0" u="none" strike="noStrike" cap="none">
                <a:solidFill>
                  <a:srgbClr val="231F20"/>
                </a:solidFill>
                <a:latin typeface="Arial Rounded"/>
                <a:ea typeface="Arial Rounded"/>
                <a:cs typeface="Arial Rounded"/>
                <a:sym typeface="Arial Rounded"/>
              </a:rPr>
              <a:t>You</a:t>
            </a:r>
            <a:endParaRPr sz="1400" b="0" i="0" u="none" strike="noStrike" cap="none">
              <a:solidFill>
                <a:srgbClr val="000000"/>
              </a:solidFill>
              <a:latin typeface="Arial"/>
              <a:ea typeface="Arial"/>
              <a:cs typeface="Arial"/>
              <a:sym typeface="Arial"/>
            </a:endParaRPr>
          </a:p>
        </p:txBody>
      </p:sp>
      <p:grpSp>
        <p:nvGrpSpPr>
          <p:cNvPr id="270" name="Google Shape;270;p13"/>
          <p:cNvGrpSpPr/>
          <p:nvPr/>
        </p:nvGrpSpPr>
        <p:grpSpPr>
          <a:xfrm rot="826432">
            <a:off x="-18344493" y="-3638449"/>
            <a:ext cx="21026341" cy="12904251"/>
            <a:chOff x="0" y="-19050"/>
            <a:chExt cx="5537802" cy="3398651"/>
          </a:xfrm>
        </p:grpSpPr>
        <p:sp>
          <p:nvSpPr>
            <p:cNvPr id="271" name="Google Shape;271;p13"/>
            <p:cNvSpPr/>
            <p:nvPr/>
          </p:nvSpPr>
          <p:spPr>
            <a:xfrm>
              <a:off x="0" y="0"/>
              <a:ext cx="5537802" cy="3379601"/>
            </a:xfrm>
            <a:custGeom>
              <a:avLst/>
              <a:gdLst/>
              <a:ahLst/>
              <a:cxnLst/>
              <a:rect l="l" t="t" r="r" b="b"/>
              <a:pathLst>
                <a:path w="5537802" h="3379601" extrusionOk="0">
                  <a:moveTo>
                    <a:pt x="0" y="0"/>
                  </a:moveTo>
                  <a:lnTo>
                    <a:pt x="5537802" y="0"/>
                  </a:lnTo>
                  <a:lnTo>
                    <a:pt x="5537802" y="3379601"/>
                  </a:lnTo>
                  <a:lnTo>
                    <a:pt x="0" y="3379601"/>
                  </a:lnTo>
                  <a:close/>
                </a:path>
              </a:pathLst>
            </a:custGeom>
            <a:solidFill>
              <a:srgbClr val="17365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13"/>
            <p:cNvSpPr txBox="1"/>
            <p:nvPr/>
          </p:nvSpPr>
          <p:spPr>
            <a:xfrm>
              <a:off x="0" y="-19050"/>
              <a:ext cx="5537802" cy="3398651"/>
            </a:xfrm>
            <a:prstGeom prst="rect">
              <a:avLst/>
            </a:prstGeom>
            <a:solidFill>
              <a:srgbClr val="17365D"/>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73" name="Google Shape;273;p13"/>
          <p:cNvGrpSpPr/>
          <p:nvPr/>
        </p:nvGrpSpPr>
        <p:grpSpPr>
          <a:xfrm rot="514787">
            <a:off x="10490592" y="3024167"/>
            <a:ext cx="313833" cy="8554679"/>
            <a:chOff x="0" y="-19050"/>
            <a:chExt cx="82656" cy="2253084"/>
          </a:xfrm>
        </p:grpSpPr>
        <p:sp>
          <p:nvSpPr>
            <p:cNvPr id="274" name="Google Shape;274;p13"/>
            <p:cNvSpPr/>
            <p:nvPr/>
          </p:nvSpPr>
          <p:spPr>
            <a:xfrm>
              <a:off x="0" y="0"/>
              <a:ext cx="82656" cy="2234034"/>
            </a:xfrm>
            <a:custGeom>
              <a:avLst/>
              <a:gdLst/>
              <a:ahLst/>
              <a:cxnLst/>
              <a:rect l="l" t="t" r="r" b="b"/>
              <a:pathLst>
                <a:path w="82656" h="2234034" extrusionOk="0">
                  <a:moveTo>
                    <a:pt x="0" y="0"/>
                  </a:moveTo>
                  <a:lnTo>
                    <a:pt x="82656" y="0"/>
                  </a:lnTo>
                  <a:lnTo>
                    <a:pt x="82656" y="2234034"/>
                  </a:lnTo>
                  <a:lnTo>
                    <a:pt x="0" y="2234034"/>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13"/>
            <p:cNvSpPr txBox="1"/>
            <p:nvPr/>
          </p:nvSpPr>
          <p:spPr>
            <a:xfrm>
              <a:off x="0" y="-19050"/>
              <a:ext cx="82656" cy="2253084"/>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76" name="Google Shape;276;p13"/>
          <p:cNvGrpSpPr/>
          <p:nvPr/>
        </p:nvGrpSpPr>
        <p:grpSpPr>
          <a:xfrm rot="773821">
            <a:off x="3749644" y="-4905431"/>
            <a:ext cx="313833" cy="8554679"/>
            <a:chOff x="0" y="-19050"/>
            <a:chExt cx="82656" cy="2253084"/>
          </a:xfrm>
        </p:grpSpPr>
        <p:sp>
          <p:nvSpPr>
            <p:cNvPr id="277" name="Google Shape;277;p13"/>
            <p:cNvSpPr/>
            <p:nvPr/>
          </p:nvSpPr>
          <p:spPr>
            <a:xfrm>
              <a:off x="0" y="0"/>
              <a:ext cx="82656" cy="2234034"/>
            </a:xfrm>
            <a:custGeom>
              <a:avLst/>
              <a:gdLst/>
              <a:ahLst/>
              <a:cxnLst/>
              <a:rect l="l" t="t" r="r" b="b"/>
              <a:pathLst>
                <a:path w="82656" h="2234034" extrusionOk="0">
                  <a:moveTo>
                    <a:pt x="0" y="0"/>
                  </a:moveTo>
                  <a:lnTo>
                    <a:pt x="82656" y="0"/>
                  </a:lnTo>
                  <a:lnTo>
                    <a:pt x="82656" y="2234034"/>
                  </a:lnTo>
                  <a:lnTo>
                    <a:pt x="0" y="2234034"/>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13"/>
            <p:cNvSpPr txBox="1"/>
            <p:nvPr/>
          </p:nvSpPr>
          <p:spPr>
            <a:xfrm>
              <a:off x="0" y="-19050"/>
              <a:ext cx="82656" cy="2253084"/>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279" name="Google Shape;279;p13" descr="Circuit board"/>
          <p:cNvPicPr preferRelativeResize="0"/>
          <p:nvPr/>
        </p:nvPicPr>
        <p:blipFill rotWithShape="1">
          <a:blip r:embed="rId3">
            <a:alphaModFix/>
          </a:blip>
          <a:srcRect l="25823" r="25823"/>
          <a:stretch/>
        </p:blipFill>
        <p:spPr>
          <a:xfrm rot="535668">
            <a:off x="11134363" y="-371478"/>
            <a:ext cx="8391568" cy="1157545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grpSp>
        <p:nvGrpSpPr>
          <p:cNvPr id="285" name="Google Shape;285;p14"/>
          <p:cNvGrpSpPr/>
          <p:nvPr/>
        </p:nvGrpSpPr>
        <p:grpSpPr>
          <a:xfrm>
            <a:off x="633448" y="323215"/>
            <a:ext cx="17021103" cy="2863671"/>
            <a:chOff x="0" y="-19050"/>
            <a:chExt cx="4482924" cy="1064700"/>
          </a:xfrm>
        </p:grpSpPr>
        <p:sp>
          <p:nvSpPr>
            <p:cNvPr id="286" name="Google Shape;286;p14"/>
            <p:cNvSpPr/>
            <p:nvPr/>
          </p:nvSpPr>
          <p:spPr>
            <a:xfrm>
              <a:off x="0" y="0"/>
              <a:ext cx="4482924" cy="1045650"/>
            </a:xfrm>
            <a:custGeom>
              <a:avLst/>
              <a:gdLst/>
              <a:ahLst/>
              <a:cxnLst/>
              <a:rect l="l" t="t" r="r" b="b"/>
              <a:pathLst>
                <a:path w="4482924" h="1045650" extrusionOk="0">
                  <a:moveTo>
                    <a:pt x="0" y="0"/>
                  </a:moveTo>
                  <a:lnTo>
                    <a:pt x="4482924" y="0"/>
                  </a:lnTo>
                  <a:lnTo>
                    <a:pt x="4482924" y="1045650"/>
                  </a:lnTo>
                  <a:lnTo>
                    <a:pt x="0" y="1045650"/>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14"/>
            <p:cNvSpPr txBox="1"/>
            <p:nvPr/>
          </p:nvSpPr>
          <p:spPr>
            <a:xfrm>
              <a:off x="0" y="-19050"/>
              <a:ext cx="4482924" cy="1064700"/>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88" name="Google Shape;288;p14"/>
          <p:cNvSpPr/>
          <p:nvPr/>
        </p:nvSpPr>
        <p:spPr>
          <a:xfrm>
            <a:off x="616295" y="467381"/>
            <a:ext cx="16933642" cy="2719505"/>
          </a:xfrm>
          <a:custGeom>
            <a:avLst/>
            <a:gdLst/>
            <a:ahLst/>
            <a:cxnLst/>
            <a:rect l="l" t="t" r="r" b="b"/>
            <a:pathLst>
              <a:path w="16933642" h="3949605" extrusionOk="0">
                <a:moveTo>
                  <a:pt x="0" y="0"/>
                </a:moveTo>
                <a:lnTo>
                  <a:pt x="16933643" y="0"/>
                </a:lnTo>
                <a:lnTo>
                  <a:pt x="16933643" y="3949605"/>
                </a:lnTo>
                <a:lnTo>
                  <a:pt x="0" y="3949605"/>
                </a:lnTo>
                <a:lnTo>
                  <a:pt x="0" y="0"/>
                </a:lnTo>
                <a:close/>
              </a:path>
            </a:pathLst>
          </a:custGeom>
          <a:blipFill rotWithShape="1">
            <a:blip r:embed="rId3">
              <a:alphaModFix amt="18000"/>
            </a:blip>
            <a:stretch>
              <a:fillRect t="-92887" b="-9288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14"/>
          <p:cNvSpPr txBox="1"/>
          <p:nvPr/>
        </p:nvSpPr>
        <p:spPr>
          <a:xfrm>
            <a:off x="4375955" y="1317753"/>
            <a:ext cx="9515774" cy="1770100"/>
          </a:xfrm>
          <a:prstGeom prst="rect">
            <a:avLst/>
          </a:prstGeom>
          <a:noFill/>
          <a:ln>
            <a:noFill/>
          </a:ln>
        </p:spPr>
        <p:txBody>
          <a:bodyPr spcFirstLastPara="1" wrap="square" lIns="0" tIns="0" rIns="0" bIns="0" anchor="t" anchorCtr="0">
            <a:spAutoFit/>
          </a:bodyPr>
          <a:lstStyle/>
          <a:p>
            <a:pPr marL="0" marR="0" lvl="0" indent="0" algn="ctr" rtl="0">
              <a:lnSpc>
                <a:spcPct val="137996"/>
              </a:lnSpc>
              <a:spcBef>
                <a:spcPts val="0"/>
              </a:spcBef>
              <a:spcAft>
                <a:spcPts val="0"/>
              </a:spcAft>
              <a:buClr>
                <a:srgbClr val="000000"/>
              </a:buClr>
              <a:buSzPts val="8335"/>
              <a:buFont typeface="Arial"/>
              <a:buNone/>
            </a:pPr>
            <a:r>
              <a:rPr lang="en-IN" sz="8335" b="1" i="0" u="none" strike="noStrike" cap="none">
                <a:solidFill>
                  <a:srgbClr val="FFFFFF"/>
                </a:solidFill>
                <a:latin typeface="Arial Rounded"/>
                <a:ea typeface="Arial Rounded"/>
                <a:cs typeface="Arial Rounded"/>
                <a:sym typeface="Arial Rounded"/>
              </a:rPr>
              <a:t>Backup Slides</a:t>
            </a:r>
            <a:endParaRPr sz="1400" b="0" i="0" u="none" strike="noStrike" cap="none">
              <a:solidFill>
                <a:srgbClr val="000000"/>
              </a:solidFill>
              <a:latin typeface="Arial"/>
              <a:ea typeface="Arial"/>
              <a:cs typeface="Arial"/>
              <a:sym typeface="Arial"/>
            </a:endParaRPr>
          </a:p>
        </p:txBody>
      </p:sp>
      <p:sp>
        <p:nvSpPr>
          <p:cNvPr id="290" name="Google Shape;290;p14"/>
          <p:cNvSpPr txBox="1"/>
          <p:nvPr/>
        </p:nvSpPr>
        <p:spPr>
          <a:xfrm>
            <a:off x="253218" y="3514038"/>
            <a:ext cx="13406400" cy="7419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DataSets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General IoT Security Datasets</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Canadian Institute for Cybersecurity IoT Dataset (CIC IoT-2023)</a:t>
            </a:r>
            <a:endParaRPr sz="1400" b="0" i="0" u="none" strike="noStrike" cap="none">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An extensive network of 105 real IoT devices under 33 attack types across seven categories (DDoS, DoS, Recon, Web-based, Brute Force, Spoofing, Mirai). Contains flow-based features from captured pcap files to support security analytics and intrusion detection research.</a:t>
            </a:r>
            <a:endParaRPr sz="1400" b="0" i="0" u="none" strike="noStrike" cap="none">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URL: </a:t>
            </a:r>
            <a:r>
              <a:rPr lang="en-IN" sz="1400" b="0" i="0" u="sng" strike="noStrike" cap="non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https://www.unb.ca/cic/datasets/iotdataset-2023.html</a:t>
            </a:r>
            <a:endParaRPr/>
          </a:p>
          <a:p>
            <a:pPr marL="0" marR="0" lvl="4" indent="0" algn="l" rtl="0">
              <a:lnSpc>
                <a:spcPct val="100000"/>
              </a:lnSpc>
              <a:spcBef>
                <a:spcPts val="0"/>
              </a:spcBef>
              <a:spcAft>
                <a:spcPts val="0"/>
              </a:spcAft>
              <a:buClr>
                <a:srgbClr val="000000"/>
              </a:buClr>
              <a:buSzPts val="1400"/>
              <a:buFont typeface="Arial"/>
              <a:buNone/>
            </a:pPr>
            <a:endParaRPr/>
          </a:p>
          <a:p>
            <a:pPr marL="0" marR="0" lvl="4" indent="0" algn="l" rtl="0">
              <a:lnSpc>
                <a:spcPct val="100000"/>
              </a:lnSpc>
              <a:spcBef>
                <a:spcPts val="0"/>
              </a:spcBef>
              <a:spcAft>
                <a:spcPts val="0"/>
              </a:spcAft>
              <a:buClr>
                <a:srgbClr val="000000"/>
              </a:buClr>
              <a:buSzPts val="1400"/>
              <a:buFont typeface="Arial"/>
              <a:buNone/>
            </a:pPr>
            <a:r>
              <a:rPr lang="en-IN" b="1"/>
              <a:t>LM Dataset</a:t>
            </a:r>
            <a:endParaRPr b="1"/>
          </a:p>
          <a:p>
            <a:pPr marL="0" marR="0" lvl="4" indent="0" algn="l" rtl="0">
              <a:lnSpc>
                <a:spcPct val="100000"/>
              </a:lnSpc>
              <a:spcBef>
                <a:spcPts val="0"/>
              </a:spcBef>
              <a:spcAft>
                <a:spcPts val="0"/>
              </a:spcAft>
              <a:buClr>
                <a:srgbClr val="000000"/>
              </a:buClr>
              <a:buSzPts val="1400"/>
              <a:buFont typeface="Arial"/>
              <a:buNone/>
            </a:pPr>
            <a:r>
              <a:rPr lang="en-IN"/>
              <a:t>https://www.kaggle.com/datasets/ashrafahmedsadek/cybersecurity</a:t>
            </a:r>
            <a:endParaRPr/>
          </a:p>
          <a:p>
            <a:pPr marL="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IoT-23 Dataset</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Twenty malware-infected and three benign IoT network captures (~21 GB pcaps, 8.8 GB flows) from Raspberry Pi devices executed with real IoT malware samples. Annotated flows support malware detection and network forensic analysis.</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URL: </a:t>
            </a:r>
            <a:r>
              <a:rPr lang="en-IN" sz="1400" b="0" i="0" u="sng" strike="noStrike" cap="none">
                <a:solidFill>
                  <a:srgbClr val="000000"/>
                </a:solidFill>
                <a:latin typeface="Arial"/>
                <a:ea typeface="Arial"/>
                <a:cs typeface="Arial"/>
                <a:sym typeface="Arial"/>
                <a:hlinkClick r:id="rId5">
                  <a:extLst>
                    <a:ext uri="{A12FA001-AC4F-418D-AE19-62706E023703}">
                      <ahyp:hlinkClr xmlns:ahyp="http://schemas.microsoft.com/office/drawing/2018/hyperlinkcolor" val="tx"/>
                    </a:ext>
                  </a:extLst>
                </a:hlinkClick>
              </a:rPr>
              <a:t>https://www.stratosphereips.org/datasets-iot23</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DALHOUSIE NIMS LAB IoT ATTACK DATASET 2025-1</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The Dalhousie NIMS Lab IoT Attack Dataset 2025-1 was released on IEEE DataPort by the Networked Industrial Measurement Systems (NIMS) Lab at Dalhousie University. It provides a comprehensive, multi-modal capture of benign and malicious behaviors across a realistic heterogeneous IoT testbed, with the goal of supporting security testing, anomaly detection, forensics and machine-learning research in smart environments.</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URL: </a:t>
            </a:r>
            <a:r>
              <a:rPr lang="en-IN" sz="1400" b="0" i="0" u="sng" strike="noStrike" cap="none">
                <a:solidFill>
                  <a:srgbClr val="000000"/>
                </a:solidFill>
                <a:latin typeface="Arial"/>
                <a:ea typeface="Arial"/>
                <a:cs typeface="Arial"/>
                <a:sym typeface="Arial"/>
                <a:hlinkClick r:id="rId6">
                  <a:extLst>
                    <a:ext uri="{A12FA001-AC4F-418D-AE19-62706E023703}">
                      <ahyp:hlinkClr xmlns:ahyp="http://schemas.microsoft.com/office/drawing/2018/hyperlinkcolor" val="tx"/>
                    </a:ext>
                  </a:extLst>
                </a:hlinkClick>
              </a:rPr>
              <a:t>https://ieee-dataport.org/documents/dalhousie-nims-lab-iot-attack-dataset-2025-1</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Smart Manufacturing &amp; Industrial Control System (ICS) Datasets</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WADI (Water Distribution) Dataset</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16 days of sensor and actuator data from a water distribution network (123 features) including 14 days normal operation and 2 days with 15 attack scenarios. Well-labeled for anomaly detection in CPS security.</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URL: </a:t>
            </a:r>
            <a:r>
              <a:rPr lang="en-IN" sz="1400" b="0" i="0" u="sng" strike="noStrike" cap="none">
                <a:solidFill>
                  <a:srgbClr val="000000"/>
                </a:solidFill>
                <a:latin typeface="Arial"/>
                <a:ea typeface="Arial"/>
                <a:cs typeface="Arial"/>
                <a:sym typeface="Arial"/>
                <a:hlinkClick r:id="rId7">
                  <a:extLst>
                    <a:ext uri="{A12FA001-AC4F-418D-AE19-62706E023703}">
                      <ahyp:hlinkClr xmlns:ahyp="http://schemas.microsoft.com/office/drawing/2018/hyperlinkcolor" val="tx"/>
                    </a:ext>
                  </a:extLst>
                </a:hlinkClick>
              </a:rPr>
              <a:t>https://itrust.sutd.edu.sg/itrust-labs_datasets/dataset_info/</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Four vibration and RPM sensor datasets from manufacturing testbeds (e.g., spindle, gearbox), annotated for normal, near-failure and failure states. Collected under varying operating conditions to support temporal anomaly detection and defect classification with transfer learning.</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URL: </a:t>
            </a:r>
            <a:r>
              <a:rPr lang="en-IN" sz="1400" b="0" i="0" u="sng" strike="noStrike" cap="none">
                <a:solidFill>
                  <a:srgbClr val="000000"/>
                </a:solidFill>
                <a:latin typeface="Arial"/>
                <a:ea typeface="Arial"/>
                <a:cs typeface="Arial"/>
                <a:sym typeface="Arial"/>
                <a:hlinkClick r:id="rId8">
                  <a:extLst>
                    <a:ext uri="{A12FA001-AC4F-418D-AE19-62706E023703}">
                      <ahyp:hlinkClr xmlns:ahyp="http://schemas.microsoft.com/office/drawing/2018/hyperlinkcolor" val="tx"/>
                    </a:ext>
                  </a:extLst>
                </a:hlinkClick>
              </a:rPr>
              <a:t>https://www.mdpi.com/1424-8220/23/1/486</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 name="Picture 190" descr="image.png"/>
          <p:cNvPicPr>
            <a:picLocks noChangeAspect="1"/>
          </p:cNvPicPr>
          <p:nvPr/>
        </p:nvPicPr>
        <p:blipFill>
          <a:blip r:embed="rId2"/>
          <a:stretch>
            <a:fillRect/>
          </a:stretch>
        </p:blipFill>
        <p:spPr>
          <a:xfrm>
            <a:off x="16322124" y="7754894"/>
            <a:ext cx="4118443" cy="3654183"/>
          </a:xfrm>
          <a:prstGeom prst="rect">
            <a:avLst/>
          </a:prstGeom>
        </p:spPr>
      </p:pic>
      <p:pic>
        <p:nvPicPr>
          <p:cNvPr id="190" name="Picture 189" descr="image.png"/>
          <p:cNvPicPr>
            <a:picLocks noChangeAspect="1"/>
          </p:cNvPicPr>
          <p:nvPr/>
        </p:nvPicPr>
        <p:blipFill>
          <a:blip r:embed="rId2"/>
          <a:stretch>
            <a:fillRect/>
          </a:stretch>
        </p:blipFill>
        <p:spPr>
          <a:xfrm rot="10800000">
            <a:off x="-2059222" y="-789427"/>
            <a:ext cx="4118443" cy="3654183"/>
          </a:xfrm>
          <a:prstGeom prst="rect">
            <a:avLst/>
          </a:prstGeom>
        </p:spPr>
      </p:pic>
      <p:sp>
        <p:nvSpPr>
          <p:cNvPr id="188" name="Google Shape;188;g3b824e2dc5f_0_25"/>
          <p:cNvSpPr txBox="1"/>
          <p:nvPr/>
        </p:nvSpPr>
        <p:spPr>
          <a:xfrm>
            <a:off x="1998300" y="581800"/>
            <a:ext cx="15940200" cy="3336600"/>
          </a:xfrm>
          <a:prstGeom prst="rect">
            <a:avLst/>
          </a:prstGeom>
          <a:noFill/>
          <a:ln>
            <a:noFill/>
          </a:ln>
        </p:spPr>
        <p:txBody>
          <a:bodyPr spcFirstLastPara="1" wrap="square" lIns="0" tIns="0" rIns="0" bIns="0" anchor="t" anchorCtr="0">
            <a:spAutoFit/>
          </a:bodyPr>
          <a:lstStyle/>
          <a:p>
            <a:pPr marL="0" lvl="0" indent="0" algn="l" rtl="0">
              <a:lnSpc>
                <a:spcPct val="138005"/>
              </a:lnSpc>
              <a:spcBef>
                <a:spcPts val="0"/>
              </a:spcBef>
              <a:spcAft>
                <a:spcPts val="0"/>
              </a:spcAft>
              <a:buClr>
                <a:schemeClr val="dk1"/>
              </a:buClr>
              <a:buSzPts val="1100"/>
              <a:buFont typeface="Arial"/>
              <a:buNone/>
            </a:pPr>
            <a:r>
              <a:rPr sz="4400" b="1">
                <a:solidFill>
                  <a:srgbClr val="231F20"/>
                </a:solidFill>
                <a:latin typeface="Arial Rounded"/>
              </a:rPr>
              <a:t>Theoretical Foundations: Loss Objectives</a:t>
            </a:r>
            <a:endParaRPr sz="5765" b="1">
              <a:solidFill>
                <a:srgbClr val="231F20"/>
              </a:solidFill>
              <a:latin typeface="Arial Rounded"/>
              <a:ea typeface="Arial Rounded"/>
              <a:cs typeface="Arial Rounded"/>
              <a:sym typeface="Arial Rounded"/>
            </a:endParaRPr>
          </a:p>
          <a:p>
            <a:pPr marL="0" lvl="0" indent="0" algn="l" rtl="0">
              <a:lnSpc>
                <a:spcPct val="138005"/>
              </a:lnSpc>
              <a:spcBef>
                <a:spcPts val="0"/>
              </a:spcBef>
              <a:spcAft>
                <a:spcPts val="0"/>
              </a:spcAft>
              <a:buClr>
                <a:schemeClr val="dk1"/>
              </a:buClr>
              <a:buSzPts val="1100"/>
              <a:buFont typeface="Arial"/>
              <a:buNone/>
            </a:pPr>
            <a:endParaRPr sz="5765" b="1">
              <a:solidFill>
                <a:srgbClr val="231F20"/>
              </a:solidFill>
              <a:latin typeface="Arial Rounded"/>
              <a:ea typeface="Arial Rounded"/>
              <a:cs typeface="Arial Rounded"/>
              <a:sym typeface="Arial Rounded"/>
            </a:endParaRPr>
          </a:p>
          <a:p>
            <a:pPr marL="0" marR="0" lvl="0" indent="0" algn="l" rtl="0">
              <a:lnSpc>
                <a:spcPct val="138005"/>
              </a:lnSpc>
              <a:spcBef>
                <a:spcPts val="0"/>
              </a:spcBef>
              <a:spcAft>
                <a:spcPts val="0"/>
              </a:spcAft>
              <a:buClr>
                <a:srgbClr val="000000"/>
              </a:buClr>
              <a:buSzPts val="5765"/>
              <a:buFont typeface="Arial"/>
              <a:buNone/>
            </a:pPr>
            <a:endParaRPr sz="5765" b="1">
              <a:solidFill>
                <a:srgbClr val="231F20"/>
              </a:solidFill>
              <a:latin typeface="Arial Rounded"/>
              <a:ea typeface="Arial Rounded"/>
              <a:cs typeface="Arial Rounded"/>
              <a:sym typeface="Arial Rounded"/>
            </a:endParaRPr>
          </a:p>
        </p:txBody>
      </p:sp>
      <mc:AlternateContent xmlns:mc="http://schemas.openxmlformats.org/markup-compatibility/2006">
        <mc:Choice xmlns:a14="http://schemas.microsoft.com/office/drawing/2010/main" Requires="a14">
          <p:sp>
            <p:nvSpPr>
              <p:cNvPr id="189" name="Google Shape;189;g3b824e2dc5f_0_25"/>
              <p:cNvSpPr txBox="1"/>
              <p:nvPr/>
            </p:nvSpPr>
            <p:spPr>
              <a:xfrm>
                <a:off x="927921" y="2957378"/>
                <a:ext cx="16230525" cy="3430876"/>
              </a:xfrm>
              <a:prstGeom prst="rect">
                <a:avLst/>
              </a:prstGeom>
              <a:noFill/>
              <a:ln>
                <a:noFill/>
              </a:ln>
            </p:spPr>
            <p:txBody>
              <a:bodyPr spcFirstLastPara="1" wrap="square" lIns="0" tIns="0" rIns="0" bIns="0" anchor="t" anchorCtr="0">
                <a:spAutoFit/>
              </a:bodyPr>
              <a:lstStyle/>
              <a:p>
                <a:r>
                  <a:rPr lang="en-IN" sz="1800" dirty="0"/>
                  <a:t>• </a:t>
                </a:r>
                <a:r>
                  <a:rPr lang="en-IN" sz="1800" b="1" dirty="0">
                    <a:effectLst/>
                  </a:rPr>
                  <a:t>Mathematical Formulation of Lateral Movement Detection</a:t>
                </a:r>
                <a:br>
                  <a:rPr lang="en-IN" sz="1800" dirty="0">
                    <a:effectLst/>
                  </a:rPr>
                </a:br>
                <a:r>
                  <a:rPr lang="en-IN" sz="1800" dirty="0">
                    <a:effectLst/>
                  </a:rPr>
                  <a:t>Adversary telemetry is </a:t>
                </a:r>
                <a:r>
                  <a:rPr lang="en-IN" sz="1800" dirty="0" err="1">
                    <a:effectLst/>
                  </a:rPr>
                  <a:t>modeled</a:t>
                </a:r>
                <a:r>
                  <a:rPr lang="en-IN" sz="1800" dirty="0">
                    <a:effectLst/>
                  </a:rPr>
                  <a:t> as a temporal token sequence </a:t>
                </a:r>
                <a14:m>
                  <m:oMath xmlns:m="http://schemas.openxmlformats.org/officeDocument/2006/math">
                    <m:r>
                      <a:rPr lang="en-IN" b="1"/>
                      <m:t>𝐗</m:t>
                    </m:r>
                    <m:r>
                      <a:rPr lang="en-IN"/>
                      <m:t>=</m:t>
                    </m:r>
                    <m:d>
                      <m:dPr>
                        <m:sepChr m:val=","/>
                        <m:ctrlPr>
                          <a:rPr lang="en-IN" i="1"/>
                        </m:ctrlPr>
                      </m:dPr>
                      <m:e>
                        <m:sSub>
                          <m:sSubPr>
                            <m:ctrlPr>
                              <a:rPr lang="en-IN" b="1"/>
                            </m:ctrlPr>
                          </m:sSubPr>
                          <m:e>
                            <m:r>
                              <a:rPr lang="en-IN" b="1"/>
                              <m:t>𝐱</m:t>
                            </m:r>
                          </m:e>
                          <m:sub>
                            <m:r>
                              <a:rPr lang="en-IN"/>
                              <m:t>1</m:t>
                            </m:r>
                          </m:sub>
                        </m:sSub>
                      </m:e>
                      <m:e>
                        <m:sSub>
                          <m:sSubPr>
                            <m:ctrlPr>
                              <a:rPr lang="en-IN" b="1"/>
                            </m:ctrlPr>
                          </m:sSubPr>
                          <m:e>
                            <m:r>
                              <a:rPr lang="en-IN" b="1"/>
                              <m:t>𝐱</m:t>
                            </m:r>
                          </m:e>
                          <m:sub>
                            <m:r>
                              <a:rPr lang="en-IN"/>
                              <m:t>2</m:t>
                            </m:r>
                          </m:sub>
                        </m:sSub>
                      </m:e>
                      <m:e>
                        <m:r>
                          <a:rPr lang="en-IN"/>
                          <m:t>…</m:t>
                        </m:r>
                      </m:e>
                      <m:e>
                        <m:sSub>
                          <m:sSubPr>
                            <m:ctrlPr>
                              <a:rPr lang="en-IN" b="1"/>
                            </m:ctrlPr>
                          </m:sSubPr>
                          <m:e>
                            <m:r>
                              <a:rPr lang="en-IN" b="1"/>
                              <m:t>𝐱</m:t>
                            </m:r>
                          </m:e>
                          <m:sub>
                            <m:r>
                              <a:rPr lang="en-IN" i="1"/>
                              <m:t>𝐿</m:t>
                            </m:r>
                          </m:sub>
                        </m:sSub>
                      </m:e>
                    </m:d>
                  </m:oMath>
                </a14:m>
                <a:r>
                  <a:rPr lang="en-IN" sz="1800" dirty="0">
                    <a:effectLst/>
                  </a:rPr>
                  <a:t>over a sliding ring buffer of </a:t>
                </a:r>
                <a14:m>
                  <m:oMath xmlns:m="http://schemas.openxmlformats.org/officeDocument/2006/math">
                    <m:r>
                      <a:rPr lang="en-IN" i="1"/>
                      <m:t>𝐾</m:t>
                    </m:r>
                    <m:r>
                      <a:rPr lang="en-IN"/>
                      <m:t>=3</m:t>
                    </m:r>
                  </m:oMath>
                </a14:m>
                <a:r>
                  <a:rPr lang="en-IN" sz="1800" dirty="0">
                    <a:effectLst/>
                  </a:rPr>
                  <a:t>consecutive Windows events.</a:t>
                </a:r>
                <a:endParaRPr lang="en-IN" sz="1800" dirty="0"/>
              </a:p>
              <a:p>
                <a:r>
                  <a:rPr lang="en-IN" sz="1800" dirty="0">
                    <a:effectLst/>
                  </a:rPr>
                  <a:t>• </a:t>
                </a:r>
                <a:r>
                  <a:rPr lang="en-IN" sz="1800" b="1" dirty="0">
                    <a:effectLst/>
                  </a:rPr>
                  <a:t>Phase 1: Supervised Cross-Entropy Loss</a:t>
                </a:r>
                <a:br>
                  <a:rPr lang="en-IN" sz="1800" dirty="0">
                    <a:effectLst/>
                  </a:rPr>
                </a:br>
                <a14:m>
                  <m:oMathPara xmlns:m="http://schemas.openxmlformats.org/officeDocument/2006/math">
                    <m:oMath>
                      <m:sSub>
                        <m:sSubPr>
                          <m:ctrlPr>
                            <a:rPr lang="en-IN"/>
                          </m:ctrlPr>
                        </m:sSubPr>
                        <m:e>
                          <m:r>
                            <a:rPr lang="en-IN"/>
                            <m:t>ℒ</m:t>
                          </m:r>
                        </m:e>
                        <m:sub>
                          <m:r>
                            <m:rPr>
                              <m:nor/>
                            </m:rPr>
                            <a:rPr lang="en-IN"/>
                            <m:t>CE</m:t>
                          </m:r>
                        </m:sub>
                      </m:sSub>
                      <m:r>
                        <a:rPr lang="en-IN"/>
                        <m:t>=−</m:t>
                      </m:r>
                      <m:nary>
                        <m:naryPr>
                          <m:chr m:val="∑"/>
                          <m:limLoc m:val="subSup"/>
                          <m:grow m:val="on"/>
                          <m:supHide m:val="on"/>
                          <m:ctrlPr>
                            <a:rPr lang="en-IN" i="1"/>
                          </m:ctrlPr>
                        </m:naryPr>
                        <m:sub>
                          <m:r>
                            <a:rPr lang="en-IN" i="1"/>
                            <m:t>𝑐</m:t>
                          </m:r>
                          <m:r>
                            <a:rPr lang="en-IN"/>
                            <m:t>∈</m:t>
                          </m:r>
                          <m:r>
                            <a:rPr lang="en-IN"/>
                            <m:t>𝒞</m:t>
                          </m:r>
                        </m:sub>
                        <m:sup/>
                        <m:e>
                          <m:sSub>
                            <m:sSubPr>
                              <m:ctrlPr>
                                <a:rPr lang="en-IN" i="1"/>
                              </m:ctrlPr>
                            </m:sSubPr>
                            <m:e>
                              <m:r>
                                <a:rPr lang="en-IN" i="1"/>
                                <m:t>𝑦</m:t>
                              </m:r>
                            </m:e>
                            <m:sub>
                              <m:r>
                                <a:rPr lang="en-IN" i="1"/>
                                <m:t>𝑐</m:t>
                              </m:r>
                            </m:sub>
                          </m:sSub>
                        </m:e>
                      </m:nary>
                      <m:r>
                        <m:rPr>
                          <m:sty m:val="p"/>
                        </m:rPr>
                        <a:rPr lang="en-IN"/>
                        <m:t>log</m:t>
                      </m:r>
                      <m:r>
                        <a:rPr lang="en-IN"/>
                        <m:t>⁡</m:t>
                      </m:r>
                      <m:d>
                        <m:dPr>
                          <m:ctrlPr>
                            <a:rPr lang="en-IN" i="1"/>
                          </m:ctrlPr>
                        </m:dPr>
                        <m:e>
                          <m:sSub>
                            <m:sSubPr>
                              <m:ctrlPr>
                                <a:rPr lang="en-IN" i="1"/>
                              </m:ctrlPr>
                            </m:sSubPr>
                            <m:e>
                              <m:r>
                                <a:rPr lang="en-IN" i="1"/>
                                <m:t>𝑝</m:t>
                              </m:r>
                            </m:e>
                            <m:sub>
                              <m:r>
                                <a:rPr lang="en-IN" i="1"/>
                                <m:t>𝑐</m:t>
                              </m:r>
                            </m:sub>
                          </m:sSub>
                        </m:e>
                      </m:d>
                    </m:oMath>
                  </m:oMathPara>
                </a14:m>
                <a:br>
                  <a:rPr lang="en-IN" sz="1800" dirty="0">
                    <a:effectLst/>
                  </a:rPr>
                </a:br>
                <a:r>
                  <a:rPr lang="en-IN" sz="1800" i="1" dirty="0">
                    <a:effectLst/>
                  </a:rPr>
                  <a:t>Establishes decision boundaries across labels: </a:t>
                </a:r>
                <a14:m>
                  <m:oMath xmlns:m="http://schemas.openxmlformats.org/officeDocument/2006/math">
                    <m:r>
                      <m:rPr>
                        <m:nor/>
                      </m:rPr>
                      <a:rPr lang="en-IN" sz="1800"/>
                      <m:t>Normal</m:t>
                    </m:r>
                  </m:oMath>
                </a14:m>
                <a:r>
                  <a:rPr lang="en-IN" sz="1800" i="1" dirty="0">
                    <a:effectLst/>
                  </a:rPr>
                  <a:t>, </a:t>
                </a:r>
                <a14:m>
                  <m:oMath xmlns:m="http://schemas.openxmlformats.org/officeDocument/2006/math">
                    <m:r>
                      <m:rPr>
                        <m:nor/>
                      </m:rPr>
                      <a:rPr lang="en-IN" sz="1800"/>
                      <m:t>EoRS (T1021/T1047)</m:t>
                    </m:r>
                  </m:oMath>
                </a14:m>
                <a:r>
                  <a:rPr lang="en-IN" sz="1800" i="1" dirty="0">
                    <a:effectLst/>
                  </a:rPr>
                  <a:t>, and </a:t>
                </a:r>
                <a14:m>
                  <m:oMath xmlns:m="http://schemas.openxmlformats.org/officeDocument/2006/math">
                    <m:r>
                      <m:rPr>
                        <m:nor/>
                      </m:rPr>
                      <a:rPr lang="en-IN" sz="1800"/>
                      <m:t>EoHT (T1550/T1003)</m:t>
                    </m:r>
                  </m:oMath>
                </a14:m>
                <a:r>
                  <a:rPr lang="en-IN" sz="1800" i="1" dirty="0">
                    <a:effectLst/>
                  </a:rPr>
                  <a:t>.</a:t>
                </a:r>
                <a:endParaRPr lang="en-IN" sz="1800" dirty="0"/>
              </a:p>
              <a:p>
                <a:r>
                  <a:rPr lang="en-IN" sz="1800" dirty="0">
                    <a:effectLst/>
                  </a:rPr>
                  <a:t>• </a:t>
                </a:r>
                <a:r>
                  <a:rPr lang="en-IN" sz="1800" b="1" dirty="0">
                    <a:effectLst/>
                  </a:rPr>
                  <a:t>Phase 2: Supervised Contrastive Loss (</a:t>
                </a:r>
                <a:r>
                  <a:rPr lang="en-IN" sz="1800" b="1" dirty="0" err="1">
                    <a:effectLst/>
                  </a:rPr>
                  <a:t>SupCon</a:t>
                </a:r>
                <a:r>
                  <a:rPr lang="en-IN" sz="1800" b="1" dirty="0">
                    <a:effectLst/>
                  </a:rPr>
                  <a:t>)</a:t>
                </a:r>
                <a:br>
                  <a:rPr lang="en-IN" sz="1800" dirty="0">
                    <a:effectLst/>
                  </a:rPr>
                </a:br>
                <a:r>
                  <a:rPr lang="en-IN" sz="1800" dirty="0">
                    <a:effectLst/>
                  </a:rPr>
                  <a:t>Pulls hidden embeddings </a:t>
                </a:r>
                <a14:m>
                  <m:oMath xmlns:m="http://schemas.openxmlformats.org/officeDocument/2006/math">
                    <m:sSub>
                      <m:sSubPr>
                        <m:ctrlPr>
                          <a:rPr lang="en-IN" b="1"/>
                        </m:ctrlPr>
                      </m:sSubPr>
                      <m:e>
                        <m:r>
                          <a:rPr lang="en-IN" b="1"/>
                          <m:t>𝐳</m:t>
                        </m:r>
                      </m:e>
                      <m:sub>
                        <m:r>
                          <a:rPr lang="en-IN" i="1"/>
                          <m:t>𝑖</m:t>
                        </m:r>
                      </m:sub>
                    </m:sSub>
                  </m:oMath>
                </a14:m>
                <a:r>
                  <a:rPr lang="en-IN" sz="1800" dirty="0">
                    <a:effectLst/>
                  </a:rPr>
                  <a:t>of identical attack tactics together while actively repelling benign administrative sessions (e.g., routine sysadmin RDP):</a:t>
                </a:r>
                <a:br>
                  <a:rPr lang="en-IN" sz="1800" dirty="0">
                    <a:effectLst/>
                  </a:rPr>
                </a:br>
                <a14:m>
                  <m:oMathPara xmlns:m="http://schemas.openxmlformats.org/officeDocument/2006/math">
                    <m:oMath>
                      <m:sSub>
                        <m:sSubPr>
                          <m:ctrlPr>
                            <a:rPr lang="en-IN"/>
                          </m:ctrlPr>
                        </m:sSubPr>
                        <m:e>
                          <m:r>
                            <a:rPr lang="en-IN"/>
                            <m:t>ℒ</m:t>
                          </m:r>
                        </m:e>
                        <m:sub>
                          <m:r>
                            <m:rPr>
                              <m:nor/>
                            </m:rPr>
                            <a:rPr lang="en-IN"/>
                            <m:t>SCL</m:t>
                          </m:r>
                        </m:sub>
                      </m:sSub>
                      <m:r>
                        <a:rPr lang="en-IN"/>
                        <m:t>=</m:t>
                      </m:r>
                      <m:nary>
                        <m:naryPr>
                          <m:chr m:val="∑"/>
                          <m:limLoc m:val="subSup"/>
                          <m:grow m:val="on"/>
                          <m:supHide m:val="on"/>
                          <m:ctrlPr>
                            <a:rPr lang="en-IN" i="1"/>
                          </m:ctrlPr>
                        </m:naryPr>
                        <m:sub>
                          <m:r>
                            <a:rPr lang="en-IN" i="1"/>
                            <m:t>𝑖</m:t>
                          </m:r>
                          <m:r>
                            <a:rPr lang="en-IN"/>
                            <m:t>∈</m:t>
                          </m:r>
                          <m:r>
                            <a:rPr lang="en-IN"/>
                            <m:t>ℐ</m:t>
                          </m:r>
                        </m:sub>
                        <m:sup/>
                        <m:e>
                          <m:f>
                            <m:fPr>
                              <m:ctrlPr>
                                <a:rPr lang="en-IN"/>
                              </m:ctrlPr>
                            </m:fPr>
                            <m:num>
                              <m:r>
                                <a:rPr lang="en-IN"/>
                                <m:t>−1</m:t>
                              </m:r>
                            </m:num>
                            <m:den>
                              <m:r>
                                <a:rPr lang="en-IN"/>
                                <m:t>∣</m:t>
                              </m:r>
                              <m:r>
                                <a:rPr lang="en-IN" i="1"/>
                                <m:t>𝑃</m:t>
                              </m:r>
                              <m:d>
                                <m:dPr>
                                  <m:ctrlPr>
                                    <a:rPr lang="en-IN" i="1"/>
                                  </m:ctrlPr>
                                </m:dPr>
                                <m:e>
                                  <m:r>
                                    <a:rPr lang="en-IN" i="1"/>
                                    <m:t>𝑖</m:t>
                                  </m:r>
                                </m:e>
                              </m:d>
                              <m:r>
                                <a:rPr lang="en-IN"/>
                                <m:t>∣</m:t>
                              </m:r>
                            </m:den>
                          </m:f>
                        </m:e>
                      </m:nary>
                      <m:func>
                        <m:funcPr>
                          <m:ctrlPr>
                            <a:rPr lang="en-IN" i="1"/>
                          </m:ctrlPr>
                        </m:funcPr>
                        <m:fName>
                          <m:nary>
                            <m:naryPr>
                              <m:chr m:val="∑"/>
                              <m:limLoc m:val="subSup"/>
                              <m:grow m:val="on"/>
                              <m:supHide m:val="on"/>
                              <m:ctrlPr>
                                <a:rPr lang="en-IN" i="1"/>
                              </m:ctrlPr>
                            </m:naryPr>
                            <m:sub>
                              <m:r>
                                <a:rPr lang="en-IN" i="1"/>
                                <m:t>𝑝</m:t>
                              </m:r>
                              <m:r>
                                <a:rPr lang="en-IN"/>
                                <m:t>∈</m:t>
                              </m:r>
                              <m:r>
                                <a:rPr lang="en-IN" i="1"/>
                                <m:t>𝑃</m:t>
                              </m:r>
                              <m:d>
                                <m:dPr>
                                  <m:ctrlPr>
                                    <a:rPr lang="en-IN" i="1"/>
                                  </m:ctrlPr>
                                </m:dPr>
                                <m:e>
                                  <m:r>
                                    <a:rPr lang="en-IN" i="1"/>
                                    <m:t>𝑖</m:t>
                                  </m:r>
                                </m:e>
                              </m:d>
                            </m:sub>
                            <m:sup/>
                            <m:e>
                              <m:r>
                                <m:rPr>
                                  <m:sty m:val="p"/>
                                </m:rPr>
                                <a:rPr lang="en-IN"/>
                                <m:t>log</m:t>
                              </m:r>
                            </m:e>
                          </m:nary>
                        </m:fName>
                        <m:e>
                          <m:d>
                            <m:dPr>
                              <m:ctrlPr>
                                <a:rPr lang="en-IN" i="1"/>
                              </m:ctrlPr>
                            </m:dPr>
                            <m:e>
                              <m:f>
                                <m:fPr>
                                  <m:ctrlPr>
                                    <a:rPr lang="en-IN"/>
                                  </m:ctrlPr>
                                </m:fPr>
                                <m:num>
                                  <m:r>
                                    <m:rPr>
                                      <m:sty m:val="p"/>
                                    </m:rPr>
                                    <a:rPr lang="en-IN"/>
                                    <m:t>exp</m:t>
                                  </m:r>
                                  <m:r>
                                    <a:rPr lang="en-IN"/>
                                    <m:t>⁡</m:t>
                                  </m:r>
                                  <m:d>
                                    <m:dPr>
                                      <m:ctrlPr>
                                        <a:rPr lang="en-IN" i="1"/>
                                      </m:ctrlPr>
                                    </m:dPr>
                                    <m:e>
                                      <m:sSub>
                                        <m:sSubPr>
                                          <m:ctrlPr>
                                            <a:rPr lang="en-IN" b="1"/>
                                          </m:ctrlPr>
                                        </m:sSubPr>
                                        <m:e>
                                          <m:r>
                                            <a:rPr lang="en-IN" b="1"/>
                                            <m:t>𝐳</m:t>
                                          </m:r>
                                        </m:e>
                                        <m:sub>
                                          <m:r>
                                            <a:rPr lang="en-IN" i="1"/>
                                            <m:t>𝑖</m:t>
                                          </m:r>
                                        </m:sub>
                                      </m:sSub>
                                      <m:r>
                                        <a:rPr lang="en-IN"/>
                                        <m:t>⋅</m:t>
                                      </m:r>
                                      <m:sSub>
                                        <m:sSubPr>
                                          <m:ctrlPr>
                                            <a:rPr lang="en-IN" b="1"/>
                                          </m:ctrlPr>
                                        </m:sSubPr>
                                        <m:e>
                                          <m:r>
                                            <a:rPr lang="en-IN" b="1"/>
                                            <m:t>𝐳</m:t>
                                          </m:r>
                                        </m:e>
                                        <m:sub>
                                          <m:r>
                                            <a:rPr lang="en-IN" i="1"/>
                                            <m:t>𝑝</m:t>
                                          </m:r>
                                        </m:sub>
                                      </m:sSub>
                                      <m:r>
                                        <a:rPr lang="en-IN"/>
                                        <m:t>/</m:t>
                                      </m:r>
                                      <m:r>
                                        <a:rPr lang="en-IN" i="1"/>
                                        <m:t>𝜏</m:t>
                                      </m:r>
                                    </m:e>
                                  </m:d>
                                </m:num>
                                <m:den>
                                  <m:nary>
                                    <m:naryPr>
                                      <m:chr m:val="∑"/>
                                      <m:limLoc m:val="subSup"/>
                                      <m:grow m:val="on"/>
                                      <m:supHide m:val="on"/>
                                      <m:ctrlPr>
                                        <a:rPr lang="en-IN" i="1"/>
                                      </m:ctrlPr>
                                    </m:naryPr>
                                    <m:sub>
                                      <m:r>
                                        <a:rPr lang="en-IN" i="1"/>
                                        <m:t>𝑎</m:t>
                                      </m:r>
                                      <m:r>
                                        <a:rPr lang="en-IN"/>
                                        <m:t>∈</m:t>
                                      </m:r>
                                      <m:r>
                                        <a:rPr lang="en-IN" i="1"/>
                                        <m:t>𝐴</m:t>
                                      </m:r>
                                      <m:d>
                                        <m:dPr>
                                          <m:ctrlPr>
                                            <a:rPr lang="en-IN" i="1"/>
                                          </m:ctrlPr>
                                        </m:dPr>
                                        <m:e>
                                          <m:r>
                                            <a:rPr lang="en-IN" i="1"/>
                                            <m:t>𝑖</m:t>
                                          </m:r>
                                        </m:e>
                                      </m:d>
                                    </m:sub>
                                    <m:sup/>
                                    <m:e>
                                      <m:r>
                                        <m:rPr>
                                          <m:sty m:val="p"/>
                                        </m:rPr>
                                        <a:rPr lang="en-IN"/>
                                        <m:t>exp</m:t>
                                      </m:r>
                                    </m:e>
                                  </m:nary>
                                  <m:r>
                                    <a:rPr lang="en-IN"/>
                                    <m:t>⁡</m:t>
                                  </m:r>
                                  <m:d>
                                    <m:dPr>
                                      <m:ctrlPr>
                                        <a:rPr lang="en-IN" i="1"/>
                                      </m:ctrlPr>
                                    </m:dPr>
                                    <m:e>
                                      <m:sSub>
                                        <m:sSubPr>
                                          <m:ctrlPr>
                                            <a:rPr lang="en-IN" b="1"/>
                                          </m:ctrlPr>
                                        </m:sSubPr>
                                        <m:e>
                                          <m:r>
                                            <a:rPr lang="en-IN" b="1"/>
                                            <m:t>𝐳</m:t>
                                          </m:r>
                                        </m:e>
                                        <m:sub>
                                          <m:r>
                                            <a:rPr lang="en-IN" i="1"/>
                                            <m:t>𝑖</m:t>
                                          </m:r>
                                        </m:sub>
                                      </m:sSub>
                                      <m:r>
                                        <a:rPr lang="en-IN"/>
                                        <m:t>⋅</m:t>
                                      </m:r>
                                      <m:sSub>
                                        <m:sSubPr>
                                          <m:ctrlPr>
                                            <a:rPr lang="en-IN" b="1"/>
                                          </m:ctrlPr>
                                        </m:sSubPr>
                                        <m:e>
                                          <m:r>
                                            <a:rPr lang="en-IN" b="1"/>
                                            <m:t>𝐳</m:t>
                                          </m:r>
                                        </m:e>
                                        <m:sub>
                                          <m:r>
                                            <a:rPr lang="en-IN" i="1"/>
                                            <m:t>𝑎</m:t>
                                          </m:r>
                                        </m:sub>
                                      </m:sSub>
                                      <m:r>
                                        <a:rPr lang="en-IN"/>
                                        <m:t>/</m:t>
                                      </m:r>
                                      <m:r>
                                        <a:rPr lang="en-IN" i="1"/>
                                        <m:t>𝜏</m:t>
                                      </m:r>
                                    </m:e>
                                  </m:d>
                                </m:den>
                              </m:f>
                            </m:e>
                          </m:d>
                        </m:e>
                      </m:func>
                      <m:r>
                        <a:rPr lang="en-IN"/>
                        <m:t>, </m:t>
                      </m:r>
                      <m:r>
                        <a:rPr lang="en-IN" i="1"/>
                        <m:t>𝜏</m:t>
                      </m:r>
                      <m:r>
                        <a:rPr lang="en-IN"/>
                        <m:t>=0.07</m:t>
                      </m:r>
                    </m:oMath>
                  </m:oMathPara>
                </a14:m>
                <a:endParaRPr lang="en-IN" sz="1800" dirty="0"/>
              </a:p>
              <a:p>
                <a:r>
                  <a:rPr lang="en-IN" sz="1800" dirty="0">
                    <a:effectLst/>
                  </a:rPr>
                  <a:t>• </a:t>
                </a:r>
                <a:r>
                  <a:rPr lang="en-IN" sz="1800" b="1" dirty="0">
                    <a:effectLst/>
                  </a:rPr>
                  <a:t>Joint Multi-Task Training Objective</a:t>
                </a:r>
                <a:br>
                  <a:rPr lang="en-IN" sz="1800" dirty="0">
                    <a:effectLst/>
                  </a:rPr>
                </a:br>
                <a14:m>
                  <m:oMathPara xmlns:m="http://schemas.openxmlformats.org/officeDocument/2006/math">
                    <m:oMath>
                      <m:sSub>
                        <m:sSubPr>
                          <m:ctrlPr>
                            <a:rPr lang="en-IN"/>
                          </m:ctrlPr>
                        </m:sSubPr>
                        <m:e>
                          <m:r>
                            <a:rPr lang="en-IN"/>
                            <m:t>ℒ</m:t>
                          </m:r>
                        </m:e>
                        <m:sub>
                          <m:r>
                            <m:rPr>
                              <m:nor/>
                            </m:rPr>
                            <a:rPr lang="en-IN"/>
                            <m:t>total</m:t>
                          </m:r>
                        </m:sub>
                      </m:sSub>
                      <m:r>
                        <a:rPr lang="en-IN"/>
                        <m:t>=</m:t>
                      </m:r>
                      <m:sSub>
                        <m:sSubPr>
                          <m:ctrlPr>
                            <a:rPr lang="en-IN"/>
                          </m:ctrlPr>
                        </m:sSubPr>
                        <m:e>
                          <m:r>
                            <a:rPr lang="en-IN"/>
                            <m:t>ℒ</m:t>
                          </m:r>
                        </m:e>
                        <m:sub>
                          <m:r>
                            <m:rPr>
                              <m:nor/>
                            </m:rPr>
                            <a:rPr lang="en-IN"/>
                            <m:t>CE</m:t>
                          </m:r>
                        </m:sub>
                      </m:sSub>
                      <m:r>
                        <a:rPr lang="en-IN"/>
                        <m:t>+</m:t>
                      </m:r>
                      <m:r>
                        <a:rPr lang="en-IN" i="1"/>
                        <m:t>𝜆</m:t>
                      </m:r>
                      <m:sSub>
                        <m:sSubPr>
                          <m:ctrlPr>
                            <a:rPr lang="en-IN"/>
                          </m:ctrlPr>
                        </m:sSubPr>
                        <m:e>
                          <m:r>
                            <a:rPr lang="en-IN"/>
                            <m:t>ℒ</m:t>
                          </m:r>
                        </m:e>
                        <m:sub>
                          <m:r>
                            <m:rPr>
                              <m:nor/>
                            </m:rPr>
                            <a:rPr lang="en-IN"/>
                            <m:t>SCL</m:t>
                          </m:r>
                        </m:sub>
                      </m:sSub>
                      <m:r>
                        <a:rPr lang="en-IN"/>
                        <m:t> </m:t>
                      </m:r>
                      <m:d>
                        <m:dPr>
                          <m:ctrlPr>
                            <a:rPr lang="en-IN" i="1"/>
                          </m:ctrlPr>
                        </m:dPr>
                        <m:e>
                          <m:r>
                            <a:rPr lang="en-IN" i="1"/>
                            <m:t>𝜆</m:t>
                          </m:r>
                          <m:r>
                            <a:rPr lang="en-IN"/>
                            <m:t>=0.30</m:t>
                          </m:r>
                        </m:e>
                      </m:d>
                    </m:oMath>
                  </m:oMathPara>
                </a14:m>
                <a:br>
                  <a:rPr lang="en-IN" sz="1800" dirty="0">
                    <a:effectLst/>
                  </a:rPr>
                </a:br>
                <a:r>
                  <a:rPr lang="en-IN" sz="1800" i="1" dirty="0">
                    <a:effectLst/>
                  </a:rPr>
                  <a:t>Prevents representation collapse, delivering </a:t>
                </a:r>
                <a:r>
                  <a:rPr lang="en-IN" sz="1800" b="1" i="1" dirty="0">
                    <a:effectLst/>
                  </a:rPr>
                  <a:t>98.68% Macro F1</a:t>
                </a:r>
                <a:r>
                  <a:rPr lang="en-IN" sz="1800" i="1" dirty="0">
                    <a:effectLst/>
                  </a:rPr>
                  <a:t> on complex East-West pivoting campaigns.</a:t>
                </a:r>
                <a:endParaRPr lang="en-IN" sz="1800" dirty="0"/>
              </a:p>
            </p:txBody>
          </p:sp>
        </mc:Choice>
        <mc:Fallback>
          <p:sp>
            <p:nvSpPr>
              <p:cNvPr id="189" name="Google Shape;189;g3b824e2dc5f_0_25"/>
              <p:cNvSpPr txBox="1">
                <a:spLocks noRot="1" noChangeAspect="1" noMove="1" noResize="1" noEditPoints="1" noAdjustHandles="1" noChangeArrowheads="1" noChangeShapeType="1" noTextEdit="1"/>
              </p:cNvSpPr>
              <p:nvPr/>
            </p:nvSpPr>
            <p:spPr>
              <a:xfrm>
                <a:off x="927921" y="2957378"/>
                <a:ext cx="16230525" cy="3430876"/>
              </a:xfrm>
              <a:prstGeom prst="rect">
                <a:avLst/>
              </a:prstGeom>
              <a:blipFill>
                <a:blip r:embed="rId3"/>
                <a:stretch>
                  <a:fillRect l="-864" t="-2309" b="-3375"/>
                </a:stretch>
              </a:blipFill>
              <a:ln>
                <a:noFill/>
              </a:ln>
            </p:spPr>
            <p:txBody>
              <a:bodyPr/>
              <a:lstStyle/>
              <a:p>
                <a:r>
                  <a:rPr lang="en-IN">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grpSp>
        <p:nvGrpSpPr>
          <p:cNvPr id="296" name="Google Shape;296;p15"/>
          <p:cNvGrpSpPr/>
          <p:nvPr/>
        </p:nvGrpSpPr>
        <p:grpSpPr>
          <a:xfrm>
            <a:off x="633448" y="323215"/>
            <a:ext cx="17021103" cy="2863671"/>
            <a:chOff x="0" y="-19050"/>
            <a:chExt cx="4482924" cy="1064700"/>
          </a:xfrm>
        </p:grpSpPr>
        <p:sp>
          <p:nvSpPr>
            <p:cNvPr id="297" name="Google Shape;297;p15"/>
            <p:cNvSpPr/>
            <p:nvPr/>
          </p:nvSpPr>
          <p:spPr>
            <a:xfrm>
              <a:off x="0" y="0"/>
              <a:ext cx="4482924" cy="1045650"/>
            </a:xfrm>
            <a:custGeom>
              <a:avLst/>
              <a:gdLst/>
              <a:ahLst/>
              <a:cxnLst/>
              <a:rect l="l" t="t" r="r" b="b"/>
              <a:pathLst>
                <a:path w="4482924" h="1045650" extrusionOk="0">
                  <a:moveTo>
                    <a:pt x="0" y="0"/>
                  </a:moveTo>
                  <a:lnTo>
                    <a:pt x="4482924" y="0"/>
                  </a:lnTo>
                  <a:lnTo>
                    <a:pt x="4482924" y="1045650"/>
                  </a:lnTo>
                  <a:lnTo>
                    <a:pt x="0" y="1045650"/>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15"/>
            <p:cNvSpPr txBox="1"/>
            <p:nvPr/>
          </p:nvSpPr>
          <p:spPr>
            <a:xfrm>
              <a:off x="0" y="-19050"/>
              <a:ext cx="4482924" cy="1064700"/>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99" name="Google Shape;299;p15"/>
          <p:cNvSpPr/>
          <p:nvPr/>
        </p:nvSpPr>
        <p:spPr>
          <a:xfrm>
            <a:off x="616295" y="467381"/>
            <a:ext cx="16933642" cy="2719505"/>
          </a:xfrm>
          <a:custGeom>
            <a:avLst/>
            <a:gdLst/>
            <a:ahLst/>
            <a:cxnLst/>
            <a:rect l="l" t="t" r="r" b="b"/>
            <a:pathLst>
              <a:path w="16933642" h="3949605" extrusionOk="0">
                <a:moveTo>
                  <a:pt x="0" y="0"/>
                </a:moveTo>
                <a:lnTo>
                  <a:pt x="16933643" y="0"/>
                </a:lnTo>
                <a:lnTo>
                  <a:pt x="16933643" y="3949605"/>
                </a:lnTo>
                <a:lnTo>
                  <a:pt x="0" y="3949605"/>
                </a:lnTo>
                <a:lnTo>
                  <a:pt x="0" y="0"/>
                </a:lnTo>
                <a:close/>
              </a:path>
            </a:pathLst>
          </a:custGeom>
          <a:blipFill rotWithShape="1">
            <a:blip r:embed="rId3">
              <a:alphaModFix amt="18000"/>
            </a:blip>
            <a:stretch>
              <a:fillRect t="-92887" b="-9288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15"/>
          <p:cNvSpPr txBox="1"/>
          <p:nvPr/>
        </p:nvSpPr>
        <p:spPr>
          <a:xfrm>
            <a:off x="4375955" y="1317753"/>
            <a:ext cx="9515774" cy="1770100"/>
          </a:xfrm>
          <a:prstGeom prst="rect">
            <a:avLst/>
          </a:prstGeom>
          <a:noFill/>
          <a:ln>
            <a:noFill/>
          </a:ln>
        </p:spPr>
        <p:txBody>
          <a:bodyPr spcFirstLastPara="1" wrap="square" lIns="0" tIns="0" rIns="0" bIns="0" anchor="t" anchorCtr="0">
            <a:spAutoFit/>
          </a:bodyPr>
          <a:lstStyle/>
          <a:p>
            <a:pPr marL="0" marR="0" lvl="0" indent="0" algn="ctr" rtl="0">
              <a:lnSpc>
                <a:spcPct val="137996"/>
              </a:lnSpc>
              <a:spcBef>
                <a:spcPts val="0"/>
              </a:spcBef>
              <a:spcAft>
                <a:spcPts val="0"/>
              </a:spcAft>
              <a:buClr>
                <a:srgbClr val="000000"/>
              </a:buClr>
              <a:buSzPts val="8335"/>
              <a:buFont typeface="Arial"/>
              <a:buNone/>
            </a:pPr>
            <a:r>
              <a:rPr lang="en-IN" sz="8335" b="1" i="0" u="none" strike="noStrike" cap="none">
                <a:solidFill>
                  <a:srgbClr val="FFFFFF"/>
                </a:solidFill>
                <a:latin typeface="Arial Rounded"/>
                <a:ea typeface="Arial Rounded"/>
                <a:cs typeface="Arial Rounded"/>
                <a:sym typeface="Arial Rounded"/>
              </a:rPr>
              <a:t>Backup Slides</a:t>
            </a:r>
            <a:endParaRPr sz="1400" b="0" i="0" u="none" strike="noStrike" cap="none">
              <a:solidFill>
                <a:srgbClr val="000000"/>
              </a:solidFill>
              <a:latin typeface="Arial"/>
              <a:ea typeface="Arial"/>
              <a:cs typeface="Arial"/>
              <a:sym typeface="Arial"/>
            </a:endParaRPr>
          </a:p>
        </p:txBody>
      </p:sp>
      <p:sp>
        <p:nvSpPr>
          <p:cNvPr id="301" name="Google Shape;301;p15"/>
          <p:cNvSpPr txBox="1"/>
          <p:nvPr/>
        </p:nvSpPr>
        <p:spPr>
          <a:xfrm>
            <a:off x="2686929" y="9650937"/>
            <a:ext cx="13406511"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Explainable AI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(Ref: https://wandb.ai/mostafaibrahim17/ml-articles/reports/Enhancing-cybersecurity-with-explainable-AI--Vmlldzo3NDIwMTc3)</a:t>
            </a:r>
            <a:endParaRPr sz="1400" b="0" i="0" u="none" strike="noStrike" cap="none">
              <a:solidFill>
                <a:srgbClr val="000000"/>
              </a:solidFill>
              <a:latin typeface="Arial"/>
              <a:ea typeface="Arial"/>
              <a:cs typeface="Arial"/>
              <a:sym typeface="Arial"/>
            </a:endParaRPr>
          </a:p>
        </p:txBody>
      </p:sp>
      <p:pic>
        <p:nvPicPr>
          <p:cNvPr id="302" name="Google Shape;302;p15"/>
          <p:cNvPicPr preferRelativeResize="0"/>
          <p:nvPr/>
        </p:nvPicPr>
        <p:blipFill rotWithShape="1">
          <a:blip r:embed="rId4">
            <a:alphaModFix/>
          </a:blip>
          <a:srcRect/>
          <a:stretch/>
        </p:blipFill>
        <p:spPr>
          <a:xfrm>
            <a:off x="4247894" y="3938225"/>
            <a:ext cx="9622302" cy="527389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grpSp>
        <p:nvGrpSpPr>
          <p:cNvPr id="308" name="Google Shape;308;p16"/>
          <p:cNvGrpSpPr/>
          <p:nvPr/>
        </p:nvGrpSpPr>
        <p:grpSpPr>
          <a:xfrm>
            <a:off x="633448" y="323215"/>
            <a:ext cx="17021103" cy="2863671"/>
            <a:chOff x="0" y="-19050"/>
            <a:chExt cx="4482924" cy="1064700"/>
          </a:xfrm>
        </p:grpSpPr>
        <p:sp>
          <p:nvSpPr>
            <p:cNvPr id="309" name="Google Shape;309;p16"/>
            <p:cNvSpPr/>
            <p:nvPr/>
          </p:nvSpPr>
          <p:spPr>
            <a:xfrm>
              <a:off x="0" y="0"/>
              <a:ext cx="4482924" cy="1045650"/>
            </a:xfrm>
            <a:custGeom>
              <a:avLst/>
              <a:gdLst/>
              <a:ahLst/>
              <a:cxnLst/>
              <a:rect l="l" t="t" r="r" b="b"/>
              <a:pathLst>
                <a:path w="4482924" h="1045650" extrusionOk="0">
                  <a:moveTo>
                    <a:pt x="0" y="0"/>
                  </a:moveTo>
                  <a:lnTo>
                    <a:pt x="4482924" y="0"/>
                  </a:lnTo>
                  <a:lnTo>
                    <a:pt x="4482924" y="1045650"/>
                  </a:lnTo>
                  <a:lnTo>
                    <a:pt x="0" y="1045650"/>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16"/>
            <p:cNvSpPr txBox="1"/>
            <p:nvPr/>
          </p:nvSpPr>
          <p:spPr>
            <a:xfrm>
              <a:off x="0" y="-19050"/>
              <a:ext cx="4482924" cy="1064700"/>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11" name="Google Shape;311;p16"/>
          <p:cNvSpPr/>
          <p:nvPr/>
        </p:nvSpPr>
        <p:spPr>
          <a:xfrm>
            <a:off x="616295" y="467381"/>
            <a:ext cx="16933642" cy="2719505"/>
          </a:xfrm>
          <a:custGeom>
            <a:avLst/>
            <a:gdLst/>
            <a:ahLst/>
            <a:cxnLst/>
            <a:rect l="l" t="t" r="r" b="b"/>
            <a:pathLst>
              <a:path w="16933642" h="3949605" extrusionOk="0">
                <a:moveTo>
                  <a:pt x="0" y="0"/>
                </a:moveTo>
                <a:lnTo>
                  <a:pt x="16933643" y="0"/>
                </a:lnTo>
                <a:lnTo>
                  <a:pt x="16933643" y="3949605"/>
                </a:lnTo>
                <a:lnTo>
                  <a:pt x="0" y="3949605"/>
                </a:lnTo>
                <a:lnTo>
                  <a:pt x="0" y="0"/>
                </a:lnTo>
                <a:close/>
              </a:path>
            </a:pathLst>
          </a:custGeom>
          <a:blipFill rotWithShape="1">
            <a:blip r:embed="rId3">
              <a:alphaModFix amt="18000"/>
            </a:blip>
            <a:stretch>
              <a:fillRect t="-92887" b="-9288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16"/>
          <p:cNvSpPr txBox="1"/>
          <p:nvPr/>
        </p:nvSpPr>
        <p:spPr>
          <a:xfrm>
            <a:off x="4375955" y="1317753"/>
            <a:ext cx="9515774" cy="1770100"/>
          </a:xfrm>
          <a:prstGeom prst="rect">
            <a:avLst/>
          </a:prstGeom>
          <a:noFill/>
          <a:ln>
            <a:noFill/>
          </a:ln>
        </p:spPr>
        <p:txBody>
          <a:bodyPr spcFirstLastPara="1" wrap="square" lIns="0" tIns="0" rIns="0" bIns="0" anchor="t" anchorCtr="0">
            <a:spAutoFit/>
          </a:bodyPr>
          <a:lstStyle/>
          <a:p>
            <a:pPr marL="0" marR="0" lvl="0" indent="0" algn="ctr" rtl="0">
              <a:lnSpc>
                <a:spcPct val="137996"/>
              </a:lnSpc>
              <a:spcBef>
                <a:spcPts val="0"/>
              </a:spcBef>
              <a:spcAft>
                <a:spcPts val="0"/>
              </a:spcAft>
              <a:buClr>
                <a:srgbClr val="000000"/>
              </a:buClr>
              <a:buSzPts val="8335"/>
              <a:buFont typeface="Arial"/>
              <a:buNone/>
            </a:pPr>
            <a:r>
              <a:rPr lang="en-IN" sz="8335" b="1" i="0" u="none" strike="noStrike" cap="none">
                <a:solidFill>
                  <a:srgbClr val="FFFFFF"/>
                </a:solidFill>
                <a:latin typeface="Arial Rounded"/>
                <a:ea typeface="Arial Rounded"/>
                <a:cs typeface="Arial Rounded"/>
                <a:sym typeface="Arial Rounded"/>
              </a:rPr>
              <a:t>Backup Slides</a:t>
            </a:r>
            <a:endParaRPr sz="1400" b="0" i="0" u="none" strike="noStrike" cap="none">
              <a:solidFill>
                <a:srgbClr val="000000"/>
              </a:solidFill>
              <a:latin typeface="Arial"/>
              <a:ea typeface="Arial"/>
              <a:cs typeface="Arial"/>
              <a:sym typeface="Arial"/>
            </a:endParaRPr>
          </a:p>
        </p:txBody>
      </p:sp>
      <p:sp>
        <p:nvSpPr>
          <p:cNvPr id="313" name="Google Shape;313;p16"/>
          <p:cNvSpPr txBox="1"/>
          <p:nvPr/>
        </p:nvSpPr>
        <p:spPr>
          <a:xfrm>
            <a:off x="8003968" y="9819619"/>
            <a:ext cx="577140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FLDID: Proposed Model</a:t>
            </a:r>
            <a:endParaRPr sz="1400" b="0" i="0" u="none" strike="noStrike" cap="none">
              <a:solidFill>
                <a:srgbClr val="000000"/>
              </a:solidFill>
              <a:latin typeface="Arial"/>
              <a:ea typeface="Arial"/>
              <a:cs typeface="Arial"/>
              <a:sym typeface="Arial"/>
            </a:endParaRPr>
          </a:p>
        </p:txBody>
      </p:sp>
      <p:pic>
        <p:nvPicPr>
          <p:cNvPr id="314" name="Google Shape;314;p16" descr="Figure 1"/>
          <p:cNvPicPr preferRelativeResize="0"/>
          <p:nvPr/>
        </p:nvPicPr>
        <p:blipFill rotWithShape="1">
          <a:blip r:embed="rId4">
            <a:alphaModFix/>
          </a:blip>
          <a:srcRect/>
          <a:stretch/>
        </p:blipFill>
        <p:spPr>
          <a:xfrm>
            <a:off x="6289469" y="3279814"/>
            <a:ext cx="5977742" cy="642053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grpSp>
        <p:nvGrpSpPr>
          <p:cNvPr id="320" name="Google Shape;320;p17"/>
          <p:cNvGrpSpPr/>
          <p:nvPr/>
        </p:nvGrpSpPr>
        <p:grpSpPr>
          <a:xfrm>
            <a:off x="633448" y="323215"/>
            <a:ext cx="17021103" cy="2863671"/>
            <a:chOff x="0" y="-19050"/>
            <a:chExt cx="4482924" cy="1064700"/>
          </a:xfrm>
        </p:grpSpPr>
        <p:sp>
          <p:nvSpPr>
            <p:cNvPr id="321" name="Google Shape;321;p17"/>
            <p:cNvSpPr/>
            <p:nvPr/>
          </p:nvSpPr>
          <p:spPr>
            <a:xfrm>
              <a:off x="0" y="0"/>
              <a:ext cx="4482924" cy="1045650"/>
            </a:xfrm>
            <a:custGeom>
              <a:avLst/>
              <a:gdLst/>
              <a:ahLst/>
              <a:cxnLst/>
              <a:rect l="l" t="t" r="r" b="b"/>
              <a:pathLst>
                <a:path w="4482924" h="1045650" extrusionOk="0">
                  <a:moveTo>
                    <a:pt x="0" y="0"/>
                  </a:moveTo>
                  <a:lnTo>
                    <a:pt x="4482924" y="0"/>
                  </a:lnTo>
                  <a:lnTo>
                    <a:pt x="4482924" y="1045650"/>
                  </a:lnTo>
                  <a:lnTo>
                    <a:pt x="0" y="1045650"/>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17"/>
            <p:cNvSpPr txBox="1"/>
            <p:nvPr/>
          </p:nvSpPr>
          <p:spPr>
            <a:xfrm>
              <a:off x="0" y="-19050"/>
              <a:ext cx="4482924" cy="1064700"/>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23" name="Google Shape;323;p17"/>
          <p:cNvSpPr/>
          <p:nvPr/>
        </p:nvSpPr>
        <p:spPr>
          <a:xfrm>
            <a:off x="616295" y="467381"/>
            <a:ext cx="16933642" cy="2719505"/>
          </a:xfrm>
          <a:custGeom>
            <a:avLst/>
            <a:gdLst/>
            <a:ahLst/>
            <a:cxnLst/>
            <a:rect l="l" t="t" r="r" b="b"/>
            <a:pathLst>
              <a:path w="16933642" h="3949605" extrusionOk="0">
                <a:moveTo>
                  <a:pt x="0" y="0"/>
                </a:moveTo>
                <a:lnTo>
                  <a:pt x="16933643" y="0"/>
                </a:lnTo>
                <a:lnTo>
                  <a:pt x="16933643" y="3949605"/>
                </a:lnTo>
                <a:lnTo>
                  <a:pt x="0" y="3949605"/>
                </a:lnTo>
                <a:lnTo>
                  <a:pt x="0" y="0"/>
                </a:lnTo>
                <a:close/>
              </a:path>
            </a:pathLst>
          </a:custGeom>
          <a:blipFill rotWithShape="1">
            <a:blip r:embed="rId3">
              <a:alphaModFix amt="18000"/>
            </a:blip>
            <a:stretch>
              <a:fillRect t="-92887" b="-9288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17"/>
          <p:cNvSpPr txBox="1"/>
          <p:nvPr/>
        </p:nvSpPr>
        <p:spPr>
          <a:xfrm>
            <a:off x="4375955" y="1317753"/>
            <a:ext cx="9515774" cy="1770100"/>
          </a:xfrm>
          <a:prstGeom prst="rect">
            <a:avLst/>
          </a:prstGeom>
          <a:noFill/>
          <a:ln>
            <a:noFill/>
          </a:ln>
        </p:spPr>
        <p:txBody>
          <a:bodyPr spcFirstLastPara="1" wrap="square" lIns="0" tIns="0" rIns="0" bIns="0" anchor="t" anchorCtr="0">
            <a:spAutoFit/>
          </a:bodyPr>
          <a:lstStyle/>
          <a:p>
            <a:pPr marL="0" marR="0" lvl="0" indent="0" algn="ctr" rtl="0">
              <a:lnSpc>
                <a:spcPct val="137996"/>
              </a:lnSpc>
              <a:spcBef>
                <a:spcPts val="0"/>
              </a:spcBef>
              <a:spcAft>
                <a:spcPts val="0"/>
              </a:spcAft>
              <a:buClr>
                <a:srgbClr val="000000"/>
              </a:buClr>
              <a:buSzPts val="8335"/>
              <a:buFont typeface="Arial"/>
              <a:buNone/>
            </a:pPr>
            <a:r>
              <a:rPr lang="en-IN" sz="8335" b="1" i="0" u="none" strike="noStrike" cap="none">
                <a:solidFill>
                  <a:srgbClr val="FFFFFF"/>
                </a:solidFill>
                <a:latin typeface="Arial Rounded"/>
                <a:ea typeface="Arial Rounded"/>
                <a:cs typeface="Arial Rounded"/>
                <a:sym typeface="Arial Rounded"/>
              </a:rPr>
              <a:t>Backup Slides</a:t>
            </a:r>
            <a:endParaRPr sz="1400" b="0" i="0" u="none" strike="noStrike" cap="none">
              <a:solidFill>
                <a:srgbClr val="000000"/>
              </a:solidFill>
              <a:latin typeface="Arial"/>
              <a:ea typeface="Arial"/>
              <a:cs typeface="Arial"/>
              <a:sym typeface="Arial"/>
            </a:endParaRPr>
          </a:p>
        </p:txBody>
      </p:sp>
      <p:pic>
        <p:nvPicPr>
          <p:cNvPr id="325" name="Google Shape;325;p17" descr="Enhanced AI Security Framework Methodology with dark text for improved readability"/>
          <p:cNvPicPr preferRelativeResize="0"/>
          <p:nvPr/>
        </p:nvPicPr>
        <p:blipFill rotWithShape="1">
          <a:blip r:embed="rId4">
            <a:alphaModFix/>
          </a:blip>
          <a:srcRect/>
          <a:stretch/>
        </p:blipFill>
        <p:spPr>
          <a:xfrm>
            <a:off x="2953467" y="3186886"/>
            <a:ext cx="10449937" cy="69666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grpSp>
        <p:nvGrpSpPr>
          <p:cNvPr id="331" name="Google Shape;331;p18"/>
          <p:cNvGrpSpPr/>
          <p:nvPr/>
        </p:nvGrpSpPr>
        <p:grpSpPr>
          <a:xfrm>
            <a:off x="633448" y="323215"/>
            <a:ext cx="17021103" cy="2863671"/>
            <a:chOff x="0" y="-19050"/>
            <a:chExt cx="4482924" cy="1064700"/>
          </a:xfrm>
        </p:grpSpPr>
        <p:sp>
          <p:nvSpPr>
            <p:cNvPr id="332" name="Google Shape;332;p18"/>
            <p:cNvSpPr/>
            <p:nvPr/>
          </p:nvSpPr>
          <p:spPr>
            <a:xfrm>
              <a:off x="0" y="0"/>
              <a:ext cx="4482924" cy="1045650"/>
            </a:xfrm>
            <a:custGeom>
              <a:avLst/>
              <a:gdLst/>
              <a:ahLst/>
              <a:cxnLst/>
              <a:rect l="l" t="t" r="r" b="b"/>
              <a:pathLst>
                <a:path w="4482924" h="1045650" extrusionOk="0">
                  <a:moveTo>
                    <a:pt x="0" y="0"/>
                  </a:moveTo>
                  <a:lnTo>
                    <a:pt x="4482924" y="0"/>
                  </a:lnTo>
                  <a:lnTo>
                    <a:pt x="4482924" y="1045650"/>
                  </a:lnTo>
                  <a:lnTo>
                    <a:pt x="0" y="1045650"/>
                  </a:lnTo>
                  <a:close/>
                </a:path>
              </a:pathLst>
            </a:custGeom>
            <a:solidFill>
              <a:srgbClr val="538C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18"/>
            <p:cNvSpPr txBox="1"/>
            <p:nvPr/>
          </p:nvSpPr>
          <p:spPr>
            <a:xfrm>
              <a:off x="0" y="-19050"/>
              <a:ext cx="4482924" cy="1064700"/>
            </a:xfrm>
            <a:prstGeom prst="rect">
              <a:avLst/>
            </a:prstGeom>
            <a:solidFill>
              <a:srgbClr val="538CD5"/>
            </a:solid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ctr" rtl="0">
                <a:lnSpc>
                  <a:spcPct val="15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34" name="Google Shape;334;p18"/>
          <p:cNvSpPr/>
          <p:nvPr/>
        </p:nvSpPr>
        <p:spPr>
          <a:xfrm>
            <a:off x="616295" y="467381"/>
            <a:ext cx="16933642" cy="2719505"/>
          </a:xfrm>
          <a:custGeom>
            <a:avLst/>
            <a:gdLst/>
            <a:ahLst/>
            <a:cxnLst/>
            <a:rect l="l" t="t" r="r" b="b"/>
            <a:pathLst>
              <a:path w="16933642" h="3949605" extrusionOk="0">
                <a:moveTo>
                  <a:pt x="0" y="0"/>
                </a:moveTo>
                <a:lnTo>
                  <a:pt x="16933643" y="0"/>
                </a:lnTo>
                <a:lnTo>
                  <a:pt x="16933643" y="3949605"/>
                </a:lnTo>
                <a:lnTo>
                  <a:pt x="0" y="3949605"/>
                </a:lnTo>
                <a:lnTo>
                  <a:pt x="0" y="0"/>
                </a:lnTo>
                <a:close/>
              </a:path>
            </a:pathLst>
          </a:custGeom>
          <a:blipFill rotWithShape="1">
            <a:blip r:embed="rId3">
              <a:alphaModFix amt="18000"/>
            </a:blip>
            <a:stretch>
              <a:fillRect t="-92887" b="-9288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18"/>
          <p:cNvSpPr txBox="1"/>
          <p:nvPr/>
        </p:nvSpPr>
        <p:spPr>
          <a:xfrm>
            <a:off x="4375955" y="1317753"/>
            <a:ext cx="9515774" cy="1770100"/>
          </a:xfrm>
          <a:prstGeom prst="rect">
            <a:avLst/>
          </a:prstGeom>
          <a:noFill/>
          <a:ln>
            <a:noFill/>
          </a:ln>
        </p:spPr>
        <p:txBody>
          <a:bodyPr spcFirstLastPara="1" wrap="square" lIns="0" tIns="0" rIns="0" bIns="0" anchor="t" anchorCtr="0">
            <a:spAutoFit/>
          </a:bodyPr>
          <a:lstStyle/>
          <a:p>
            <a:pPr marL="0" marR="0" lvl="0" indent="0" algn="ctr" rtl="0">
              <a:lnSpc>
                <a:spcPct val="137996"/>
              </a:lnSpc>
              <a:spcBef>
                <a:spcPts val="0"/>
              </a:spcBef>
              <a:spcAft>
                <a:spcPts val="0"/>
              </a:spcAft>
              <a:buClr>
                <a:srgbClr val="000000"/>
              </a:buClr>
              <a:buSzPts val="8335"/>
              <a:buFont typeface="Arial"/>
              <a:buNone/>
            </a:pPr>
            <a:r>
              <a:rPr lang="en-IN" sz="8335" b="1" i="0" u="none" strike="noStrike" cap="none">
                <a:solidFill>
                  <a:srgbClr val="FFFFFF"/>
                </a:solidFill>
                <a:latin typeface="Arial Rounded"/>
                <a:ea typeface="Arial Rounded"/>
                <a:cs typeface="Arial Rounded"/>
                <a:sym typeface="Arial Rounded"/>
              </a:rPr>
              <a:t>Backup Slides</a:t>
            </a:r>
            <a:endParaRPr sz="1400" b="0" i="0" u="none" strike="noStrike" cap="none">
              <a:solidFill>
                <a:srgbClr val="000000"/>
              </a:solidFill>
              <a:latin typeface="Arial"/>
              <a:ea typeface="Arial"/>
              <a:cs typeface="Arial"/>
              <a:sym typeface="Arial"/>
            </a:endParaRPr>
          </a:p>
        </p:txBody>
      </p:sp>
      <p:pic>
        <p:nvPicPr>
          <p:cNvPr id="336" name="Google Shape;336;p18"/>
          <p:cNvPicPr preferRelativeResize="0"/>
          <p:nvPr/>
        </p:nvPicPr>
        <p:blipFill rotWithShape="1">
          <a:blip r:embed="rId4">
            <a:alphaModFix/>
          </a:blip>
          <a:srcRect/>
          <a:stretch/>
        </p:blipFill>
        <p:spPr>
          <a:xfrm>
            <a:off x="4265129" y="4037258"/>
            <a:ext cx="9626600" cy="4470400"/>
          </a:xfrm>
          <a:prstGeom prst="rect">
            <a:avLst/>
          </a:prstGeom>
          <a:noFill/>
          <a:ln>
            <a:noFill/>
          </a:ln>
        </p:spPr>
      </p:pic>
      <p:sp>
        <p:nvSpPr>
          <p:cNvPr id="337" name="Google Shape;337;p18"/>
          <p:cNvSpPr txBox="1"/>
          <p:nvPr/>
        </p:nvSpPr>
        <p:spPr>
          <a:xfrm>
            <a:off x="5795158" y="8752114"/>
            <a:ext cx="577140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FLDID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9"/>
          <p:cNvSpPr txBox="1"/>
          <p:nvPr/>
        </p:nvSpPr>
        <p:spPr>
          <a:xfrm>
            <a:off x="3302817" y="0"/>
            <a:ext cx="9515774" cy="424732"/>
          </a:xfrm>
          <a:prstGeom prst="rect">
            <a:avLst/>
          </a:prstGeom>
          <a:noFill/>
          <a:ln>
            <a:noFill/>
          </a:ln>
        </p:spPr>
        <p:txBody>
          <a:bodyPr spcFirstLastPara="1" wrap="square" lIns="0" tIns="0" rIns="0" bIns="0" anchor="t" anchorCtr="0">
            <a:spAutoFit/>
          </a:bodyPr>
          <a:lstStyle/>
          <a:p>
            <a:pPr marL="0" marR="0" lvl="0" indent="0" algn="ctr" rtl="0">
              <a:lnSpc>
                <a:spcPct val="137996"/>
              </a:lnSpc>
              <a:spcBef>
                <a:spcPts val="0"/>
              </a:spcBef>
              <a:spcAft>
                <a:spcPts val="0"/>
              </a:spcAft>
              <a:buClr>
                <a:srgbClr val="000000"/>
              </a:buClr>
              <a:buSzPts val="2000"/>
              <a:buFont typeface="Arial"/>
              <a:buNone/>
            </a:pPr>
            <a:r>
              <a:rPr lang="en-IN" sz="2000" b="1" i="0" u="none" strike="noStrike" cap="none">
                <a:solidFill>
                  <a:schemeClr val="dk1"/>
                </a:solidFill>
                <a:latin typeface="Arial Rounded"/>
                <a:ea typeface="Arial Rounded"/>
                <a:cs typeface="Arial Rounded"/>
                <a:sym typeface="Arial Rounded"/>
              </a:rPr>
              <a:t>Additional Literature</a:t>
            </a:r>
            <a:endParaRPr sz="100" b="0" i="0" u="none" strike="noStrike" cap="none">
              <a:solidFill>
                <a:schemeClr val="dk1"/>
              </a:solidFill>
              <a:latin typeface="Arial"/>
              <a:ea typeface="Arial"/>
              <a:cs typeface="Arial"/>
              <a:sym typeface="Arial"/>
            </a:endParaRPr>
          </a:p>
        </p:txBody>
      </p:sp>
      <p:graphicFrame>
        <p:nvGraphicFramePr>
          <p:cNvPr id="344" name="Google Shape;344;p19"/>
          <p:cNvGraphicFramePr/>
          <p:nvPr/>
        </p:nvGraphicFramePr>
        <p:xfrm>
          <a:off x="89647" y="344050"/>
          <a:ext cx="3000000" cy="3000000"/>
        </p:xfrm>
        <a:graphic>
          <a:graphicData uri="http://schemas.openxmlformats.org/drawingml/2006/table">
            <a:tbl>
              <a:tblPr firstRow="1">
                <a:noFill/>
                <a:tableStyleId>{FD62060C-A9E3-43FF-8695-09CB6F05CB28}</a:tableStyleId>
              </a:tblPr>
              <a:tblGrid>
                <a:gridCol w="3825400">
                  <a:extLst>
                    <a:ext uri="{9D8B030D-6E8A-4147-A177-3AD203B41FA5}">
                      <a16:colId xmlns:a16="http://schemas.microsoft.com/office/drawing/2014/main" val="20000"/>
                    </a:ext>
                  </a:extLst>
                </a:gridCol>
                <a:gridCol w="14372950">
                  <a:extLst>
                    <a:ext uri="{9D8B030D-6E8A-4147-A177-3AD203B41FA5}">
                      <a16:colId xmlns:a16="http://schemas.microsoft.com/office/drawing/2014/main" val="20001"/>
                    </a:ext>
                  </a:extLst>
                </a:gridCol>
              </a:tblGrid>
              <a:tr h="145900">
                <a:tc>
                  <a:txBody>
                    <a:bodyPr/>
                    <a:lstStyle/>
                    <a:p>
                      <a:pPr marL="0" marR="0" lvl="0" indent="0" algn="ctr" rtl="0">
                        <a:lnSpc>
                          <a:spcPct val="100000"/>
                        </a:lnSpc>
                        <a:spcBef>
                          <a:spcPts val="0"/>
                        </a:spcBef>
                        <a:spcAft>
                          <a:spcPts val="0"/>
                        </a:spcAft>
                        <a:buClr>
                          <a:srgbClr val="000000"/>
                        </a:buClr>
                        <a:buSzPts val="1000"/>
                        <a:buFont typeface="Arial"/>
                        <a:buNone/>
                      </a:pPr>
                      <a:r>
                        <a:rPr lang="en-IN" sz="1000" b="1" u="none" strike="noStrike" cap="none"/>
                        <a:t>title</a:t>
                      </a:r>
                      <a:endParaRPr sz="1400" u="none" strike="noStrike" cap="none"/>
                    </a:p>
                  </a:txBody>
                  <a:tcPr marL="2350" marR="2350" marT="0" marB="0">
                    <a:no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IN" sz="1000" b="1" u="none" strike="noStrike" cap="none"/>
                        <a:t>Insights</a:t>
                      </a:r>
                      <a:endParaRPr sz="1400" u="none" strike="noStrike" cap="none"/>
                    </a:p>
                  </a:txBody>
                  <a:tcPr marL="2350" marR="2350" marT="0" marB="0">
                    <a:noFill/>
                  </a:tcPr>
                </a:tc>
                <a:extLst>
                  <a:ext uri="{0D108BD9-81ED-4DB2-BD59-A6C34878D82A}">
                    <a16:rowId xmlns:a16="http://schemas.microsoft.com/office/drawing/2014/main" val="10000"/>
                  </a:ext>
                </a:extLst>
              </a:tr>
              <a:tr h="51615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Enhancing the Security of Industrial Cyber-Physical Systems using AI Algorithms (2024)</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provide a comparative analysis of different mitigation frameworks for AI-driven threats in smart manufacturing systems. Instead, it focuses on enhancing the security of industrial cyber-physical systems using AI algorithms, specifically highlighting improvements in threat detection accuracy, false positive and negative rates, response time, and resource efficiency. The proposed method utilizes RNNs, K-means, and Q-learning to effectively identify and respond to threats, outperforming traditional security approaches in key performance areas.</a:t>
                      </a:r>
                      <a:endParaRPr sz="1400" u="none" strike="noStrike" cap="none"/>
                    </a:p>
                  </a:txBody>
                  <a:tcPr marL="2350" marR="2350" marT="0" marB="0" anchor="b">
                    <a:noFill/>
                  </a:tcPr>
                </a:tc>
                <a:extLst>
                  <a:ext uri="{0D108BD9-81ED-4DB2-BD59-A6C34878D82A}">
                    <a16:rowId xmlns:a16="http://schemas.microsoft.com/office/drawing/2014/main" val="10001"/>
                  </a:ext>
                </a:extLst>
              </a:tr>
              <a:tr h="51615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AI-driven threat intelligence for real-time cybersecurity: Frameworks, tools, and future directions (2024)</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specifically address comparative analysis of different mitigation frameworks for AI-driven threats in smart manufacturing systems or specialized attacks powered by artificial intelligence. It focuses on AI-driven threat intelligence in cybersecurity, discussing frameworks, tools, and techniques for real-time threat detection and response. While it highlights the importance of evolving frameworks and ethics in AI implementation, it does not provide detailed comparisons of mitigation strategies for specific sectors like smart manufacturing.</a:t>
                      </a:r>
                      <a:endParaRPr sz="1400" u="none" strike="noStrike" cap="none"/>
                    </a:p>
                  </a:txBody>
                  <a:tcPr marL="2350" marR="2350" marT="0" marB="0" anchor="b">
                    <a:noFill/>
                  </a:tcPr>
                </a:tc>
                <a:extLst>
                  <a:ext uri="{0D108BD9-81ED-4DB2-BD59-A6C34878D82A}">
                    <a16:rowId xmlns:a16="http://schemas.microsoft.com/office/drawing/2014/main" val="10002"/>
                  </a:ext>
                </a:extLst>
              </a:tr>
              <a:tr h="51615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A Reactive Security Framework for Protecting AI Models from Adversarial Attacks: An Autoencoder-Based Approach (2024)</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provide a comparative analysis of different mitigation frameworks for AI-driven threats in smart manufacturing systems. Instead, it focuses on a reactive security framework that enhances AI model resilience against adversarial attacks through runtime monitoring, anomaly detection using autoencoders, and adversarial training for model retraining. The framework aims to dynamically adapt to evolving threats rather than comparing various mitigation strategies. Thus, it does not specifically address specialized attacks in smart manufacturing contexts.</a:t>
                      </a:r>
                      <a:endParaRPr sz="1400" u="none" strike="noStrike" cap="none"/>
                    </a:p>
                  </a:txBody>
                  <a:tcPr marL="2350" marR="2350" marT="0" marB="0" anchor="b">
                    <a:noFill/>
                  </a:tcPr>
                </a:tc>
                <a:extLst>
                  <a:ext uri="{0D108BD9-81ED-4DB2-BD59-A6C34878D82A}">
                    <a16:rowId xmlns:a16="http://schemas.microsoft.com/office/drawing/2014/main" val="10003"/>
                  </a:ext>
                </a:extLst>
              </a:tr>
              <a:tr h="51615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AI-Powered Advanced Threat Protection: A Novel Framework for Next-Generation Malware Defense (2024)</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specifically conduct a comparative analysis of different mitigation frameworks for AI-driven threats in smart manufacturing systems. However, it introduces a novel AI-powered framework for advanced threat protection that addresses challenges like obfuscated malware and zero-day vulnerabilities, which could be relevant to specialized attacks in such environments. The framework emphasizes real-time threat intelligence, predictive anomaly detection, and adaptive remediation strategies, which may be applicable in mitigating AI-driven threats in smart manufacturing contexts.</a:t>
                      </a:r>
                      <a:endParaRPr sz="1400" u="none" strike="noStrike" cap="none"/>
                    </a:p>
                  </a:txBody>
                  <a:tcPr marL="2350" marR="2350" marT="0" marB="0" anchor="b">
                    <a:noFill/>
                  </a:tcPr>
                </a:tc>
                <a:extLst>
                  <a:ext uri="{0D108BD9-81ED-4DB2-BD59-A6C34878D82A}">
                    <a16:rowId xmlns:a16="http://schemas.microsoft.com/office/drawing/2014/main" val="10004"/>
                  </a:ext>
                </a:extLst>
              </a:tr>
              <a:tr h="51615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Next-Gen Threat Detection: Leveraging AI and Cyber Twin Technologies for IoT Security (2024)</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provide a comparative analysis of different mitigation frameworks for AI-driven threats in smart manufacturing systems. Instead, it focuses on an advanced threat detection model leveraging AI and Cyber Twin Technologies specifically for IoT security. The proposed framework enhances anomaly detection and threat classification accuracy through a hybrid deep learning approach, demonstrating significant improvements in detection accuracy and resilience against cyber threats, but it does not address specialized attacks in smart manufacturing systems.</a:t>
                      </a:r>
                      <a:endParaRPr sz="1400" u="none" strike="noStrike" cap="none"/>
                    </a:p>
                  </a:txBody>
                  <a:tcPr marL="2350" marR="2350" marT="0" marB="0" anchor="b">
                    <a:noFill/>
                  </a:tcPr>
                </a:tc>
                <a:extLst>
                  <a:ext uri="{0D108BD9-81ED-4DB2-BD59-A6C34878D82A}">
                    <a16:rowId xmlns:a16="http://schemas.microsoft.com/office/drawing/2014/main" val="10005"/>
                  </a:ext>
                </a:extLst>
              </a:tr>
              <a:tr h="29180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Use of artificial intelligence methods and models for improving expert systems of intrusion detection (2024)</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paper's title matches your query, but it doesn't address your specific question.</a:t>
                      </a:r>
                      <a:endParaRPr sz="1400" u="none" strike="noStrike" cap="none"/>
                    </a:p>
                  </a:txBody>
                  <a:tcPr marL="2350" marR="2350" marT="0" marB="0" anchor="b">
                    <a:noFill/>
                  </a:tcPr>
                </a:tc>
                <a:extLst>
                  <a:ext uri="{0D108BD9-81ED-4DB2-BD59-A6C34878D82A}">
                    <a16:rowId xmlns:a16="http://schemas.microsoft.com/office/drawing/2014/main" val="10006"/>
                  </a:ext>
                </a:extLst>
              </a:tr>
              <a:tr h="43770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Fortifying AI Against Cyber Threats Advancing Resilient Systems to Combat Adversarial Attacks (2024)</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specifically address a comparative analysis of different mitigation frameworks for AI-driven threats in smart manufacturing systems. Instead, it focuses on using AI to develop robust systems against adversarial attacks through adaptive defense mechanisms utilizing reinforcement learning and ensemble methods. The study emphasizes the effectiveness of these approaches in managing dynamic threats and improving anomaly detection, but it does not delve into specialized attacks in smart manufacturing contexts.</a:t>
                      </a:r>
                      <a:endParaRPr sz="1400" u="none" strike="noStrike" cap="none"/>
                    </a:p>
                  </a:txBody>
                  <a:tcPr marL="2350" marR="2350" marT="0" marB="0" anchor="b">
                    <a:noFill/>
                  </a:tcPr>
                </a:tc>
                <a:extLst>
                  <a:ext uri="{0D108BD9-81ED-4DB2-BD59-A6C34878D82A}">
                    <a16:rowId xmlns:a16="http://schemas.microsoft.com/office/drawing/2014/main" val="10007"/>
                  </a:ext>
                </a:extLst>
              </a:tr>
              <a:tr h="43770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Using Decision Support to Fortify Industrial Control System Against Cyberattacks (2024)</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provide a comparative analysis of different mitigation frameworks for AI-driven threats in smart manufacturing systems. Instead, it focuses on a cybersecurity solution for Industrial Control Systems (ICS) that integrates a Network-based Intrusion Detection System (NIDS) with a Decision Support System (DSS) to detect anomalies and mitigate cyberattacks. While it highlights challenges and future improvements, it does not specifically address AI-powered attacks or compare various mitigation frameworks.</a:t>
                      </a:r>
                      <a:endParaRPr sz="1400" u="none" strike="noStrike" cap="none"/>
                    </a:p>
                  </a:txBody>
                  <a:tcPr marL="2350" marR="2350" marT="0" marB="0" anchor="b">
                    <a:noFill/>
                  </a:tcPr>
                </a:tc>
                <a:extLst>
                  <a:ext uri="{0D108BD9-81ED-4DB2-BD59-A6C34878D82A}">
                    <a16:rowId xmlns:a16="http://schemas.microsoft.com/office/drawing/2014/main" val="10008"/>
                  </a:ext>
                </a:extLst>
              </a:tr>
              <a:tr h="43770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Internet of things for smart manufacturing based on advanced encryption standard (AES) algorithm with chaotic system (2023)</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provide a comparative analysis of different mitigation frameworks for AI-driven threats in smart manufacturing systems. Instead, it focuses on a Smart Reviving Authorization Model using the Advanced Encryption Standard (SRAM-AES) to address security issues in chaotic systems. The model emphasizes preventing unauthorized access and reducing controller downtime through IoT elements and deep recurrent learning algorithms, but it does not specifically analyze various frameworks for AI-powered attacks.</a:t>
                      </a:r>
                      <a:endParaRPr sz="1400" u="none" strike="noStrike" cap="none"/>
                    </a:p>
                  </a:txBody>
                  <a:tcPr marL="2350" marR="2350" marT="0" marB="0" anchor="b">
                    <a:noFill/>
                  </a:tcPr>
                </a:tc>
                <a:extLst>
                  <a:ext uri="{0D108BD9-81ED-4DB2-BD59-A6C34878D82A}">
                    <a16:rowId xmlns:a16="http://schemas.microsoft.com/office/drawing/2014/main" val="10009"/>
                  </a:ext>
                </a:extLst>
              </a:tr>
              <a:tr h="51615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Explainable Adversarial Mitigation Framework for Zero-Trust Cyber Warfare (2023)</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provide a comparative analysis of different mitigation frameworks for AI-driven threats in smart manufacturing systems. Instead, it focuses on an explainable adversarial mitigation approach tailored for zero-trust cyber warfare scenarios, emphasizing the effectiveness of Intrusion Detection Systems (IDS) in military operations. The proposed framework aims to enhance resilience against adversarial attacks, achieving a high F1-score of 94% and a detection time of 0.34s, but does not specifically address smart manufacturing systems or specialized AI-powered attacks.</a:t>
                      </a:r>
                      <a:endParaRPr sz="1400" u="none" strike="noStrike" cap="none"/>
                    </a:p>
                  </a:txBody>
                  <a:tcPr marL="2350" marR="2350" marT="0" marB="0" anchor="b">
                    <a:noFill/>
                  </a:tcPr>
                </a:tc>
                <a:extLst>
                  <a:ext uri="{0D108BD9-81ED-4DB2-BD59-A6C34878D82A}">
                    <a16:rowId xmlns:a16="http://schemas.microsoft.com/office/drawing/2014/main" val="10010"/>
                  </a:ext>
                </a:extLst>
              </a:tr>
              <a:tr h="51615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Autonomous Attack Mitigation for Industrial Control Systems (2022)</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primarily focuses on autonomous response and recovery in industrial control systems (ICS) against advanced persistent threats (APTs) using deep reinforcement learning. It compares an automated cyber security orchestrator (ACSO) with traditional playbook methods, demonstrating that the ACSO outperforms in mitigating AI-driven threats by taking less disruptive actions and defending more nodes. However, it does not provide a comparative analysis of different mitigation frameworks specifically for AI-driven threats in smart manufacturing systems beyond its proposed approach.</a:t>
                      </a:r>
                      <a:endParaRPr sz="1400" u="none" strike="noStrike" cap="none"/>
                    </a:p>
                  </a:txBody>
                  <a:tcPr marL="2350" marR="2350" marT="0" marB="0" anchor="b">
                    <a:noFill/>
                  </a:tcPr>
                </a:tc>
                <a:extLst>
                  <a:ext uri="{0D108BD9-81ED-4DB2-BD59-A6C34878D82A}">
                    <a16:rowId xmlns:a16="http://schemas.microsoft.com/office/drawing/2014/main" val="10011"/>
                  </a:ext>
                </a:extLst>
              </a:tr>
              <a:tr h="51615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AI-Assisted Trustworthy Architecture for Industrial IoT Based on Dynamic Heterogeneous Redundancy (2023)</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provide a comparative analysis of different mitigation frameworks for AI-driven threats in smart manufacturing systems. Instead, it focuses on an AI-assisted trustworthy architecture utilizing dynamic heterogeneous redundancy (DHR) and a deep reinforcement learning-based intelligent arbitration (DRLIA) algorithm to enhance security in industrial IoT. The study emphasizes the effectiveness of DRLIA in distinguishing reliable IIoT messages and conducting arbitration tasks, rather than addressing specialized attacks powered by artificial intelligence in smart manufacturing systems.</a:t>
                      </a:r>
                      <a:endParaRPr sz="1400" u="none" strike="noStrike" cap="none"/>
                    </a:p>
                  </a:txBody>
                  <a:tcPr marL="2350" marR="2350" marT="0" marB="0" anchor="b">
                    <a:noFill/>
                  </a:tcPr>
                </a:tc>
                <a:extLst>
                  <a:ext uri="{0D108BD9-81ED-4DB2-BD59-A6C34878D82A}">
                    <a16:rowId xmlns:a16="http://schemas.microsoft.com/office/drawing/2014/main" val="10012"/>
                  </a:ext>
                </a:extLst>
              </a:tr>
              <a:tr h="51615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AI-Assisted Trustworthy Architecture for Industrial IoT Based on Dynamic Heterogeneous Redundancy (2023)</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provide a comparative analysis of different mitigation frameworks for AI-driven threats in smart manufacturing systems. Instead, it focuses on an AI-assisted trustworthy architecture utilizing dynamic heterogeneous redundancy (DHR) and a deep reinforcement learning-based intelligent arbitration (DRLIA) algorithm to enhance security in industrial IoT. The study emphasizes the effectiveness of DRLIA in distinguishing reliable IIoT messages and conducting arbitration tasks, rather than addressing specialized attacks powered by artificial intelligence in smart manufacturing systems.</a:t>
                      </a:r>
                      <a:endParaRPr sz="1400" u="none" strike="noStrike" cap="none"/>
                    </a:p>
                  </a:txBody>
                  <a:tcPr marL="2350" marR="2350" marT="0" marB="0" anchor="b">
                    <a:noFill/>
                  </a:tcPr>
                </a:tc>
                <a:extLst>
                  <a:ext uri="{0D108BD9-81ED-4DB2-BD59-A6C34878D82A}">
                    <a16:rowId xmlns:a16="http://schemas.microsoft.com/office/drawing/2014/main" val="10013"/>
                  </a:ext>
                </a:extLst>
              </a:tr>
              <a:tr h="43770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Elevating Smart Industry Security: An Advanced IoT-Integrated Framework for Detecting Suspicious Activities using ELM and LSTM Networks (2022)</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primarily focuses on an advanced IoT-integrated framework combining ELM and LSTM networks for detecting suspicious activities in smart industries. While it emphasizes enhancing security against evolving cyber threats, it does not provide a comparative analysis of different mitigation frameworks for AI-driven threats or specialized attacks powered by artificial intelligence. The research highlights the inadequacies of existing methods but does not delve into specific comparative evaluations of various frameworks.</a:t>
                      </a:r>
                      <a:endParaRPr sz="1400" u="none" strike="noStrike" cap="none"/>
                    </a:p>
                  </a:txBody>
                  <a:tcPr marL="2350" marR="2350" marT="0" marB="0" anchor="b">
                    <a:noFill/>
                  </a:tcPr>
                </a:tc>
                <a:extLst>
                  <a:ext uri="{0D108BD9-81ED-4DB2-BD59-A6C34878D82A}">
                    <a16:rowId xmlns:a16="http://schemas.microsoft.com/office/drawing/2014/main" val="10014"/>
                  </a:ext>
                </a:extLst>
              </a:tr>
              <a:tr h="43770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An Explainable Intelligent Framework for Anomaly Mitigation in Cyber-Physical Inverter-based Systems (2022)</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provide a comparative analysis of different mitigation frameworks for AI-driven threats in smart manufacturing systems. Instead, it focuses on an explainable intelligent framework specifically designed for cyber anomaly mitigation in cyber-physical inverter-based systems, utilizing an artificial neural network to address false data injection attacks. The framework aims to maintain normal operation in microgrids despite cyber anomalies, but it does not cover specialized attacks in smart manufacturing contexts.</a:t>
                      </a:r>
                      <a:endParaRPr sz="1400" u="none" strike="noStrike" cap="none"/>
                    </a:p>
                  </a:txBody>
                  <a:tcPr marL="2350" marR="2350" marT="0" marB="0" anchor="b">
                    <a:noFill/>
                  </a:tcPr>
                </a:tc>
                <a:extLst>
                  <a:ext uri="{0D108BD9-81ED-4DB2-BD59-A6C34878D82A}">
                    <a16:rowId xmlns:a16="http://schemas.microsoft.com/office/drawing/2014/main" val="10015"/>
                  </a:ext>
                </a:extLst>
              </a:tr>
              <a:tr h="43770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Digital clones and digital immunity: adversarial training handles both (2022)</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provide a comparative analysis of different mitigation frameworks for AI-driven threats in smart manufacturing systems. Instead, it focuses on the use of adversarial training to enhance digital clones and digital immunity against adversarial attacks. The study emphasizes the development of algorithms for generating adversarial samples that improve the personalization of decision models and ensure robustness in autonomous decision-making, rather than comparing various mitigation strategies.</a:t>
                      </a:r>
                      <a:endParaRPr sz="1400" u="none" strike="noStrike" cap="none"/>
                    </a:p>
                  </a:txBody>
                  <a:tcPr marL="2350" marR="2350" marT="0" marB="0" anchor="b">
                    <a:noFill/>
                  </a:tcPr>
                </a:tc>
                <a:extLst>
                  <a:ext uri="{0D108BD9-81ED-4DB2-BD59-A6C34878D82A}">
                    <a16:rowId xmlns:a16="http://schemas.microsoft.com/office/drawing/2014/main" val="10016"/>
                  </a:ext>
                </a:extLst>
              </a:tr>
              <a:tr h="51615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Defending Industrial Production Using AI Process Control (2020)</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conduct a comparative analysis of different mitigation frameworks for AI-driven threats in smart manufacturing systems. Instead, it proposes a novel approach using deep reinforcement learning to address modern cyberattacks by treating malicious behavior as process variation. This method enhances traditional statistical process control, providing whole-system protection in complex environments like additive manufacturing. The focus is on improving resilience against sophisticated, systemic cyberattacks rather than comparing various frameworks.</a:t>
                      </a:r>
                      <a:endParaRPr sz="1400" u="none" strike="noStrike" cap="none"/>
                    </a:p>
                  </a:txBody>
                  <a:tcPr marL="2350" marR="2350" marT="0" marB="0" anchor="b">
                    <a:noFill/>
                  </a:tcPr>
                </a:tc>
                <a:extLst>
                  <a:ext uri="{0D108BD9-81ED-4DB2-BD59-A6C34878D82A}">
                    <a16:rowId xmlns:a16="http://schemas.microsoft.com/office/drawing/2014/main" val="10017"/>
                  </a:ext>
                </a:extLst>
              </a:tr>
              <a:tr h="51615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DeSVig: Decentralized Swift Vigilance Against Adversarial Attacks in Industrial Artificial Intelligence Systems (2020)</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presents DeSVig, a decentralized framework specifically designed to identify and mitigate adversarial attacks in industrial artificial intelligence systems. It emphasizes the importance of rapid response to adversarial examples, leveraging mobile edge computing and generative adversarial networks to enhance robustness and efficiency. While it does not provide a comparative analysis of various frameworks, it demonstrates superior performance against state-of-the-art defenses, highlighting its scalability and effectiveness in safety-critical, delay-sensitive environments within smart manufacturing systems.</a:t>
                      </a:r>
                      <a:endParaRPr sz="1400" u="none" strike="noStrike" cap="none"/>
                    </a:p>
                  </a:txBody>
                  <a:tcPr marL="2350" marR="2350" marT="0" marB="0" anchor="b">
                    <a:noFill/>
                  </a:tcPr>
                </a:tc>
                <a:extLst>
                  <a:ext uri="{0D108BD9-81ED-4DB2-BD59-A6C34878D82A}">
                    <a16:rowId xmlns:a16="http://schemas.microsoft.com/office/drawing/2014/main" val="10018"/>
                  </a:ext>
                </a:extLst>
              </a:tr>
              <a:tr h="43770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(Gen)AI Versus (Gen)AI in Industrial Control Cybersecurity (2024)</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provide a comparative analysis of different mitigation frameworks for AI-driven threats in smart manufacturing systems. Instead, it focuses on how (Gen)AI impacts industrial control systems (ICSs) security through the Cyber Kill Chain (CKC) framework, detailing how (Gen)AI can automate attacks and enhance defenses. It discusses advanced techniques like AI-powered firewalls and anomaly detection but does not specifically compare various mitigation frameworks for specialized AI-powered attacks in smart manufacturing.</a:t>
                      </a:r>
                      <a:endParaRPr sz="1400" u="none" strike="noStrike" cap="none"/>
                    </a:p>
                  </a:txBody>
                  <a:tcPr marL="2350" marR="2350" marT="0" marB="0" anchor="b">
                    <a:noFill/>
                  </a:tcPr>
                </a:tc>
                <a:extLst>
                  <a:ext uri="{0D108BD9-81ED-4DB2-BD59-A6C34878D82A}">
                    <a16:rowId xmlns:a16="http://schemas.microsoft.com/office/drawing/2014/main" val="10019"/>
                  </a:ext>
                </a:extLst>
              </a:tr>
              <a:tr h="516150">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Generative AI and Cognitive Computing-Driven Intrusion Detection System in Industrial CPS (2024)</a:t>
                      </a:r>
                      <a:endParaRPr sz="1400" u="none" strike="noStrike" cap="none"/>
                    </a:p>
                  </a:txBody>
                  <a:tcPr marL="2350" marR="2350" marT="0" marB="0" anchor="b">
                    <a:noFill/>
                  </a:tcPr>
                </a:tc>
                <a:tc>
                  <a:txBody>
                    <a:bodyPr/>
                    <a:lstStyle/>
                    <a:p>
                      <a:pPr marL="0" marR="0" lvl="0" indent="0" algn="l" rtl="0">
                        <a:lnSpc>
                          <a:spcPct val="100000"/>
                        </a:lnSpc>
                        <a:spcBef>
                          <a:spcPts val="0"/>
                        </a:spcBef>
                        <a:spcAft>
                          <a:spcPts val="0"/>
                        </a:spcAft>
                        <a:buClr>
                          <a:srgbClr val="000000"/>
                        </a:buClr>
                        <a:buSzPts val="1000"/>
                        <a:buFont typeface="Arial"/>
                        <a:buNone/>
                      </a:pPr>
                      <a:r>
                        <a:rPr lang="en-IN" sz="1000" u="none" strike="noStrike" cap="none"/>
                        <a:t>The paper does not provide a comparative analysis of different mitigation frameworks for AI-driven threats in smart manufacturing systems. Instead, it focuses on developing an intrusion detection system (IDS) for Industrial Cyber-Physical Systems (ICPSs) using Generative AI and cognitive computing. The proposed IDS aims to enhance interpretability and reduce false positives through techniques like LSTM-SVAE and BiRNN-HAID, but it does not specifically address specialized attacks powered by artificial intelligence in smart manufacturing contexts.</a:t>
                      </a:r>
                      <a:endParaRPr sz="1400" u="none" strike="noStrike" cap="none"/>
                    </a:p>
                  </a:txBody>
                  <a:tcPr marL="2350" marR="2350" marT="0" marB="0" anchor="b">
                    <a:noFill/>
                  </a:tcPr>
                </a:tc>
                <a:extLst>
                  <a:ext uri="{0D108BD9-81ED-4DB2-BD59-A6C34878D82A}">
                    <a16:rowId xmlns:a16="http://schemas.microsoft.com/office/drawing/2014/main" val="10020"/>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5994</Words>
  <Application>Microsoft Office PowerPoint</Application>
  <PresentationFormat>Custom</PresentationFormat>
  <Paragraphs>399</Paragraphs>
  <Slides>28</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Arial Rounded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Gaurav Raval</cp:lastModifiedBy>
  <cp:revision>2</cp:revision>
  <dcterms:modified xsi:type="dcterms:W3CDTF">2026-10-16T11:34:12Z</dcterms:modified>
</cp:coreProperties>
</file>