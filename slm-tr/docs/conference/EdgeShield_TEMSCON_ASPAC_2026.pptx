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7-09-26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flipH="1">
            <a:off x="0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grpSp>
        <p:nvGrpSpPr>
          <p:cNvPr id="4" name="Group 4"/>
          <p:cNvGrpSpPr/>
          <p:nvPr/>
        </p:nvGrpSpPr>
        <p:grpSpPr>
          <a:xfrm>
            <a:off x="0" y="8392162"/>
            <a:ext cx="18288000" cy="1918369"/>
            <a:chOff x="0" y="0"/>
            <a:chExt cx="4816593" cy="5052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52728" y="3291840"/>
            <a:ext cx="14173200" cy="16459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6336"/>
              </a:lnSpc>
              <a:defRPr sz="3600" b="1">
                <a:solidFill>
                  <a:srgbClr val="194A8D"/>
                </a:solidFill>
                <a:latin typeface="Arial"/>
              </a:defRPr>
            </a:pPr>
            <a:r>
              <a:t>EdgeShield: A Small Language Model Framework for Real-Time Detection of Lateral Movement and Ransomware Attacks</a:t>
            </a:r>
          </a:p>
        </p:txBody>
      </p:sp>
      <p:sp>
        <p:nvSpPr>
          <p:cNvPr id="8" name="AutoShape 8"/>
          <p:cNvSpPr/>
          <p:nvPr/>
        </p:nvSpPr>
        <p:spPr>
          <a:xfrm>
            <a:off x="1257253" y="5059496"/>
            <a:ext cx="128241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4911569" y="304468"/>
            <a:ext cx="12824100" cy="1462925"/>
            <a:chOff x="0" y="0"/>
            <a:chExt cx="2578667" cy="2985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970789" y="614327"/>
            <a:ext cx="2222319" cy="871913"/>
          </a:xfrm>
          <a:custGeom>
            <a:avLst/>
            <a:gdLst/>
            <a:ahLst/>
            <a:cxnLst/>
            <a:rect l="l" t="t" r="r" b="b"/>
            <a:pathLst>
              <a:path w="2075974" h="610910">
                <a:moveTo>
                  <a:pt x="0" y="0"/>
                </a:moveTo>
                <a:lnTo>
                  <a:pt x="2075974" y="0"/>
                </a:lnTo>
                <a:lnTo>
                  <a:pt x="2075974" y="610910"/>
                </a:lnTo>
                <a:lnTo>
                  <a:pt x="0" y="610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069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7376362" y="553671"/>
            <a:ext cx="2446611" cy="932569"/>
          </a:xfrm>
          <a:custGeom>
            <a:avLst/>
            <a:gdLst/>
            <a:ahLst/>
            <a:cxnLst/>
            <a:rect l="l" t="t" r="r" b="b"/>
            <a:pathLst>
              <a:path w="2222319" h="694125">
                <a:moveTo>
                  <a:pt x="0" y="0"/>
                </a:moveTo>
                <a:lnTo>
                  <a:pt x="2222319" y="0"/>
                </a:lnTo>
                <a:lnTo>
                  <a:pt x="2222319" y="694125"/>
                </a:lnTo>
                <a:lnTo>
                  <a:pt x="0" y="694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1257253" y="5120640"/>
            <a:ext cx="14630400" cy="23774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359"/>
              </a:lnSpc>
              <a:defRPr sz="2000" b="1">
                <a:solidFill>
                  <a:srgbClr val="194A8D"/>
                </a:solidFill>
                <a:latin typeface="Arial"/>
              </a:defRPr>
            </a:pPr>
            <a:r>
              <a:t>Gauravkumar Raval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Research Scholar, Faculty of Engineering &amp; Technology, GLS University, Ahmedabad, India | gaurav.raval@hotmail.com</a:t>
            </a:r>
          </a:p>
          <a:p>
            <a:pPr>
              <a:defRPr sz="600"/>
            </a:pPr>
          </a:p>
          <a:p>
            <a:pPr>
              <a:defRPr sz="2000" b="1">
                <a:solidFill>
                  <a:srgbClr val="194A8D"/>
                </a:solidFill>
                <a:latin typeface="Arial"/>
              </a:defRPr>
            </a:pPr>
            <a:r>
              <a:t>Dr. Tejaskumar Bhatt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Assistant Professor, Faculty of Engineering &amp; Technology, GLS University, Ahmedabad, India | tejas.bhatt@glsuniversity.ac.in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7253" y="2834640"/>
            <a:ext cx="10972800" cy="396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359"/>
              </a:lnSpc>
              <a:defRPr sz="1800" b="1">
                <a:solidFill>
                  <a:srgbClr val="2B78C5"/>
                </a:solidFill>
                <a:latin typeface="Arial"/>
              </a:defRPr>
            </a:pPr>
            <a:r>
              <a:t>Paper ID: 1571282183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4" y="8682692"/>
            <a:ext cx="18288004" cy="1299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IEEE Conference Record No: </a:t>
            </a:r>
            <a:r>
              <a:rPr lang="en-US" sz="2599" b="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6</a:t>
            </a:r>
            <a:r>
              <a:rPr lang="en-IN" sz="2599" b="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948</a:t>
            </a:r>
            <a:r>
              <a:rPr lang="en-US" sz="2599" b="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9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pic>
        <p:nvPicPr>
          <p:cNvPr id="1026" name="Picture 2" descr="Logos">
            <a:extLst>
              <a:ext uri="{FF2B5EF4-FFF2-40B4-BE49-F238E27FC236}">
                <a16:creationId xmlns:a16="http://schemas.microsoft.com/office/drawing/2014/main" id="{B9A7749A-5AA8-CCEC-A7A9-E178D810F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38" r="5848" b="5466"/>
          <a:stretch>
            <a:fillRect/>
          </a:stretch>
        </p:blipFill>
        <p:spPr bwMode="auto">
          <a:xfrm>
            <a:off x="14081353" y="352683"/>
            <a:ext cx="3309035" cy="136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Logos">
            <a:extLst>
              <a:ext uri="{FF2B5EF4-FFF2-40B4-BE49-F238E27FC236}">
                <a16:creationId xmlns:a16="http://schemas.microsoft.com/office/drawing/2014/main" id="{623FB910-CF6F-34ED-8273-45685C40E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0036353" y="613987"/>
            <a:ext cx="3755847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6E6979-2615-B5FD-AFEB-3E24541D4664}"/>
              </a:ext>
            </a:extLst>
          </p:cNvPr>
          <p:cNvSpPr txBox="1"/>
          <p:nvPr/>
        </p:nvSpPr>
        <p:spPr>
          <a:xfrm>
            <a:off x="1220039" y="2148840"/>
            <a:ext cx="160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1">
                <a:solidFill>
                  <a:srgbClr val="3C4043"/>
                </a:solidFill>
                <a:latin typeface="Arial"/>
              </a:defRPr>
            </a:pPr>
            <a:r>
              <a:t>5th IEEE TEMSCON-ASPAC 2026  |  Track: Strategic Management of Autonomous &amp; Intelligent Systems (Cybersecurity &amp;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Executive Summary &amp; Core Contributions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80467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94A8D"/>
                </a:solidFill>
                <a:latin typeface="Arial"/>
              </a:defRPr>
            </a:pPr>
            <a:r>
              <a:t>Enterprise Problem &amp; Proposed Vision</a:t>
            </a:r>
          </a:p>
          <a:p>
            <a:pPr>
              <a:defRPr sz="1700" b="1">
                <a:solidFill>
                  <a:srgbClr val="282C34"/>
                </a:solidFill>
                <a:latin typeface="Arial"/>
              </a:defRPr>
            </a:pPr>
            <a:r>
              <a:t>• The Dual Threat Reality: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Modern enterprise ransomware does not begin with encryption; it begins with days or weeks of silent lateral movement across domain hosts.</a:t>
            </a:r>
          </a:p>
          <a:p>
            <a:pPr>
              <a:defRPr sz="1700" b="1">
                <a:solidFill>
                  <a:srgbClr val="282C34"/>
                </a:solidFill>
                <a:latin typeface="Arial"/>
              </a:defRPr>
            </a:pPr>
            <a:r>
              <a:t>• The Defense Trade-off: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Heuristic signatures miss obfuscated living-off-the-land techniques (36.8% recall), while cloud-hosted LLMs (&gt;70B) are too slow and violate data-residency compliance.</a:t>
            </a:r>
          </a:p>
          <a:p>
            <a:pPr>
              <a:defRPr sz="1700" b="1">
                <a:solidFill>
                  <a:srgbClr val="282C34"/>
                </a:solidFill>
                <a:latin typeface="Arial"/>
              </a:defRPr>
            </a:pPr>
            <a:r>
              <a:t>• EdgeShield Core Vision: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A purpose-built, dual-stream Small Language Model (SLM, 44M) framework operating 100% on-premise at the network edge with sub-15ms latency.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37360"/>
            <a:ext cx="841248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94A8D"/>
                </a:solidFill>
                <a:latin typeface="Arial"/>
              </a:defRPr>
            </a:pPr>
            <a:r>
              <a:t>Key Research Contributions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1. Decoupled Dual-Stream SLM Architecture: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Separates asynchronous Windows authentication logs (Stream A: LSA) from high-frequency process/file telemetry (Stream B: BPD), completely preventing cross-domain token collisions.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2. ATT&amp;CK Technique Mapping &amp; Contrastive Loss: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Multi-task sliding-window fine-tuning (K=3) with Supervised Contrastive Loss; maps raw event streams directly to MITRE ATT&amp;CK technique IDs with 100% pre-encryption lead time.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3. Rigorous Empirical &amp; Edge Evaluation: 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Benchmarked across 1.75M enterprise events (LMD-2023) and multi-stage attack scenarios: achieves 99.38% Macro F1, 87.6% latency reduction over unified models, and 11.7 ms INT8 edge runtime (&gt;85 win/s).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Threat Landscape: Why Existing Defenses Fail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62828"/>
                </a:solidFill>
                <a:latin typeface="Arial"/>
              </a:defRPr>
            </a:pPr>
            <a:r>
              <a:t>Traditional Signature IDS / EDR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Rule-based detection (Snort, Zeek, static heuristic signatures).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Severe blind spot against Living-off-the-Land Binaries (LOLBins: WMI, PsExec, WinRM).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Command-line obfuscation and credential hopping bypass static regex.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Empirical Result: Low recall capped at 36.80% in our evaluation.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High alert volume without correlated attack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73736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82C34"/>
                </a:solidFill>
                <a:latin typeface="Arial"/>
              </a:defRPr>
            </a:pPr>
            <a:r>
              <a:t>Tree-Based Classical ML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Feature engineering (XGBoost, LightGBM, Random Forest).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Relies on isolated event-level features or tabular frequency bags.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Lacks sequential contextualization across time-series event windows.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Empirical Result: Poor generalization across sequences (XGBoost F1: 55.50%, LightGBM F1: 43.20%).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Easily fooled when administrative tools mimic baseline behaviors.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52960" y="1737360"/>
            <a:ext cx="53035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82C34"/>
                </a:solidFill>
                <a:latin typeface="Arial"/>
              </a:defRPr>
            </a:pPr>
            <a:r>
              <a:t>Cloud-Hosted Frontier LLMs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70B+ parameter generative LLMs (GPT-4, LLaMA-3 70B).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High Semantic Power but severe deployment barriers: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1. Privacy &amp; Zero-Trust: Raw enterprise security logs &amp; Kerberos tickets cannot leave perimeter.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2. Unacceptable Latency: Cloud API calls add 300–800 ms per window.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3. Massive Cost: Continuous multi-billion token streaming requires multi-million GPU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Proposed Framework: EdgeShield Architecture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969264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ge_2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011680"/>
            <a:ext cx="9144000" cy="65836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0789920" y="1737360"/>
            <a:ext cx="67665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94A8D"/>
                </a:solidFill>
                <a:latin typeface="Arial"/>
              </a:defRPr>
            </a:pPr>
            <a:r>
              <a:t>Layer 1: Telemetry Ingestion &amp; Normalization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• Collects Windows Security Event IDs (4624, 4625, 4648, 4672), Sysmon process creation, Kerberos tickets, and file-system events.</a:t>
            </a:r>
            <a:br/>
            <a:r>
              <a:t>• Custom SecKnowledge 2.0 tokenizer maps hex hashes, SIDs, and GUIDs into unified tokens without subword fragmentation.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4160520"/>
            <a:ext cx="67665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B78C5"/>
                </a:solidFill>
                <a:latin typeface="Arial"/>
              </a:defRPr>
            </a:pPr>
            <a:r>
              <a:t>Layer 2: Decoupled Dual-Stream SLMs (44M)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• Stream A: Log Semantic Analyzer (LSA) tracks authentication pivots across hosts using temporal sliding windows (K=3).</a:t>
            </a:r>
            <a:br/>
            <a:r>
              <a:t>• Stream B: Behavioral Pattern Detector (BPD) monitors file/process anomalies for pre-encryption ransomware behaviors.</a:t>
            </a:r>
            <a:br/>
            <a:r>
              <a:t>• Decoupling eliminates cross-domain token collisions (+8.18 pp F1 gain).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6812280"/>
            <a:ext cx="67665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E7D32"/>
                </a:solidFill>
                <a:latin typeface="Arial"/>
              </a:defRPr>
            </a:pPr>
            <a:r>
              <a:t>Layer 3: ATT&amp;CK Correlation Engine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• Fuses LSA &amp; BPD detections across correlated time windows (Delta_T &lt;= 300s).</a:t>
            </a:r>
            <a:br/>
            <a:r>
              <a:t>• Maps combined signals to MITRE ATT&amp;CK v15 attack graphs, generating unified high-confidence incident alerts for SOC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Stream A: Log Semantic Analyzer (LSA) for Lateral Movement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Targeted Telemetry &amp; Tokenization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Ingested Log Channels: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Windows Security Event IDs: 4624 (Successful Logon), 4625 (Failed Logon), 4648 (Explicit Credential Logon), 4672 (Special Privileges Assigned).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Kerberos &amp; NetFlow Context: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Monitors Kerberos TGS/TGT ticket requests and Active Directory replication activity to catch Pass-the-Ticket / Golden Ticket operations.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Security-Adapted Tokenizer: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Trained on SecKnowledge 2.0; retains hex hashes, SIDs, and GUIDs as unified tokens instead of fragmented general BPE subwords.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Sliding Window Formulation: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Temporal windows of K=3 sequential events capture multi-step adversary movement chains (Auth -&gt; Session -&gt; Command).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Two-Phase Fine-Tuning Strategy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Phase 1: Supervised Cross-Entropy: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Trains the 44M DeBERTa-v3 Small encoder over labeled MITRE ATT&amp;CK technique sequences: T1021 (Remote Services), T1550 (Alternate Auth), and T1570 (Tool Transfer).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Phase 2: Supervised Contrastive Loss: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Separates legitimate administrative actions (e.g., scheduled admin RDP maintenance) from adversary lateral movement in the embedding space.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Loss Objective Formulation: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L_total = L_CE + lambda_1 * L_SupCon + lambda_2 * L_MSE</a:t>
            </a:r>
            <a:br/>
            <a:r>
              <a:t>Ensures well-calibrated confidence boundaries for high-precision alerting.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Empirical Performance: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Achieves 99.45% Accuracy, 99.38% Macro F1, and a low False Positive Rate of only 0.45% on real-world enterprise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Stream B: Behavioral Pattern Detector (BPD) for Ransomware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Pre-Encryption Kill-Chain Detection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Objective: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Catch ransomware during staging and defense impairment, well before file encryption APIs are triggered.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Channel 1: File-System Telemetry: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Detects file enumeration (T1083), mass rename bursts, and shadow-copy deletion (T1490: vssadmin delete shadows).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Channel 2: Process &amp; API Signals: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Monitors defense impairment (T1562.001: stopping Defender/EDR services via sc.exe) and abnormal API call chains.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Channel 3: Staging Network Telemetry: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Flags outbound C2 command beaconing and pre-encryption staging connections (T1071.001).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Constrained Edge Modeling &amp; Lead Time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Constrained Domain Vocabulary: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Vocabulary strictly restricted to ~2,000 domain tokens (MITRE ATT&amp;CK terms + OS telemetry primitives), minimizing parameter bloat and compute latency.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Lightweight Threat Attention Layer: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An attention-based scoring head placed over the SLM hidden states produces a continuous running threat score per event window.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100% Pre-Encryption Lead Time: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Successfully triggered high-confidence pre-encryption alerts before any encryption API calls were invoked across evaluated ransomware traces.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Curated Trace Performance: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Attained 100.0% Precision and 0.00% FPR against administrative baseline activity on deterministic ransomware traces.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ATT&amp;CK Knowledge Graph &amp; Threat Correlation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1682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94A8D"/>
                </a:solidFill>
                <a:latin typeface="Arial"/>
              </a:defRPr>
            </a:pPr>
            <a:r>
              <a:t>1. Graph-Backed Knowledge Representation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Built upon the MITRE ATT&amp;CK v15 enterprise matrix, mapping tactic -&gt; technique -&gt; sub-technique hierarchies.</a:t>
            </a:r>
            <a:br/>
            <a:r>
              <a:t>• Encodes empirical transition priors between authentication movement (TA0008) and ransomware execution (TA0040).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8229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B78C5"/>
                </a:solidFill>
                <a:latin typeface="Arial"/>
              </a:defRPr>
            </a:pPr>
            <a:r>
              <a:t>2. Cross-Stream Temporal Correlation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Correlated Time Window: Delta_T &lt;= 300 seconds.</a:t>
            </a:r>
            <a:br/>
            <a:r>
              <a:t>• Fuses Stream A detections (e.g. LogonType 9 / PsExec execution) with Stream B alerts (e.g. vssadmin shadow deletion).</a:t>
            </a:r>
            <a:br/>
            <a:r>
              <a:t>• Merges two disparate signals into a single coordinated attack chain incident.</a:t>
            </a:r>
            <a:br/>
            <a:r>
              <a:t>• Eliminates single-stream alert fatigue and isolates compromised host endpoints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114800"/>
            <a:ext cx="8229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B78C5"/>
                </a:solidFill>
                <a:latin typeface="Arial"/>
              </a:defRPr>
            </a:pPr>
            <a:r>
              <a:t>3. Predictive Threat Hunting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• Employs KNN-based collaborative filtering across the ATT&amp;CK graph.</a:t>
            </a:r>
            <a:br/>
            <a:r>
              <a:t>• Given the sequence of techniques observed so far, queries the graph to forecast the adversary's next 3 most probable moves.</a:t>
            </a:r>
            <a:br/>
            <a:r>
              <a:t>• Shifts defense from reactive incident response to proactive edge threat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Edge Deployment Strategy &amp; ONNX INT8 Pipeline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920240"/>
            <a:ext cx="393192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78C5"/>
                </a:solidFill>
                <a:latin typeface="Arial"/>
              </a:defRPr>
            </a:pPr>
            <a:r>
              <a:t>01</a:t>
            </a:r>
          </a:p>
          <a:p>
            <a:pPr>
              <a:defRPr sz="1800" b="1">
                <a:solidFill>
                  <a:srgbClr val="194A8D"/>
                </a:solidFill>
                <a:latin typeface="Arial"/>
              </a:defRPr>
            </a:pPr>
            <a:r>
              <a:t>Step 1: PyTorch Graph Export</a:t>
            </a:r>
          </a:p>
          <a:p>
            <a:br/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Exports fine-tuned 44M DeBERTa-v3 Small models to standardized ONNX graph format using dynamic sequence axes.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920240"/>
            <a:ext cx="393192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78C5"/>
                </a:solidFill>
                <a:latin typeface="Arial"/>
              </a:defRPr>
            </a:pPr>
            <a:r>
              <a:t>02</a:t>
            </a:r>
          </a:p>
          <a:p>
            <a:pPr>
              <a:defRPr sz="1800" b="1">
                <a:solidFill>
                  <a:srgbClr val="194A8D"/>
                </a:solidFill>
                <a:latin typeface="Arial"/>
              </a:defRPr>
            </a:pPr>
            <a:r>
              <a:t>Step 2: Post-Training Quantization</a:t>
            </a:r>
          </a:p>
          <a:p>
            <a:br/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Applies dynamic INT8 post-training quantization (PTQ), compressing model weights from 255 MB to 64.9 MB (~75% reduction).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920240"/>
            <a:ext cx="393192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78C5"/>
                </a:solidFill>
                <a:latin typeface="Arial"/>
              </a:defRPr>
            </a:pPr>
            <a:r>
              <a:t>03</a:t>
            </a:r>
          </a:p>
          <a:p>
            <a:pPr>
              <a:defRPr sz="1800" b="1">
                <a:solidFill>
                  <a:srgbClr val="194A8D"/>
                </a:solidFill>
                <a:latin typeface="Arial"/>
              </a:defRPr>
            </a:pPr>
            <a:r>
              <a:t>Step 3: ONNX Runtime Engine</a:t>
            </a:r>
          </a:p>
          <a:p>
            <a:br/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Leverages Microsoft ONNX Runtime (built natively into modern OS) with automated accelerator dispatch (CPU, NPU, DirectML GPU).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24560" y="1920240"/>
            <a:ext cx="393192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78C5"/>
                </a:solidFill>
                <a:latin typeface="Arial"/>
              </a:defRPr>
            </a:pPr>
            <a:r>
              <a:t>04</a:t>
            </a:r>
          </a:p>
          <a:p>
            <a:pPr>
              <a:defRPr sz="1800" b="1">
                <a:solidFill>
                  <a:srgbClr val="194A8D"/>
                </a:solidFill>
                <a:latin typeface="Arial"/>
              </a:defRPr>
            </a:pPr>
            <a:r>
              <a:t>Step 4: Zero-Trust Endpoint SLA</a:t>
            </a:r>
          </a:p>
          <a:p>
            <a:br/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Inference runs 100% locally with a 50 MB RAM footprint; sensitive enterprise logs never cross the network perimeter.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Experimental Setup &amp; Evaluation Datasets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100584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Ingested Datasets &amp; Class Distributions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Primary Lateral Movement Dataset (LMD-2023):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1,752,836 real-world enterprise event logs (1.07 GB total):</a:t>
            </a:r>
            <a:br/>
            <a:r>
              <a:t>• Benign Baseline Activity (Class 0): 1,611,619 events (91.95%)</a:t>
            </a:r>
            <a:br/>
            <a:r>
              <a:t>• Remote Services (EoRS, Class 1): 110,710 events (6.32%)</a:t>
            </a:r>
            <a:br/>
            <a:r>
              <a:t>• Pass-the-Hash / Credential Dumping (EoHT, Class 2): 30,507 events (1.74%)</a:t>
            </a:r>
            <a:br/>
            <a:r>
              <a:t>• Balanced stratified partition: 12,000 train / 2,000 test sliding windows (K=3).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Curated Multi-Stage Ransomware Telemetry: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6,000 multi-phase attack traces across 5 ATT&amp;CK kill-chain stages:</a:t>
            </a:r>
            <a:br/>
            <a:r>
              <a:t>• T1083 File Discovery, T1562.001 Impairment, T1490 Shadow Deletion, T1071.001 C2 Staging, T1486 Mass Encryption.</a:t>
            </a:r>
          </a:p>
          <a:p>
            <a:pPr>
              <a:defRPr sz="1600" b="1">
                <a:solidFill>
                  <a:srgbClr val="282C34"/>
                </a:solidFill>
                <a:latin typeface="Arial"/>
              </a:defRPr>
            </a:pPr>
            <a:r>
              <a:t>• Out-of-Distribution Validation Dataset: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Evaluated on DARPA OpTC enterprise host events to stress-test domain transfer.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0" y="1737360"/>
            <a:ext cx="64008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Training &amp; Hardware Config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Accelerator: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Intel Arc 140T GPU (16 GB VRAM) with DirectML acceleration.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Host Environment: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Intel Core Ultra 7 processor (Windows 11 / Linux compatible).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Optimizer: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AdamW (lr = 2e-5, weight decay = 0.01, linear decay schedule).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Batch &amp; Epochs: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Batch size = 16, 3 training epochs per stream.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Inference Runtime: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ONNX Runtime 1.24.4 (CPU / DirectML execution providers).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Empirical Results: Detection Accuracy vs. Baselines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645920"/>
            <a:ext cx="168249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94A8D"/>
                </a:solidFill>
                <a:latin typeface="Arial"/>
              </a:defRPr>
            </a:pPr>
            <a:r>
              <a:t>Table I: EdgeShield Dual-Stream Performance (Stratified Splits)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97280" y="2194560"/>
          <a:ext cx="1609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062"/>
                <a:gridCol w="2299062"/>
                <a:gridCol w="2299062"/>
                <a:gridCol w="2299062"/>
                <a:gridCol w="2299062"/>
                <a:gridCol w="2299062"/>
                <a:gridCol w="2299068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Stream A: LSA (Lateral Movement)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99.45%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99.25%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Stream B: BPD (Ransomware)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731520" y="4389120"/>
            <a:ext cx="168249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94A8D"/>
                </a:solidFill>
                <a:latin typeface="Arial"/>
              </a:defRPr>
            </a:pPr>
            <a:r>
              <a:t>Table II: Comparison Against Traditional Security &amp; ML Baselines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097280" y="4937760"/>
          <a:ext cx="16093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3218688"/>
                <a:gridCol w="3218688"/>
                <a:gridCol w="3218688"/>
                <a:gridCol w="3218688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Defense Approach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Limitation / Advantage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Signature IDS (Snort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Fails on LOLBins and command-line obfuscation; poor recall.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XGBoost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55.50%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58.20%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53.10%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Lacks temporal sequential context across multi-event windows.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LightGBM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38.90%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Gradient boosted trees suffer high false alarms on admin tools.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Random Forest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58.48%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58.49%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58.50%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Standard bag-of-words framing fails on dynamic pivoting.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LSTM Sequence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78.60%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81.40%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76.00%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RNN recurrent state struggles with long-range log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EdgeShield Dual-Stream SLM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99.51%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99.25%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+20.78 pp F1 gain over LSTM; rich multi-task threat attention.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Real-Time Edge Performance &amp; Statistical Verification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804672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Rigorous 5-Trial Statistical Benchmark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Sample Size: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5 independent trials x 200 runs = 1,000 total inference evaluations on commodity CPU (8 threads).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Quantized INT8 Latency: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11.71 ± 0.62 ms per window (Median p50: 11.66 ms, Min: 10.28 ms, p95: 12.72 ms).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Sustained Throughput: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85.4 windows / second (&gt;5,100 windows / minute), delivering massive real-time headroom for busy SOC buffers.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Quantization Speedup: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2.38x execution speedup over unquantized FP32 (27.84 ms -&gt; 11.71 ms).</a:t>
            </a:r>
          </a:p>
          <a:p>
            <a:pPr>
              <a:defRPr sz="1600" b="1">
                <a:solidFill>
                  <a:srgbClr val="2B78C5"/>
                </a:solidFill>
                <a:latin typeface="Arial"/>
              </a:defRPr>
            </a:pPr>
            <a:r>
              <a:t>• Memory Footprint: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50 MB active RAM footprint (checkpoint compressed from 255 MB to 64.9 MB).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37360"/>
            <a:ext cx="841248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Model Backbone Head-to-Head Comparison</a:t>
            </a:r>
          </a:p>
          <a:p>
            <a:br/>
            <a:pPr>
              <a:defRPr sz="1400" b="1">
                <a:solidFill>
                  <a:srgbClr val="282C34"/>
                </a:solidFill>
                <a:latin typeface="Arial"/>
              </a:defRPr>
            </a:pPr>
            <a:r>
              <a:t>Key Deployment Advantage:</a:t>
            </a:r>
            <a:br/>
            <a:r>
              <a:t>• 2.4x speedup over Phi-3 Mini INT8 (4.1x over own CPU baseline).</a:t>
            </a:r>
            <a:br/>
            <a:r>
              <a:t>• 42x smaller memory footprint (50 MB vs 2.10 GB) enables true edge sensor deployment.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326880" y="246888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Backbone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CPU (ms)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INT8 (ms)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Phi-3 Mini (Instruct)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142.50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28.40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2.10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Gemma-2 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2.6B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98.20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21.60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1.50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TinyLlama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1.1B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0.70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DeBERTa-v3 (EdgeShield)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44M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48.17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11.71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0.05 GB (50MB)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Architectural Ablation &amp; Multi-Stage Attack Scenarios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91440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94A8D"/>
                </a:solidFill>
                <a:latin typeface="Arial"/>
              </a:defRPr>
            </a:pPr>
            <a:r>
              <a:t>Table IV: Architectural Ablation Configurations</a:t>
            </a:r>
          </a:p>
          <a:p>
            <a:br/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• Why Dual-Stream Wins: Feeding all telemetry to a single unified SLM causes cross-domain token collisions and attention dilution (dropping F1 to 91.20%).</a:t>
            </a:r>
            <a:br/>
            <a:r>
              <a:t>• Decoupled streams yield +8.18 pp higher F1 and 87.6% lower latency.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2377440"/>
          <a:ext cx="8778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76809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Lateral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Ransom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Overall F1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94A8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(a) LSA Stream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0.00% (Blind)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48.17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(b) BPD Stream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0.00% (Blind)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31.73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(c) Unified Single SLM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94.60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(d) EdgeShield Dual-Stream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99.38%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11.71 ms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0241280" y="1737360"/>
            <a:ext cx="73152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94A8D"/>
                </a:solidFill>
                <a:latin typeface="Arial"/>
              </a:defRPr>
            </a:pPr>
            <a:r>
              <a:t>Simulated Multi-Stage Campaigns</a:t>
            </a:r>
          </a:p>
          <a:p>
            <a:pPr>
              <a:defRPr sz="1500" b="1">
                <a:solidFill>
                  <a:srgbClr val="2B78C5"/>
                </a:solidFill>
                <a:latin typeface="Arial"/>
              </a:defRPr>
            </a:pPr>
            <a:r>
              <a:t>• ALPHV / BlackCat Scenario: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   5 sequential attack stages:</a:t>
            </a:r>
            <a:br/>
            <a:r>
              <a:t>1. T1550.002 Pass-the-Hash</a:t>
            </a:r>
            <a:br/>
            <a:r>
              <a:t>2. T1021.002 PsExec remote execution</a:t>
            </a:r>
            <a:br/>
            <a:r>
              <a:t>3. T1490 Shadow copy deletion</a:t>
            </a:r>
            <a:br/>
            <a:r>
              <a:t>4. T1562.001 Defender service termination</a:t>
            </a:r>
            <a:br/>
            <a:r>
              <a:t>5. T1486 Active file encryption</a:t>
            </a:r>
          </a:p>
          <a:p>
            <a:pPr>
              <a:defRPr sz="1500" b="1">
                <a:solidFill>
                  <a:srgbClr val="2B78C5"/>
                </a:solidFill>
                <a:latin typeface="Arial"/>
              </a:defRPr>
            </a:pPr>
            <a:r>
              <a:t>• LockBit 3.0 Intrusion: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   3 coordinated stages:</a:t>
            </a:r>
            <a:br/>
            <a:r>
              <a:t>1. T1047 WMI remote execution</a:t>
            </a:r>
            <a:br/>
            <a:r>
              <a:t>2. T1490 Volume shadow manipulation</a:t>
            </a:r>
            <a:br/>
            <a:r>
              <a:t>3. T1071.001 Exfiltration &amp; encryption</a:t>
            </a:r>
          </a:p>
          <a:p>
            <a:pPr>
              <a:defRPr sz="1500" b="1">
                <a:solidFill>
                  <a:srgbClr val="2B78C5"/>
                </a:solidFill>
                <a:latin typeface="Arial"/>
              </a:defRPr>
            </a:pPr>
            <a:r>
              <a:t>• 100% Pre-Encryption Lead Time:</a:t>
            </a:r>
          </a:p>
          <a:p>
            <a:pPr>
              <a:defRPr sz="1300">
                <a:solidFill>
                  <a:srgbClr val="3C4043"/>
                </a:solidFill>
                <a:latin typeface="Arial"/>
              </a:defRPr>
            </a:pPr>
            <a:r>
              <a:t>   The correlation engine generated high-confidence alerts at Stage 3 &amp; 4 in both scenarios, providing automated response hooks to isolate hosts before T1486 mass encryption began.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Methodological Rigor, Limitations &amp; Future Roadmap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Academic Rigor &amp; Honest Limitations</a:t>
            </a:r>
          </a:p>
          <a:p>
            <a:pPr>
              <a:defRPr sz="1600" b="1">
                <a:solidFill>
                  <a:srgbClr val="C62828"/>
                </a:solidFill>
                <a:latin typeface="Arial"/>
              </a:defRPr>
            </a:pPr>
            <a:r>
              <a:t>• Chronological Split Stress-Testing: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Under strict chronological 80/20 splits with duplicate removal, Macro F1 drops from 0.99 to 0.66. Pass-the-Hash (EoHT) recall collapses due to extreme sparsity (~500 early-campaign examples).</a:t>
            </a:r>
          </a:p>
          <a:p>
            <a:pPr>
              <a:defRPr sz="1600" b="1">
                <a:solidFill>
                  <a:srgbClr val="C62828"/>
                </a:solidFill>
                <a:latin typeface="Arial"/>
              </a:defRPr>
            </a:pPr>
            <a:r>
              <a:t>• Supervision Granularity Insight: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Analysis proves this is a supervision granularity problem (coarse EoHT label conflates disparate tools), rather than an architectural flaw. Technique-level sub-labels (T1550 vs T1003) are prescribed.</a:t>
            </a:r>
          </a:p>
          <a:p>
            <a:pPr>
              <a:defRPr sz="1600" b="1">
                <a:solidFill>
                  <a:srgbClr val="C62828"/>
                </a:solidFill>
                <a:latin typeface="Arial"/>
              </a:defRPr>
            </a:pPr>
            <a:r>
              <a:t>• Deterministic Curated Traces: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100% precision on BPD reflects the deterministic nature of curated ransomware templates; deployment to noisier live enterprise telemetry remains an open challenge.</a:t>
            </a:r>
          </a:p>
          <a:p>
            <a:pPr>
              <a:defRPr sz="1600" b="1">
                <a:solidFill>
                  <a:srgbClr val="C62828"/>
                </a:solidFill>
                <a:latin typeface="Arial"/>
              </a:defRPr>
            </a:pPr>
            <a:r>
              <a:t>• Adversarial Robustness: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Adversaries with knowledge of the tokenizer could attempt field manipulation or benign-mimicking sliding windows; triple-layer correlation mitigates single-point-of-failure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737360"/>
            <a:ext cx="822960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94A8D"/>
                </a:solidFill>
                <a:latin typeface="Arial"/>
              </a:defRPr>
            </a:pPr>
            <a:r>
              <a:t>Future Technical Roadmap</a:t>
            </a:r>
          </a:p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• Federated Edge Learning: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Deploying privacy-preserving federated aggregation across distributed enterprise branch nodes to update LoRA adapters without centralizing raw telemetry.</a:t>
            </a:r>
          </a:p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• Retrieval-Augmented Generation (RAG):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Coupling the classification layer to a dynamic MITRE ATT&amp;CK knowledge index to absorb zero-day techniques without model retraining.</a:t>
            </a:r>
          </a:p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• Multi-Tactic Pipeline Expansion: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Extending the dual-stream concept to bracket the entire kill chain: Initial Access (TA0001), Persistence (TA0003), and Data Exfiltration (TA0010).</a:t>
            </a:r>
          </a:p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• Hardware Accelerator Micro-Kernels:</a:t>
            </a:r>
          </a:p>
          <a:p>
            <a:pPr>
              <a:defRPr sz="1400">
                <a:solidFill>
                  <a:srgbClr val="3C4043"/>
                </a:solidFill>
                <a:latin typeface="Arial"/>
              </a:defRPr>
            </a:pPr>
            <a:r>
              <a:t>   Custom DirectML / NPU operator graph optimizations to unlock sub-5ms inference on dedicated neural processing units.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982E1FEB-83B1-BB52-4394-A643EF27E168}"/>
              </a:ext>
            </a:extLst>
          </p:cNvPr>
          <p:cNvSpPr/>
          <p:nvPr/>
        </p:nvSpPr>
        <p:spPr>
          <a:xfrm>
            <a:off x="14081354" y="305349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A9514A-9B5D-26B1-50FA-5B106CCF4CD7}"/>
              </a:ext>
            </a:extLst>
          </p:cNvPr>
          <p:cNvGrpSpPr/>
          <p:nvPr/>
        </p:nvGrpSpPr>
        <p:grpSpPr>
          <a:xfrm>
            <a:off x="0" y="9258300"/>
            <a:ext cx="18288000" cy="1052231"/>
            <a:chOff x="0" y="0"/>
            <a:chExt cx="4816593" cy="5052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DC47F4-EBF5-D866-351A-5A41646F742B}"/>
                </a:ext>
              </a:extLst>
            </p:cNvPr>
            <p:cNvSpPr/>
            <p:nvPr/>
          </p:nvSpPr>
          <p:spPr>
            <a:xfrm>
              <a:off x="0" y="0"/>
              <a:ext cx="4816592" cy="505249"/>
            </a:xfrm>
            <a:custGeom>
              <a:avLst/>
              <a:gdLst/>
              <a:ahLst/>
              <a:cxnLst/>
              <a:rect l="l" t="t" r="r" b="b"/>
              <a:pathLst>
                <a:path w="4816592" h="505249">
                  <a:moveTo>
                    <a:pt x="0" y="0"/>
                  </a:moveTo>
                  <a:lnTo>
                    <a:pt x="4816592" y="0"/>
                  </a:lnTo>
                  <a:lnTo>
                    <a:pt x="4816592" y="505249"/>
                  </a:lnTo>
                  <a:lnTo>
                    <a:pt x="0" y="505249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9A214BB-DAF6-BBB1-DD6F-DA94B7B5647F}"/>
                </a:ext>
              </a:extLst>
            </p:cNvPr>
            <p:cNvSpPr txBox="1"/>
            <p:nvPr/>
          </p:nvSpPr>
          <p:spPr>
            <a:xfrm>
              <a:off x="0" y="-28575"/>
              <a:ext cx="4816593" cy="53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22A143-AC78-038F-C5B6-9D526099BEBB}"/>
              </a:ext>
            </a:extLst>
          </p:cNvPr>
          <p:cNvSpPr txBox="1"/>
          <p:nvPr/>
        </p:nvSpPr>
        <p:spPr>
          <a:xfrm>
            <a:off x="-4" y="9423943"/>
            <a:ext cx="18288004" cy="863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  <a:r>
              <a:rPr lang="en-US" sz="2599" baseline="300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IEEE Technology &amp; Engineering Management Conference - Asia Pacific 2026 (TEMSCON-ASPAC 2026)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16 – 17 October 2026, Rajkot, Gujarat, India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528453C-6EDF-FEE8-AED2-5AACEE5E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2618720" cy="1005840"/>
          </a:xfrm>
        </p:spPr>
        <p:txBody>
          <a:bodyPr wrap="square"/>
          <a:lstStyle/>
          <a:p>
            <a:pPr>
              <a:defRPr sz="3200" b="1">
                <a:solidFill>
                  <a:srgbClr val="194A8D"/>
                </a:solidFill>
                <a:latin typeface="Arial"/>
              </a:defRPr>
            </a:pPr>
            <a:r>
              <a:t>Conclusion &amp; Key Takeaways</a:t>
            </a:r>
            <a:endParaRPr lang="en-IN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1B5C27F9-72B0-F364-80AC-97465C6C732A}"/>
              </a:ext>
            </a:extLst>
          </p:cNvPr>
          <p:cNvGrpSpPr/>
          <p:nvPr/>
        </p:nvGrpSpPr>
        <p:grpSpPr>
          <a:xfrm>
            <a:off x="13487400" y="398047"/>
            <a:ext cx="4594047" cy="1462925"/>
            <a:chOff x="0" y="0"/>
            <a:chExt cx="2578667" cy="298528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A0D75A3-2F0A-560F-0386-DD701798F4A6}"/>
                </a:ext>
              </a:extLst>
            </p:cNvPr>
            <p:cNvSpPr/>
            <p:nvPr/>
          </p:nvSpPr>
          <p:spPr>
            <a:xfrm>
              <a:off x="0" y="0"/>
              <a:ext cx="2578667" cy="298528"/>
            </a:xfrm>
            <a:custGeom>
              <a:avLst/>
              <a:gdLst/>
              <a:ahLst/>
              <a:cxnLst/>
              <a:rect l="l" t="t" r="r" b="b"/>
              <a:pathLst>
                <a:path w="2578667" h="298528">
                  <a:moveTo>
                    <a:pt x="20559" y="0"/>
                  </a:moveTo>
                  <a:lnTo>
                    <a:pt x="2558108" y="0"/>
                  </a:lnTo>
                  <a:cubicBezTo>
                    <a:pt x="2563561" y="0"/>
                    <a:pt x="2568790" y="2166"/>
                    <a:pt x="2572646" y="6022"/>
                  </a:cubicBezTo>
                  <a:cubicBezTo>
                    <a:pt x="2576501" y="9877"/>
                    <a:pt x="2578667" y="15106"/>
                    <a:pt x="2578667" y="20559"/>
                  </a:cubicBezTo>
                  <a:lnTo>
                    <a:pt x="2578667" y="277969"/>
                  </a:lnTo>
                  <a:cubicBezTo>
                    <a:pt x="2578667" y="289324"/>
                    <a:pt x="2569463" y="298528"/>
                    <a:pt x="2558108" y="298528"/>
                  </a:cubicBezTo>
                  <a:lnTo>
                    <a:pt x="20559" y="298528"/>
                  </a:lnTo>
                  <a:cubicBezTo>
                    <a:pt x="9205" y="298528"/>
                    <a:pt x="0" y="289324"/>
                    <a:pt x="0" y="277969"/>
                  </a:cubicBezTo>
                  <a:lnTo>
                    <a:pt x="0" y="20559"/>
                  </a:lnTo>
                  <a:cubicBezTo>
                    <a:pt x="0" y="9205"/>
                    <a:pt x="9205" y="0"/>
                    <a:pt x="205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194A8D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E22D53D-5AC7-3438-9CC6-BBA5FFE67524}"/>
                </a:ext>
              </a:extLst>
            </p:cNvPr>
            <p:cNvSpPr txBox="1"/>
            <p:nvPr/>
          </p:nvSpPr>
          <p:spPr>
            <a:xfrm>
              <a:off x="0" y="-19050"/>
              <a:ext cx="2578667" cy="31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pic>
        <p:nvPicPr>
          <p:cNvPr id="22" name="Picture 2" descr="Logos">
            <a:extLst>
              <a:ext uri="{FF2B5EF4-FFF2-40B4-BE49-F238E27FC236}">
                <a16:creationId xmlns:a16="http://schemas.microsoft.com/office/drawing/2014/main" id="{C4E43F64-1A19-1795-0667-6C493592D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6" t="20030" r="38091" b="20529"/>
          <a:stretch>
            <a:fillRect/>
          </a:stretch>
        </p:blipFill>
        <p:spPr bwMode="auto">
          <a:xfrm>
            <a:off x="13784376" y="693552"/>
            <a:ext cx="4000093" cy="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731520" y="1737360"/>
            <a:ext cx="16824960" cy="7132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94A8D"/>
                </a:solidFill>
                <a:latin typeface="Arial"/>
              </a:defRPr>
            </a:pPr>
            <a:r>
              <a:t>Summary of Key Findings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Specialized SLMs Outperform General Monoliths: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Small, domain-adapted models (44M) match or exceed multi-billion parameter models in specialized SOC tasks while maintaining over 24x lower compute cost.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Decoupled Dual-Stream Architecture is Essential: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Separating authentication (LSA) and behavioral telemetry (BPD) prevents token collisions, achieving +8.18 pp higher F1 and 87.6% latency reduction over unified models.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Proven Real-Time Zero-Trust Edge Viability: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INT8 ONNX Runtime executes in 11.71 ± 0.62 ms with a 50 MB memory footprint, delivering &gt;85 windows/s throughput on commodity enterprise endpoints.</a:t>
            </a:r>
          </a:p>
          <a:p>
            <a:pPr>
              <a:defRPr sz="1700" b="1">
                <a:solidFill>
                  <a:srgbClr val="2B78C5"/>
                </a:solidFill>
                <a:latin typeface="Arial"/>
              </a:defRPr>
            </a:pPr>
            <a:r>
              <a:t>• Strategic Alignment with TEMSCON-ASPAC 2026:</a:t>
            </a:r>
          </a:p>
          <a:p>
            <a:pPr>
              <a:defRPr sz="1500">
                <a:solidFill>
                  <a:srgbClr val="3C4043"/>
                </a:solidFill>
                <a:latin typeface="Arial"/>
              </a:defRPr>
            </a:pPr>
            <a:r>
              <a:t>   Demonstrates how intelligent, autonomous threat detection can be operationalized responsibly in critical sectors without cloud dependencies or telemetry privacy leaks.</a:t>
            </a:r>
          </a:p>
          <a:p>
            <a:br/>
            <a:pPr algn="ctr">
              <a:defRPr sz="1800" b="1">
                <a:solidFill>
                  <a:srgbClr val="194A8D"/>
                </a:solidFill>
                <a:latin typeface="Arial"/>
              </a:defRPr>
            </a:pPr>
            <a:r>
              <a:t>Thank you for your time!</a:t>
            </a:r>
            <a:br/>
            <a:r>
              <a:t>Questions &amp; Discussion: gaurav.raval@hotmail.com | tejas.bhatt@glsuniversity.ac.in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Custom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Codec Pro ExtraBold</vt:lpstr>
      <vt:lpstr>Garet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Sumit P. Makwana</cp:lastModifiedBy>
  <cp:revision>1</cp:revision>
  <dcterms:modified xsi:type="dcterms:W3CDTF">2026-09-07T02:59:54Z</dcterms:modified>
</cp:coreProperties>
</file>